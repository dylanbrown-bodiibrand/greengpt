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9740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presents GreenGPT Advisory's managed EHS AI workspace model: not an outside firm managing compliance on the client's behalf, but a dedicated AI EHS workspace the client's team works inside. Everything here assumes the client's EHS team stays in charge — the workspace makes their existing knowledge faster to retrieve and act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deliberately not a 'you have a problem' slide. Most prospective clients run mature programs built by capable people. The point: program knowledge is distributed across formats and people, and consistency across sites depends on how fast that knowledge converts into checklists, trackers, and follow-up. That's the specific gap this workspace addresses.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pivot for everything that follows. GreenGPT is the workspace builder and steward — not a layer between the client and its own compliance. Contrast the black-box outsourcing model (hidden process, vendor dependency) with the client-visible workspace (team prompts directly, human-reviewed drafts, client control).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to say out loud: this is not another software subscription with a login managers ignore, and it's not a chatbot guessing at regulations. It only knows what the client puts into it — their plans, their templates, their permits — and everything it produces routes through their team's review. AI as a force multiplier for the EHS staff they already have.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 left to right. Emphasize the two control points: what goes in (approved sources only) and what comes out (human review before anything is final). The feedback loop matters — an approved corrective action tracker becomes a reference for the next one, so consistency compounds.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list maps to what most EHS teams already maintain — nothing exotic. Note the flexibility: start with whatever subset is easiest to share, including redacted versions. The workspace doesn't need everything on day one; a single inspection template plus one site's hazardous materials plan is enough to start proving value.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is currently a person assembling documents, re-reading plans, and formatting output. The workspace does the assembly and first draft; the EHS professional does the judgment and approval. Ask the prospect which one or two would matter most — that answer shapes the pilot.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plain-English requests, not query syntax — no training curve for the team. Each answer comes back grounded in the client's own documents with source references, so the reviewer can verify in seconds. If the workspace can't find support in approved sources, it says so rather than guessing.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'Done-for-you' here means done-for-your-review: structured, formatted, source-linked drafts that a team member finishes and approves rather than builds from scratch. The time savings is in the assembly and formatting, which is most of the clock time on these tasks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EHS leaders build inspection and compliance programs where accountability matters, and a tool that blurs accountability is a liability. The design principle: the workspace makes EHS professionals faster, and never replaces their judgment. The audit trail also helps internally — the client can show how any briefing or checklist was produced.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oversell; invite scrutiny. Offer to route detailed security questions to the client's IT/security stakeholders and follow their review process. The redacted pilot is the key de-risker: the client proves the value before sharing anything sensitive. If asked about hosting, retention, or model training on their data, take those as action items and answer in writing.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an evaluation, not a commitment: redacted documents, limited scope, defined end date, and success criteria the client helps set. If it doesn't clear the bar, both sides learned cheaply. If it does, the expansion path is already mapped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30 days are the pilot; 31–90 only happen if the pilot earns them. Note that the EHS team's time commitment is modest — mostly reviewing outputs and giving feedback in weeks 3–4. GreenGPT carries the setup work.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light. The pilot fixed fee removes budget ambiguity for a first step; ongoing pricing gets shaped by what the pilot reveals about actual usage. Don't quote numbers on the slide — discuss ranges verbally once pilot scope is agreed.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the meeting with one question: 'Which workflow would you want to see working first?' That answer starts the pilot scoping conversation. Everything else — security review, commercial terms, rollout — follows from that first concrete step.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13.png"/><Relationship Id="rId4" Type="http://schemas.openxmlformats.org/officeDocument/2006/relationships/image" Target="../media/image15.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20.png"/><Relationship Id="rId5" Type="http://schemas.openxmlformats.org/officeDocument/2006/relationships/image" Target="../media/image22.png"/><Relationship Id="rId10" Type="http://schemas.openxmlformats.org/officeDocument/2006/relationships/image" Target="../media/image31.png"/><Relationship Id="rId4" Type="http://schemas.openxmlformats.org/officeDocument/2006/relationships/image" Target="../media/image29.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2.png"/><Relationship Id="rId10" Type="http://schemas.openxmlformats.org/officeDocument/2006/relationships/image" Target="../media/image36.png"/><Relationship Id="rId4" Type="http://schemas.openxmlformats.org/officeDocument/2006/relationships/image" Target="../media/image16.png"/><Relationship Id="rId9"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3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26.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2E"/>
        </a:solidFill>
        <a:effectLst/>
      </p:bgPr>
    </p:bg>
    <p:spTree>
      <p:nvGrpSpPr>
        <p:cNvPr id="1" name=""/>
        <p:cNvGrpSpPr/>
        <p:nvPr/>
      </p:nvGrpSpPr>
      <p:grpSpPr>
        <a:xfrm>
          <a:off x="0" y="0"/>
          <a:ext cx="0" cy="0"/>
          <a:chOff x="0" y="0"/>
          <a:chExt cx="0" cy="0"/>
        </a:xfrm>
      </p:grpSpPr>
      <p:sp>
        <p:nvSpPr>
          <p:cNvPr id="2" name="Shape 0"/>
          <p:cNvSpPr/>
          <p:nvPr/>
        </p:nvSpPr>
        <p:spPr>
          <a:xfrm>
            <a:off x="502920" y="457200"/>
            <a:ext cx="384048" cy="384048"/>
          </a:xfrm>
          <a:prstGeom prst="ellipse">
            <a:avLst/>
          </a:prstGeom>
          <a:solidFill>
            <a:srgbClr val="11553F"/>
          </a:solidFill>
          <a:ln/>
        </p:spPr>
      </p:sp>
      <p:pic>
        <p:nvPicPr>
          <p:cNvPr id="3" name="Image 0" descr="preencoded.png"/>
          <p:cNvPicPr>
            <a:picLocks noChangeAspect="1"/>
          </p:cNvPicPr>
          <p:nvPr/>
        </p:nvPicPr>
        <p:blipFill>
          <a:blip r:embed="rId3"/>
          <a:stretch>
            <a:fillRect/>
          </a:stretch>
        </p:blipFill>
        <p:spPr>
          <a:xfrm>
            <a:off x="606613" y="560893"/>
            <a:ext cx="176662" cy="176662"/>
          </a:xfrm>
          <a:prstGeom prst="rect">
            <a:avLst/>
          </a:prstGeom>
        </p:spPr>
      </p:pic>
      <p:sp>
        <p:nvSpPr>
          <p:cNvPr id="4" name="Text 1"/>
          <p:cNvSpPr/>
          <p:nvPr/>
        </p:nvSpPr>
        <p:spPr>
          <a:xfrm>
            <a:off x="1005840" y="457200"/>
            <a:ext cx="3657600" cy="384048"/>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GREENGPT ADVISORY</a:t>
            </a:r>
            <a:endParaRPr lang="en-US" sz="1300" dirty="0"/>
          </a:p>
        </p:txBody>
      </p:sp>
      <p:sp>
        <p:nvSpPr>
          <p:cNvPr id="5" name="Shape 2"/>
          <p:cNvSpPr/>
          <p:nvPr/>
        </p:nvSpPr>
        <p:spPr>
          <a:xfrm>
            <a:off x="7223760" y="411480"/>
            <a:ext cx="1417320" cy="502920"/>
          </a:xfrm>
          <a:prstGeom prst="roundRect">
            <a:avLst>
              <a:gd name="adj" fmla="val 10909"/>
            </a:avLst>
          </a:prstGeom>
          <a:solidFill>
            <a:srgbClr val="0B3D2E"/>
          </a:solidFill>
          <a:ln w="12700">
            <a:solidFill>
              <a:srgbClr val="2E5C49"/>
            </a:solidFill>
            <a:prstDash val="dash"/>
          </a:ln>
        </p:spPr>
      </p:sp>
      <p:sp>
        <p:nvSpPr>
          <p:cNvPr id="6" name="Text 3"/>
          <p:cNvSpPr/>
          <p:nvPr/>
        </p:nvSpPr>
        <p:spPr>
          <a:xfrm>
            <a:off x="7223760" y="411480"/>
            <a:ext cx="1417320" cy="502920"/>
          </a:xfrm>
          <a:prstGeom prst="rect">
            <a:avLst/>
          </a:prstGeom>
          <a:noFill/>
          <a:ln/>
        </p:spPr>
        <p:txBody>
          <a:bodyPr wrap="square" rtlCol="0" anchor="ctr"/>
          <a:lstStyle/>
          <a:p>
            <a:pPr marL="0" indent="0" algn="ctr">
              <a:buNone/>
            </a:pPr>
            <a:r>
              <a:rPr lang="en-US" sz="850" dirty="0">
                <a:solidFill>
                  <a:srgbClr val="8FC2A9"/>
                </a:solidFill>
                <a:latin typeface="Calibri" pitchFamily="34" charset="0"/>
                <a:ea typeface="Calibri" pitchFamily="34" charset="-122"/>
                <a:cs typeface="Calibri" pitchFamily="34" charset="-120"/>
              </a:rPr>
              <a:t>MANAGED SERVICE OVERVIEW</a:t>
            </a:r>
            <a:endParaRPr lang="en-US" sz="850" dirty="0"/>
          </a:p>
        </p:txBody>
      </p:sp>
      <p:sp>
        <p:nvSpPr>
          <p:cNvPr id="7" name="Text 4"/>
          <p:cNvSpPr/>
          <p:nvPr/>
        </p:nvSpPr>
        <p:spPr>
          <a:xfrm>
            <a:off x="502920" y="1600200"/>
            <a:ext cx="8138160" cy="1554480"/>
          </a:xfrm>
          <a:prstGeom prst="rect">
            <a:avLst/>
          </a:prstGeom>
          <a:noFill/>
          <a:ln/>
        </p:spPr>
        <p:txBody>
          <a:bodyPr wrap="square" lIns="0" tIns="0" rIns="0" bIns="0" rtlCol="0" anchor="ctr"/>
          <a:lstStyle/>
          <a:p>
            <a:pPr marL="0" indent="0">
              <a:lnSpc>
                <a:spcPct val="108000"/>
              </a:lnSpc>
              <a:buNone/>
            </a:pPr>
            <a:r>
              <a:rPr lang="en-US" sz="3500" b="1" dirty="0">
                <a:solidFill>
                  <a:srgbClr val="FFFFFF"/>
                </a:solidFill>
                <a:latin typeface="Cambria" pitchFamily="34" charset="0"/>
                <a:ea typeface="Cambria" pitchFamily="34" charset="-122"/>
                <a:cs typeface="Cambria" pitchFamily="34" charset="-120"/>
              </a:rPr>
              <a:t>Managed EHS AI Workspace</a:t>
            </a:r>
            <a:endParaRPr lang="en-US" sz="3500" dirty="0"/>
          </a:p>
          <a:p>
            <a:pPr marL="0" indent="0">
              <a:lnSpc>
                <a:spcPct val="108000"/>
              </a:lnSpc>
              <a:buNone/>
            </a:pPr>
            <a:r>
              <a:rPr lang="en-US" sz="3500" b="1" dirty="0">
                <a:solidFill>
                  <a:srgbClr val="6EE7B7"/>
                </a:solidFill>
                <a:latin typeface="Cambria" pitchFamily="34" charset="0"/>
                <a:ea typeface="Cambria" pitchFamily="34" charset="-122"/>
                <a:cs typeface="Cambria" pitchFamily="34" charset="-120"/>
              </a:rPr>
              <a:t>AI-Powered EHS Compliance Workspace</a:t>
            </a:r>
            <a:endParaRPr lang="en-US" sz="3500" dirty="0"/>
          </a:p>
        </p:txBody>
      </p:sp>
      <p:sp>
        <p:nvSpPr>
          <p:cNvPr id="8" name="Text 5"/>
          <p:cNvSpPr/>
          <p:nvPr/>
        </p:nvSpPr>
        <p:spPr>
          <a:xfrm>
            <a:off x="502920" y="3200400"/>
            <a:ext cx="6949440" cy="685800"/>
          </a:xfrm>
          <a:prstGeom prst="rect">
            <a:avLst/>
          </a:prstGeom>
          <a:noFill/>
          <a:ln/>
        </p:spPr>
        <p:txBody>
          <a:bodyPr wrap="square" lIns="0" tIns="0" rIns="0" bIns="0" rtlCol="0" anchor="ctr"/>
          <a:lstStyle/>
          <a:p>
            <a:pPr marL="0" indent="0">
              <a:lnSpc>
                <a:spcPct val="115000"/>
              </a:lnSpc>
              <a:buNone/>
            </a:pPr>
            <a:r>
              <a:rPr lang="en-US" sz="1450" dirty="0">
                <a:solidFill>
                  <a:srgbClr val="CFE8DA"/>
                </a:solidFill>
                <a:latin typeface="Calibri" pitchFamily="34" charset="0"/>
                <a:ea typeface="Calibri" pitchFamily="34" charset="-122"/>
                <a:cs typeface="Calibri" pitchFamily="34" charset="-120"/>
              </a:rPr>
              <a:t>A site-aware EHS support layer for inspections, obligations, training, and follow-up — built on client-approved source materials, reviewed by your organization's own EHS team.</a:t>
            </a:r>
            <a:endParaRPr lang="en-US" sz="1450" dirty="0"/>
          </a:p>
        </p:txBody>
      </p:sp>
      <p:sp>
        <p:nvSpPr>
          <p:cNvPr id="9" name="Shape 6"/>
          <p:cNvSpPr/>
          <p:nvPr/>
        </p:nvSpPr>
        <p:spPr>
          <a:xfrm>
            <a:off x="521208" y="4160520"/>
            <a:ext cx="2926080" cy="0"/>
          </a:xfrm>
          <a:prstGeom prst="line">
            <a:avLst/>
          </a:prstGeom>
          <a:noFill/>
          <a:ln w="12700">
            <a:solidFill>
              <a:srgbClr val="2E5C49"/>
            </a:solidFill>
            <a:prstDash val="solid"/>
          </a:ln>
        </p:spPr>
      </p:sp>
      <p:sp>
        <p:nvSpPr>
          <p:cNvPr id="10" name="Text 7"/>
          <p:cNvSpPr/>
          <p:nvPr/>
        </p:nvSpPr>
        <p:spPr>
          <a:xfrm>
            <a:off x="502920" y="4279392"/>
            <a:ext cx="8138160" cy="274320"/>
          </a:xfrm>
          <a:prstGeom prst="rect">
            <a:avLst/>
          </a:prstGeom>
          <a:noFill/>
          <a:ln/>
        </p:spPr>
        <p:txBody>
          <a:bodyPr wrap="square" lIns="0" tIns="0" rIns="0" bIns="0" rtlCol="0" anchor="ctr"/>
          <a:lstStyle/>
          <a:p>
            <a:pPr marL="0" indent="0">
              <a:buNone/>
            </a:pPr>
            <a:r>
              <a:rPr lang="en-US" sz="1200" dirty="0">
                <a:solidFill>
                  <a:srgbClr val="8FC2A9"/>
                </a:solidFill>
                <a:latin typeface="Calibri" pitchFamily="34" charset="0"/>
                <a:ea typeface="Calibri" pitchFamily="34" charset="-122"/>
                <a:cs typeface="Calibri" pitchFamily="34" charset="-120"/>
              </a:rPr>
              <a:t>Prepared for </a:t>
            </a:r>
            <a:r>
              <a:rPr lang="en-US" sz="1200" b="1" dirty="0">
                <a:solidFill>
                  <a:srgbClr val="FFFFFF"/>
                </a:solidFill>
                <a:latin typeface="Calibri" pitchFamily="34" charset="0"/>
                <a:ea typeface="Calibri" pitchFamily="34" charset="-122"/>
                <a:cs typeface="Calibri" pitchFamily="34" charset="-120"/>
              </a:rPr>
              <a:t>EHS, operations &amp; compliance leaders</a:t>
            </a:r>
            <a:r>
              <a:rPr lang="en-US" sz="1200" dirty="0">
                <a:solidFill>
                  <a:srgbClr val="8FC2A9"/>
                </a:solidFill>
                <a:latin typeface="Calibri" pitchFamily="34" charset="0"/>
                <a:ea typeface="Calibri" pitchFamily="34" charset="-122"/>
                <a:cs typeface="Calibri" pitchFamily="34" charset="-120"/>
              </a:rPr>
              <a:t> of multi-site organizations</a:t>
            </a:r>
            <a:endParaRPr lang="en-US" sz="1200" dirty="0"/>
          </a:p>
        </p:txBody>
      </p:sp>
      <p:sp>
        <p:nvSpPr>
          <p:cNvPr id="11" name="Text 8"/>
          <p:cNvSpPr/>
          <p:nvPr/>
        </p:nvSpPr>
        <p:spPr>
          <a:xfrm>
            <a:off x="502920" y="4572000"/>
            <a:ext cx="8138160" cy="274320"/>
          </a:xfrm>
          <a:prstGeom prst="rect">
            <a:avLst/>
          </a:prstGeom>
          <a:noFill/>
          <a:ln/>
        </p:spPr>
        <p:txBody>
          <a:bodyPr wrap="square" lIns="0" tIns="0" rIns="0" bIns="0" rtlCol="0" anchor="ctr"/>
          <a:lstStyle/>
          <a:p>
            <a:pPr marL="0" indent="0">
              <a:buNone/>
            </a:pPr>
            <a:r>
              <a:rPr lang="en-US" sz="1050" dirty="0">
                <a:solidFill>
                  <a:srgbClr val="8FC2A9"/>
                </a:solidFill>
                <a:latin typeface="Calibri" pitchFamily="34" charset="0"/>
                <a:ea typeface="Calibri" pitchFamily="34" charset="-122"/>
                <a:cs typeface="Calibri" pitchFamily="34" charset="-120"/>
              </a:rPr>
              <a:t>GreenGPT Advisory  |  2026  |  Service Overview</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WHY THIS MATTERS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200" b="1" dirty="0">
                <a:solidFill>
                  <a:srgbClr val="0B3D2E"/>
                </a:solidFill>
                <a:latin typeface="Cambria" pitchFamily="34" charset="0"/>
                <a:ea typeface="Cambria" pitchFamily="34" charset="-122"/>
                <a:cs typeface="Cambria" pitchFamily="34" charset="-120"/>
              </a:rPr>
              <a:t>Multi-site EHS programs run on scattered knowledge</a:t>
            </a:r>
            <a:endParaRPr lang="en-US" sz="2200" dirty="0"/>
          </a:p>
        </p:txBody>
      </p:sp>
      <p:pic>
        <p:nvPicPr>
          <p:cNvPr id="4"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5" name="Shape 2"/>
          <p:cNvSpPr/>
          <p:nvPr/>
        </p:nvSpPr>
        <p:spPr>
          <a:xfrm>
            <a:off x="502920" y="1453896"/>
            <a:ext cx="420624" cy="420624"/>
          </a:xfrm>
          <a:prstGeom prst="ellipse">
            <a:avLst/>
          </a:prstGeom>
          <a:solidFill>
            <a:srgbClr val="0B3D2E"/>
          </a:solidFill>
          <a:ln/>
        </p:spPr>
      </p:sp>
      <p:pic>
        <p:nvPicPr>
          <p:cNvPr id="6" name="Image 1" descr="preencoded.png"/>
          <p:cNvPicPr>
            <a:picLocks noChangeAspect="1"/>
          </p:cNvPicPr>
          <p:nvPr/>
        </p:nvPicPr>
        <p:blipFill>
          <a:blip r:embed="rId4"/>
          <a:stretch>
            <a:fillRect/>
          </a:stretch>
        </p:blipFill>
        <p:spPr>
          <a:xfrm>
            <a:off x="616488" y="1567464"/>
            <a:ext cx="193487" cy="193487"/>
          </a:xfrm>
          <a:prstGeom prst="rect">
            <a:avLst/>
          </a:prstGeom>
        </p:spPr>
      </p:pic>
      <p:sp>
        <p:nvSpPr>
          <p:cNvPr id="7" name="Text 3"/>
          <p:cNvSpPr/>
          <p:nvPr/>
        </p:nvSpPr>
        <p:spPr>
          <a:xfrm>
            <a:off x="1097280" y="1417320"/>
            <a:ext cx="4297680" cy="27432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Recurring multi-site complexity</a:t>
            </a:r>
            <a:endParaRPr lang="en-US" sz="1400" dirty="0"/>
          </a:p>
        </p:txBody>
      </p:sp>
      <p:sp>
        <p:nvSpPr>
          <p:cNvPr id="8" name="Text 4"/>
          <p:cNvSpPr/>
          <p:nvPr/>
        </p:nvSpPr>
        <p:spPr>
          <a:xfrm>
            <a:off x="1097280" y="1691640"/>
            <a:ext cx="4297680" cy="731520"/>
          </a:xfrm>
          <a:prstGeom prst="rect">
            <a:avLst/>
          </a:prstGeom>
          <a:noFill/>
          <a:ln/>
        </p:spPr>
        <p:txBody>
          <a:bodyPr wrap="square" lIns="0" tIns="0" rIns="0" bIns="0" rtlCol="0" anchor="ctr"/>
          <a:lstStyle/>
          <a:p>
            <a:pPr marL="0" indent="0">
              <a:lnSpc>
                <a:spcPct val="110000"/>
              </a:lnSpc>
              <a:buNone/>
            </a:pPr>
            <a:r>
              <a:rPr lang="en-US" sz="1150" dirty="0">
                <a:solidFill>
                  <a:srgbClr val="55705F"/>
                </a:solidFill>
                <a:latin typeface="Calibri" pitchFamily="34" charset="0"/>
                <a:ea typeface="Calibri" pitchFamily="34" charset="-122"/>
                <a:cs typeface="Calibri" pitchFamily="34" charset="-120"/>
              </a:rPr>
              <a:t>Environmental filings, spill prevention plans, agency inspections, permit conditions, and internal standards — repeating across every facility in the portfolio.</a:t>
            </a:r>
            <a:endParaRPr lang="en-US" sz="1150" dirty="0"/>
          </a:p>
        </p:txBody>
      </p:sp>
      <p:sp>
        <p:nvSpPr>
          <p:cNvPr id="9" name="Shape 5"/>
          <p:cNvSpPr/>
          <p:nvPr/>
        </p:nvSpPr>
        <p:spPr>
          <a:xfrm>
            <a:off x="502920" y="2569464"/>
            <a:ext cx="420624" cy="420624"/>
          </a:xfrm>
          <a:prstGeom prst="ellipse">
            <a:avLst/>
          </a:prstGeom>
          <a:solidFill>
            <a:srgbClr val="0B3D2E"/>
          </a:solidFill>
          <a:ln/>
        </p:spPr>
      </p:sp>
      <p:pic>
        <p:nvPicPr>
          <p:cNvPr id="10" name="Image 2" descr="preencoded.png"/>
          <p:cNvPicPr>
            <a:picLocks noChangeAspect="1"/>
          </p:cNvPicPr>
          <p:nvPr/>
        </p:nvPicPr>
        <p:blipFill>
          <a:blip r:embed="rId5"/>
          <a:stretch>
            <a:fillRect/>
          </a:stretch>
        </p:blipFill>
        <p:spPr>
          <a:xfrm>
            <a:off x="616488" y="2683032"/>
            <a:ext cx="193487" cy="193487"/>
          </a:xfrm>
          <a:prstGeom prst="rect">
            <a:avLst/>
          </a:prstGeom>
        </p:spPr>
      </p:pic>
      <p:sp>
        <p:nvSpPr>
          <p:cNvPr id="11" name="Text 6"/>
          <p:cNvSpPr/>
          <p:nvPr/>
        </p:nvSpPr>
        <p:spPr>
          <a:xfrm>
            <a:off x="1097280" y="2532888"/>
            <a:ext cx="4297680" cy="27432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Knowledge lives everywhere</a:t>
            </a:r>
            <a:endParaRPr lang="en-US" sz="1400" dirty="0"/>
          </a:p>
        </p:txBody>
      </p:sp>
      <p:sp>
        <p:nvSpPr>
          <p:cNvPr id="12" name="Text 7"/>
          <p:cNvSpPr/>
          <p:nvPr/>
        </p:nvSpPr>
        <p:spPr>
          <a:xfrm>
            <a:off x="1097280" y="2807208"/>
            <a:ext cx="4297680" cy="731520"/>
          </a:xfrm>
          <a:prstGeom prst="rect">
            <a:avLst/>
          </a:prstGeom>
          <a:noFill/>
          <a:ln/>
        </p:spPr>
        <p:txBody>
          <a:bodyPr wrap="square" lIns="0" tIns="0" rIns="0" bIns="0" rtlCol="0" anchor="ctr"/>
          <a:lstStyle/>
          <a:p>
            <a:pPr marL="0" indent="0">
              <a:lnSpc>
                <a:spcPct val="110000"/>
              </a:lnSpc>
              <a:buNone/>
            </a:pPr>
            <a:r>
              <a:rPr lang="en-US" sz="1150" dirty="0">
                <a:solidFill>
                  <a:srgbClr val="55705F"/>
                </a:solidFill>
                <a:latin typeface="Calibri" pitchFamily="34" charset="0"/>
                <a:ea typeface="Calibri" pitchFamily="34" charset="-122"/>
                <a:cs typeface="Calibri" pitchFamily="34" charset="-120"/>
              </a:rPr>
              <a:t>Plans, permits, spreadsheets, SharePoint, emails, inspection notes — and in the heads of experienced people.</a:t>
            </a:r>
            <a:endParaRPr lang="en-US" sz="1150" dirty="0"/>
          </a:p>
        </p:txBody>
      </p:sp>
      <p:sp>
        <p:nvSpPr>
          <p:cNvPr id="13" name="Shape 8"/>
          <p:cNvSpPr/>
          <p:nvPr/>
        </p:nvSpPr>
        <p:spPr>
          <a:xfrm>
            <a:off x="502920" y="3685032"/>
            <a:ext cx="420624" cy="420624"/>
          </a:xfrm>
          <a:prstGeom prst="ellipse">
            <a:avLst/>
          </a:prstGeom>
          <a:solidFill>
            <a:srgbClr val="0B3D2E"/>
          </a:solidFill>
          <a:ln/>
        </p:spPr>
      </p:sp>
      <p:pic>
        <p:nvPicPr>
          <p:cNvPr id="14" name="Image 3" descr="preencoded.png"/>
          <p:cNvPicPr>
            <a:picLocks noChangeAspect="1"/>
          </p:cNvPicPr>
          <p:nvPr/>
        </p:nvPicPr>
        <p:blipFill>
          <a:blip r:embed="rId6"/>
          <a:stretch>
            <a:fillRect/>
          </a:stretch>
        </p:blipFill>
        <p:spPr>
          <a:xfrm>
            <a:off x="616488" y="3798600"/>
            <a:ext cx="193487" cy="193487"/>
          </a:xfrm>
          <a:prstGeom prst="rect">
            <a:avLst/>
          </a:prstGeom>
        </p:spPr>
      </p:pic>
      <p:sp>
        <p:nvSpPr>
          <p:cNvPr id="15" name="Text 9"/>
          <p:cNvSpPr/>
          <p:nvPr/>
        </p:nvSpPr>
        <p:spPr>
          <a:xfrm>
            <a:off x="1097280" y="3648456"/>
            <a:ext cx="4297680" cy="274320"/>
          </a:xfrm>
          <a:prstGeom prst="rect">
            <a:avLst/>
          </a:prstGeom>
          <a:noFill/>
          <a:ln/>
        </p:spPr>
        <p:txBody>
          <a:bodyPr wrap="square" lIns="0" tIns="0" rIns="0" bIns="0" rtlCol="0" anchor="ctr"/>
          <a:lstStyle/>
          <a:p>
            <a:pPr marL="0" indent="0">
              <a:buNone/>
            </a:pPr>
            <a:r>
              <a:rPr lang="en-US" sz="1400" b="1" dirty="0">
                <a:solidFill>
                  <a:srgbClr val="0B3D2E"/>
                </a:solidFill>
                <a:latin typeface="Calibri" pitchFamily="34" charset="0"/>
                <a:ea typeface="Calibri" pitchFamily="34" charset="-122"/>
                <a:cs typeface="Calibri" pitchFamily="34" charset="-120"/>
              </a:rPr>
              <a:t>The gap is follow-through, not expertise</a:t>
            </a:r>
            <a:endParaRPr lang="en-US" sz="1400" dirty="0"/>
          </a:p>
        </p:txBody>
      </p:sp>
      <p:sp>
        <p:nvSpPr>
          <p:cNvPr id="16" name="Text 10"/>
          <p:cNvSpPr/>
          <p:nvPr/>
        </p:nvSpPr>
        <p:spPr>
          <a:xfrm>
            <a:off x="1097280" y="3922776"/>
            <a:ext cx="4297680" cy="731520"/>
          </a:xfrm>
          <a:prstGeom prst="rect">
            <a:avLst/>
          </a:prstGeom>
          <a:noFill/>
          <a:ln/>
        </p:spPr>
        <p:txBody>
          <a:bodyPr wrap="square" lIns="0" tIns="0" rIns="0" bIns="0" rtlCol="0" anchor="ctr"/>
          <a:lstStyle/>
          <a:p>
            <a:pPr marL="0" indent="0">
              <a:lnSpc>
                <a:spcPct val="110000"/>
              </a:lnSpc>
              <a:buNone/>
            </a:pPr>
            <a:r>
              <a:rPr lang="en-US" sz="1150" dirty="0">
                <a:solidFill>
                  <a:srgbClr val="55705F"/>
                </a:solidFill>
                <a:latin typeface="Calibri" pitchFamily="34" charset="0"/>
                <a:ea typeface="Calibri" pitchFamily="34" charset="-122"/>
                <a:cs typeface="Calibri" pitchFamily="34" charset="-120"/>
              </a:rPr>
              <a:t>Every hour spent hunting documents or re-building the same tracker is an hour not spent on site readiness.</a:t>
            </a:r>
            <a:endParaRPr lang="en-US" sz="1150" dirty="0"/>
          </a:p>
        </p:txBody>
      </p:sp>
      <p:sp>
        <p:nvSpPr>
          <p:cNvPr id="17" name="Shape 11"/>
          <p:cNvSpPr/>
          <p:nvPr/>
        </p:nvSpPr>
        <p:spPr>
          <a:xfrm>
            <a:off x="5760720" y="1417320"/>
            <a:ext cx="2880360" cy="3154680"/>
          </a:xfrm>
          <a:prstGeom prst="roundRect">
            <a:avLst>
              <a:gd name="adj" fmla="val 2540"/>
            </a:avLst>
          </a:prstGeom>
          <a:solidFill>
            <a:srgbClr val="0B3D2E"/>
          </a:solidFill>
          <a:ln/>
          <a:effectLst>
            <a:outerShdw blurRad="88900" dist="25400" dir="2700000" algn="bl" rotWithShape="0">
              <a:srgbClr val="000000">
                <a:alpha val="13000"/>
              </a:srgbClr>
            </a:outerShdw>
          </a:effectLst>
        </p:spPr>
      </p:sp>
      <p:sp>
        <p:nvSpPr>
          <p:cNvPr id="18" name="Text 12"/>
          <p:cNvSpPr/>
          <p:nvPr/>
        </p:nvSpPr>
        <p:spPr>
          <a:xfrm>
            <a:off x="6035040" y="1691640"/>
            <a:ext cx="2331720" cy="685800"/>
          </a:xfrm>
          <a:prstGeom prst="rect">
            <a:avLst/>
          </a:prstGeom>
          <a:noFill/>
          <a:ln/>
        </p:spPr>
        <p:txBody>
          <a:bodyPr wrap="square" lIns="0" tIns="0" rIns="0" bIns="0" rtlCol="0" anchor="ctr"/>
          <a:lstStyle/>
          <a:p>
            <a:pPr marL="0" indent="0">
              <a:lnSpc>
                <a:spcPct val="110000"/>
              </a:lnSpc>
              <a:buNone/>
            </a:pPr>
            <a:r>
              <a:rPr lang="en-US" sz="1550" b="1" dirty="0">
                <a:solidFill>
                  <a:srgbClr val="FFFFFF"/>
                </a:solidFill>
                <a:latin typeface="Cambria" pitchFamily="34" charset="0"/>
                <a:ea typeface="Cambria" pitchFamily="34" charset="-122"/>
                <a:cs typeface="Cambria" pitchFamily="34" charset="-120"/>
              </a:rPr>
              <a:t>The challenge is not a lack of EHS expertise.</a:t>
            </a:r>
            <a:endParaRPr lang="en-US" sz="1550" dirty="0"/>
          </a:p>
        </p:txBody>
      </p:sp>
      <p:sp>
        <p:nvSpPr>
          <p:cNvPr id="19" name="Text 13"/>
          <p:cNvSpPr/>
          <p:nvPr/>
        </p:nvSpPr>
        <p:spPr>
          <a:xfrm>
            <a:off x="6035040" y="2468880"/>
            <a:ext cx="2331720" cy="914400"/>
          </a:xfrm>
          <a:prstGeom prst="rect">
            <a:avLst/>
          </a:prstGeom>
          <a:noFill/>
          <a:ln/>
        </p:spPr>
        <p:txBody>
          <a:bodyPr wrap="square" lIns="0" tIns="0" rIns="0" bIns="0" rtlCol="0" anchor="ctr"/>
          <a:lstStyle/>
          <a:p>
            <a:pPr marL="0" indent="0">
              <a:lnSpc>
                <a:spcPct val="115000"/>
              </a:lnSpc>
              <a:buNone/>
            </a:pPr>
            <a:r>
              <a:rPr lang="en-US" sz="1250" dirty="0">
                <a:solidFill>
                  <a:srgbClr val="CFE8DA"/>
                </a:solidFill>
                <a:latin typeface="Calibri" pitchFamily="34" charset="0"/>
                <a:ea typeface="Calibri" pitchFamily="34" charset="-122"/>
                <a:cs typeface="Calibri" pitchFamily="34" charset="-120"/>
              </a:rPr>
              <a:t>It is turning information that already exists into consistent, usable follow-up at every site.</a:t>
            </a:r>
            <a:endParaRPr lang="en-US" sz="1250" dirty="0"/>
          </a:p>
        </p:txBody>
      </p:sp>
      <p:sp>
        <p:nvSpPr>
          <p:cNvPr id="20" name="Shape 14"/>
          <p:cNvSpPr/>
          <p:nvPr/>
        </p:nvSpPr>
        <p:spPr>
          <a:xfrm>
            <a:off x="6035040" y="3520440"/>
            <a:ext cx="2331720" cy="0"/>
          </a:xfrm>
          <a:prstGeom prst="line">
            <a:avLst/>
          </a:prstGeom>
          <a:noFill/>
          <a:ln w="12700">
            <a:solidFill>
              <a:srgbClr val="2E5C49"/>
            </a:solidFill>
            <a:prstDash val="solid"/>
          </a:ln>
        </p:spPr>
      </p:sp>
      <p:sp>
        <p:nvSpPr>
          <p:cNvPr id="21" name="Text 15"/>
          <p:cNvSpPr/>
          <p:nvPr/>
        </p:nvSpPr>
        <p:spPr>
          <a:xfrm>
            <a:off x="6035040" y="3639312"/>
            <a:ext cx="2331720" cy="777240"/>
          </a:xfrm>
          <a:prstGeom prst="rect">
            <a:avLst/>
          </a:prstGeom>
          <a:noFill/>
          <a:ln/>
        </p:spPr>
        <p:txBody>
          <a:bodyPr wrap="square" lIns="0" tIns="0" rIns="0" bIns="0" rtlCol="0" anchor="ctr"/>
          <a:lstStyle/>
          <a:p>
            <a:pPr marL="0" indent="0">
              <a:lnSpc>
                <a:spcPct val="115000"/>
              </a:lnSpc>
              <a:buNone/>
            </a:pPr>
            <a:r>
              <a:rPr lang="en-US" sz="1000" dirty="0">
                <a:solidFill>
                  <a:srgbClr val="8FC2A9"/>
                </a:solidFill>
                <a:latin typeface="Calibri" pitchFamily="34" charset="0"/>
                <a:ea typeface="Calibri" pitchFamily="34" charset="-122"/>
                <a:cs typeface="Calibri" pitchFamily="34" charset="-120"/>
              </a:rPr>
              <a:t>Where it lives today:  plans · permits · spreadsheets · SharePoint · emails · inspection notes · experience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DELIVERY MODEL</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200" b="1" dirty="0">
                <a:solidFill>
                  <a:srgbClr val="0B3D2E"/>
                </a:solidFill>
                <a:latin typeface="Cambria" pitchFamily="34" charset="0"/>
                <a:ea typeface="Cambria" pitchFamily="34" charset="-122"/>
                <a:cs typeface="Cambria" pitchFamily="34" charset="-120"/>
              </a:rPr>
              <a:t>A client-visible AI workspace — not an outside middleman</a:t>
            </a:r>
            <a:endParaRPr lang="en-US" sz="2200" dirty="0"/>
          </a:p>
        </p:txBody>
      </p:sp>
      <p:pic>
        <p:nvPicPr>
          <p:cNvPr id="4"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5" name="Shape 2"/>
          <p:cNvSpPr/>
          <p:nvPr/>
        </p:nvSpPr>
        <p:spPr>
          <a:xfrm>
            <a:off x="502920" y="1371600"/>
            <a:ext cx="8138160" cy="960120"/>
          </a:xfrm>
          <a:prstGeom prst="roundRect">
            <a:avLst>
              <a:gd name="adj" fmla="val 7619"/>
            </a:avLst>
          </a:prstGeom>
          <a:solidFill>
            <a:srgbClr val="EAF6EF"/>
          </a:solidFill>
          <a:ln/>
        </p:spPr>
      </p:sp>
      <p:pic>
        <p:nvPicPr>
          <p:cNvPr id="6" name="Image 1" descr="preencoded.png"/>
          <p:cNvPicPr>
            <a:picLocks noChangeAspect="1"/>
          </p:cNvPicPr>
          <p:nvPr/>
        </p:nvPicPr>
        <p:blipFill>
          <a:blip r:embed="rId4"/>
          <a:stretch>
            <a:fillRect/>
          </a:stretch>
        </p:blipFill>
        <p:spPr>
          <a:xfrm>
            <a:off x="777240" y="1572768"/>
            <a:ext cx="292608" cy="292608"/>
          </a:xfrm>
          <a:prstGeom prst="rect">
            <a:avLst/>
          </a:prstGeom>
        </p:spPr>
      </p:pic>
      <p:sp>
        <p:nvSpPr>
          <p:cNvPr id="7" name="Text 3"/>
          <p:cNvSpPr/>
          <p:nvPr/>
        </p:nvSpPr>
        <p:spPr>
          <a:xfrm>
            <a:off x="1234440" y="1481328"/>
            <a:ext cx="7178040" cy="777240"/>
          </a:xfrm>
          <a:prstGeom prst="rect">
            <a:avLst/>
          </a:prstGeom>
          <a:noFill/>
          <a:ln/>
        </p:spPr>
        <p:txBody>
          <a:bodyPr wrap="square" lIns="0" tIns="0" rIns="0" bIns="0" rtlCol="0" anchor="ctr"/>
          <a:lstStyle/>
          <a:p>
            <a:pPr marL="0" indent="0">
              <a:lnSpc>
                <a:spcPct val="110000"/>
              </a:lnSpc>
              <a:buNone/>
            </a:pPr>
            <a:r>
              <a:rPr lang="en-US" sz="1400" i="1" dirty="0">
                <a:solidFill>
                  <a:srgbClr val="07281D"/>
                </a:solidFill>
                <a:latin typeface="Calibri" pitchFamily="34" charset="0"/>
                <a:ea typeface="Calibri" pitchFamily="34" charset="-122"/>
                <a:cs typeface="Calibri" pitchFamily="34" charset="-120"/>
              </a:rPr>
              <a:t>“Give the EHS team a dedicated AI workspace built on the organization's own approved materials — not an outside firm running compliance behind the scenes.”  </a:t>
            </a:r>
            <a:r>
              <a:rPr lang="en-US" sz="1050" dirty="0">
                <a:solidFill>
                  <a:srgbClr val="55705F"/>
                </a:solidFill>
                <a:latin typeface="Calibri" pitchFamily="34" charset="0"/>
                <a:ea typeface="Calibri" pitchFamily="34" charset="-122"/>
                <a:cs typeface="Calibri" pitchFamily="34" charset="-120"/>
              </a:rPr>
              <a:t>— the design principle behind every deployment</a:t>
            </a:r>
            <a:endParaRPr lang="en-US" sz="1400" dirty="0"/>
          </a:p>
        </p:txBody>
      </p:sp>
      <p:sp>
        <p:nvSpPr>
          <p:cNvPr id="8" name="Shape 4"/>
          <p:cNvSpPr/>
          <p:nvPr/>
        </p:nvSpPr>
        <p:spPr>
          <a:xfrm>
            <a:off x="502920" y="2606040"/>
            <a:ext cx="3931920" cy="2148840"/>
          </a:xfrm>
          <a:prstGeom prst="roundRect">
            <a:avLst>
              <a:gd name="adj" fmla="val 3404"/>
            </a:avLst>
          </a:prstGeom>
          <a:solidFill>
            <a:srgbClr val="F2F3F5"/>
          </a:solidFill>
          <a:ln/>
        </p:spPr>
      </p:sp>
      <p:sp>
        <p:nvSpPr>
          <p:cNvPr id="9" name="Text 5"/>
          <p:cNvSpPr/>
          <p:nvPr/>
        </p:nvSpPr>
        <p:spPr>
          <a:xfrm>
            <a:off x="777240" y="2807208"/>
            <a:ext cx="3383280" cy="256032"/>
          </a:xfrm>
          <a:prstGeom prst="rect">
            <a:avLst/>
          </a:prstGeom>
          <a:noFill/>
          <a:ln/>
        </p:spPr>
        <p:txBody>
          <a:bodyPr wrap="square" lIns="0" tIns="0" rIns="0" bIns="0" rtlCol="0" anchor="ctr"/>
          <a:lstStyle/>
          <a:p>
            <a:pPr marL="0" indent="0">
              <a:buNone/>
            </a:pPr>
            <a:r>
              <a:rPr lang="en-US" sz="1100" b="1" kern="0" spc="150" dirty="0">
                <a:solidFill>
                  <a:srgbClr val="55705F"/>
                </a:solidFill>
                <a:latin typeface="Calibri" pitchFamily="34" charset="0"/>
                <a:ea typeface="Calibri" pitchFamily="34" charset="-122"/>
                <a:cs typeface="Calibri" pitchFamily="34" charset="-120"/>
              </a:rPr>
              <a:t>BLACK-BOX OUTSOURCING — NOT THIS</a:t>
            </a:r>
            <a:endParaRPr lang="en-US" sz="1100" dirty="0"/>
          </a:p>
        </p:txBody>
      </p:sp>
      <p:pic>
        <p:nvPicPr>
          <p:cNvPr id="10" name="Image 2" descr="preencoded.png"/>
          <p:cNvPicPr>
            <a:picLocks noChangeAspect="1"/>
          </p:cNvPicPr>
          <p:nvPr/>
        </p:nvPicPr>
        <p:blipFill>
          <a:blip r:embed="rId5"/>
          <a:stretch>
            <a:fillRect/>
          </a:stretch>
        </p:blipFill>
        <p:spPr>
          <a:xfrm>
            <a:off x="795528" y="3200400"/>
            <a:ext cx="155448" cy="155448"/>
          </a:xfrm>
          <a:prstGeom prst="rect">
            <a:avLst/>
          </a:prstGeom>
        </p:spPr>
      </p:pic>
      <p:sp>
        <p:nvSpPr>
          <p:cNvPr id="11" name="Text 6"/>
          <p:cNvSpPr/>
          <p:nvPr/>
        </p:nvSpPr>
        <p:spPr>
          <a:xfrm>
            <a:off x="1051560" y="3136392"/>
            <a:ext cx="3200400" cy="457200"/>
          </a:xfrm>
          <a:prstGeom prst="rect">
            <a:avLst/>
          </a:prstGeom>
          <a:noFill/>
          <a:ln/>
        </p:spPr>
        <p:txBody>
          <a:bodyPr wrap="square" lIns="0" tIns="0" rIns="0" bIns="0" rtlCol="0" anchor="ctr"/>
          <a:lstStyle/>
          <a:p>
            <a:pPr marL="0" indent="0">
              <a:lnSpc>
                <a:spcPct val="105000"/>
              </a:lnSpc>
              <a:buNone/>
            </a:pPr>
            <a:r>
              <a:rPr lang="en-US" sz="1150" dirty="0">
                <a:solidFill>
                  <a:srgbClr val="55705F"/>
                </a:solidFill>
                <a:latin typeface="Calibri" pitchFamily="34" charset="0"/>
                <a:ea typeface="Calibri" pitchFamily="34" charset="-122"/>
                <a:cs typeface="Calibri" pitchFamily="34" charset="-120"/>
              </a:rPr>
              <a:t>Outside firm runs compliance behind the scenes</a:t>
            </a:r>
            <a:endParaRPr lang="en-US" sz="1150" dirty="0"/>
          </a:p>
        </p:txBody>
      </p:sp>
      <p:pic>
        <p:nvPicPr>
          <p:cNvPr id="12" name="Image 3" descr="preencoded.png"/>
          <p:cNvPicPr>
            <a:picLocks noChangeAspect="1"/>
          </p:cNvPicPr>
          <p:nvPr/>
        </p:nvPicPr>
        <p:blipFill>
          <a:blip r:embed="rId5"/>
          <a:stretch>
            <a:fillRect/>
          </a:stretch>
        </p:blipFill>
        <p:spPr>
          <a:xfrm>
            <a:off x="795528" y="3712464"/>
            <a:ext cx="155448" cy="155448"/>
          </a:xfrm>
          <a:prstGeom prst="rect">
            <a:avLst/>
          </a:prstGeom>
        </p:spPr>
      </p:pic>
      <p:sp>
        <p:nvSpPr>
          <p:cNvPr id="13" name="Text 7"/>
          <p:cNvSpPr/>
          <p:nvPr/>
        </p:nvSpPr>
        <p:spPr>
          <a:xfrm>
            <a:off x="1051560" y="3648456"/>
            <a:ext cx="3200400" cy="457200"/>
          </a:xfrm>
          <a:prstGeom prst="rect">
            <a:avLst/>
          </a:prstGeom>
          <a:noFill/>
          <a:ln/>
        </p:spPr>
        <p:txBody>
          <a:bodyPr wrap="square" lIns="0" tIns="0" rIns="0" bIns="0" rtlCol="0" anchor="ctr"/>
          <a:lstStyle/>
          <a:p>
            <a:pPr marL="0" indent="0">
              <a:lnSpc>
                <a:spcPct val="105000"/>
              </a:lnSpc>
              <a:buNone/>
            </a:pPr>
            <a:r>
              <a:rPr lang="en-US" sz="1150" dirty="0">
                <a:solidFill>
                  <a:srgbClr val="55705F"/>
                </a:solidFill>
                <a:latin typeface="Calibri" pitchFamily="34" charset="0"/>
                <a:ea typeface="Calibri" pitchFamily="34" charset="-122"/>
                <a:cs typeface="Calibri" pitchFamily="34" charset="-120"/>
              </a:rPr>
              <a:t>AI hidden from your team</a:t>
            </a:r>
            <a:endParaRPr lang="en-US" sz="1150" dirty="0"/>
          </a:p>
        </p:txBody>
      </p:sp>
      <p:pic>
        <p:nvPicPr>
          <p:cNvPr id="14" name="Image 4" descr="preencoded.png"/>
          <p:cNvPicPr>
            <a:picLocks noChangeAspect="1"/>
          </p:cNvPicPr>
          <p:nvPr/>
        </p:nvPicPr>
        <p:blipFill>
          <a:blip r:embed="rId5"/>
          <a:stretch>
            <a:fillRect/>
          </a:stretch>
        </p:blipFill>
        <p:spPr>
          <a:xfrm>
            <a:off x="795528" y="4224528"/>
            <a:ext cx="155448" cy="155448"/>
          </a:xfrm>
          <a:prstGeom prst="rect">
            <a:avLst/>
          </a:prstGeom>
        </p:spPr>
      </p:pic>
      <p:sp>
        <p:nvSpPr>
          <p:cNvPr id="15" name="Text 8"/>
          <p:cNvSpPr/>
          <p:nvPr/>
        </p:nvSpPr>
        <p:spPr>
          <a:xfrm>
            <a:off x="1051560" y="4160520"/>
            <a:ext cx="3200400" cy="457200"/>
          </a:xfrm>
          <a:prstGeom prst="rect">
            <a:avLst/>
          </a:prstGeom>
          <a:noFill/>
          <a:ln/>
        </p:spPr>
        <p:txBody>
          <a:bodyPr wrap="square" lIns="0" tIns="0" rIns="0" bIns="0" rtlCol="0" anchor="ctr"/>
          <a:lstStyle/>
          <a:p>
            <a:pPr marL="0" indent="0">
              <a:lnSpc>
                <a:spcPct val="105000"/>
              </a:lnSpc>
              <a:buNone/>
            </a:pPr>
            <a:r>
              <a:rPr lang="en-US" sz="1150" dirty="0">
                <a:solidFill>
                  <a:srgbClr val="55705F"/>
                </a:solidFill>
                <a:latin typeface="Calibri" pitchFamily="34" charset="0"/>
                <a:ea typeface="Calibri" pitchFamily="34" charset="-122"/>
                <a:cs typeface="Calibri" pitchFamily="34" charset="-120"/>
              </a:rPr>
              <a:t>Ongoing dependency on a vendor's process</a:t>
            </a:r>
            <a:endParaRPr lang="en-US" sz="1150" dirty="0"/>
          </a:p>
        </p:txBody>
      </p:sp>
      <p:sp>
        <p:nvSpPr>
          <p:cNvPr id="16" name="Shape 9"/>
          <p:cNvSpPr/>
          <p:nvPr/>
        </p:nvSpPr>
        <p:spPr>
          <a:xfrm>
            <a:off x="4709160" y="2606040"/>
            <a:ext cx="3931920" cy="2148840"/>
          </a:xfrm>
          <a:prstGeom prst="roundRect">
            <a:avLst>
              <a:gd name="adj" fmla="val 3404"/>
            </a:avLst>
          </a:prstGeom>
          <a:solidFill>
            <a:srgbClr val="E8F5EC"/>
          </a:solidFill>
          <a:ln/>
          <a:effectLst>
            <a:outerShdw blurRad="88900" dist="25400" dir="2700000" algn="bl" rotWithShape="0">
              <a:srgbClr val="000000">
                <a:alpha val="13000"/>
              </a:srgbClr>
            </a:outerShdw>
          </a:effectLst>
        </p:spPr>
      </p:sp>
      <p:sp>
        <p:nvSpPr>
          <p:cNvPr id="17" name="Text 10"/>
          <p:cNvSpPr/>
          <p:nvPr/>
        </p:nvSpPr>
        <p:spPr>
          <a:xfrm>
            <a:off x="4983480" y="2807208"/>
            <a:ext cx="3383280" cy="256032"/>
          </a:xfrm>
          <a:prstGeom prst="rect">
            <a:avLst/>
          </a:prstGeom>
          <a:noFill/>
          <a:ln/>
        </p:spPr>
        <p:txBody>
          <a:bodyPr wrap="square" lIns="0" tIns="0" rIns="0" bIns="0" rtlCol="0" anchor="ctr"/>
          <a:lstStyle/>
          <a:p>
            <a:pPr marL="0" indent="0">
              <a:buNone/>
            </a:pPr>
            <a:r>
              <a:rPr lang="en-US" sz="1100" b="1" kern="0" spc="150" dirty="0">
                <a:solidFill>
                  <a:srgbClr val="0B3D2E"/>
                </a:solidFill>
                <a:latin typeface="Calibri" pitchFamily="34" charset="0"/>
                <a:ea typeface="Calibri" pitchFamily="34" charset="-122"/>
                <a:cs typeface="Calibri" pitchFamily="34" charset="-120"/>
              </a:rPr>
              <a:t>CLIENT-VISIBLE WORKSPACE — THIS</a:t>
            </a:r>
            <a:endParaRPr lang="en-US" sz="1100" dirty="0"/>
          </a:p>
        </p:txBody>
      </p:sp>
      <p:pic>
        <p:nvPicPr>
          <p:cNvPr id="18" name="Image 5" descr="preencoded.png"/>
          <p:cNvPicPr>
            <a:picLocks noChangeAspect="1"/>
          </p:cNvPicPr>
          <p:nvPr/>
        </p:nvPicPr>
        <p:blipFill>
          <a:blip r:embed="rId6"/>
          <a:stretch>
            <a:fillRect/>
          </a:stretch>
        </p:blipFill>
        <p:spPr>
          <a:xfrm>
            <a:off x="5001768" y="3200400"/>
            <a:ext cx="155448" cy="155448"/>
          </a:xfrm>
          <a:prstGeom prst="rect">
            <a:avLst/>
          </a:prstGeom>
        </p:spPr>
      </p:pic>
      <p:sp>
        <p:nvSpPr>
          <p:cNvPr id="19" name="Text 11"/>
          <p:cNvSpPr/>
          <p:nvPr/>
        </p:nvSpPr>
        <p:spPr>
          <a:xfrm>
            <a:off x="5257800" y="3136392"/>
            <a:ext cx="3246120" cy="457200"/>
          </a:xfrm>
          <a:prstGeom prst="rect">
            <a:avLst/>
          </a:prstGeom>
          <a:noFill/>
          <a:ln/>
        </p:spPr>
        <p:txBody>
          <a:bodyPr wrap="square" lIns="0" tIns="0" rIns="0" bIns="0" rtlCol="0" anchor="ctr"/>
          <a:lstStyle/>
          <a:p>
            <a:pPr marL="0" indent="0">
              <a:lnSpc>
                <a:spcPct val="105000"/>
              </a:lnSpc>
              <a:buNone/>
            </a:pPr>
            <a:r>
              <a:rPr lang="en-US" sz="1150" dirty="0">
                <a:solidFill>
                  <a:srgbClr val="07281D"/>
                </a:solidFill>
                <a:latin typeface="Calibri" pitchFamily="34" charset="0"/>
                <a:ea typeface="Calibri" pitchFamily="34" charset="-122"/>
                <a:cs typeface="Calibri" pitchFamily="34" charset="-120"/>
              </a:rPr>
              <a:t>Your EHS team prompts directly into the instance</a:t>
            </a:r>
            <a:endParaRPr lang="en-US" sz="1150" dirty="0"/>
          </a:p>
        </p:txBody>
      </p:sp>
      <p:pic>
        <p:nvPicPr>
          <p:cNvPr id="20" name="Image 6" descr="preencoded.png"/>
          <p:cNvPicPr>
            <a:picLocks noChangeAspect="1"/>
          </p:cNvPicPr>
          <p:nvPr/>
        </p:nvPicPr>
        <p:blipFill>
          <a:blip r:embed="rId6"/>
          <a:stretch>
            <a:fillRect/>
          </a:stretch>
        </p:blipFill>
        <p:spPr>
          <a:xfrm>
            <a:off x="5001768" y="3712464"/>
            <a:ext cx="155448" cy="155448"/>
          </a:xfrm>
          <a:prstGeom prst="rect">
            <a:avLst/>
          </a:prstGeom>
        </p:spPr>
      </p:pic>
      <p:sp>
        <p:nvSpPr>
          <p:cNvPr id="21" name="Text 12"/>
          <p:cNvSpPr/>
          <p:nvPr/>
        </p:nvSpPr>
        <p:spPr>
          <a:xfrm>
            <a:off x="5257800" y="3648456"/>
            <a:ext cx="3246120" cy="457200"/>
          </a:xfrm>
          <a:prstGeom prst="rect">
            <a:avLst/>
          </a:prstGeom>
          <a:noFill/>
          <a:ln/>
        </p:spPr>
        <p:txBody>
          <a:bodyPr wrap="square" lIns="0" tIns="0" rIns="0" bIns="0" rtlCol="0" anchor="ctr"/>
          <a:lstStyle/>
          <a:p>
            <a:pPr marL="0" indent="0">
              <a:lnSpc>
                <a:spcPct val="105000"/>
              </a:lnSpc>
              <a:buNone/>
            </a:pPr>
            <a:r>
              <a:rPr lang="en-US" sz="1150" dirty="0">
                <a:solidFill>
                  <a:srgbClr val="07281D"/>
                </a:solidFill>
                <a:latin typeface="Calibri" pitchFamily="34" charset="0"/>
                <a:ea typeface="Calibri" pitchFamily="34" charset="-122"/>
                <a:cs typeface="Calibri" pitchFamily="34" charset="-120"/>
              </a:rPr>
              <a:t>Done-for-you draft support inside the workspace</a:t>
            </a:r>
            <a:endParaRPr lang="en-US" sz="1150" dirty="0"/>
          </a:p>
        </p:txBody>
      </p:sp>
      <p:pic>
        <p:nvPicPr>
          <p:cNvPr id="22" name="Image 7" descr="preencoded.png"/>
          <p:cNvPicPr>
            <a:picLocks noChangeAspect="1"/>
          </p:cNvPicPr>
          <p:nvPr/>
        </p:nvPicPr>
        <p:blipFill>
          <a:blip r:embed="rId6"/>
          <a:stretch>
            <a:fillRect/>
          </a:stretch>
        </p:blipFill>
        <p:spPr>
          <a:xfrm>
            <a:off x="5001768" y="4224528"/>
            <a:ext cx="155448" cy="155448"/>
          </a:xfrm>
          <a:prstGeom prst="rect">
            <a:avLst/>
          </a:prstGeom>
        </p:spPr>
      </p:pic>
      <p:sp>
        <p:nvSpPr>
          <p:cNvPr id="23" name="Text 13"/>
          <p:cNvSpPr/>
          <p:nvPr/>
        </p:nvSpPr>
        <p:spPr>
          <a:xfrm>
            <a:off x="5257800" y="4160520"/>
            <a:ext cx="3246120" cy="457200"/>
          </a:xfrm>
          <a:prstGeom prst="rect">
            <a:avLst/>
          </a:prstGeom>
          <a:noFill/>
          <a:ln/>
        </p:spPr>
        <p:txBody>
          <a:bodyPr wrap="square" lIns="0" tIns="0" rIns="0" bIns="0" rtlCol="0" anchor="ctr"/>
          <a:lstStyle/>
          <a:p>
            <a:pPr marL="0" indent="0">
              <a:lnSpc>
                <a:spcPct val="105000"/>
              </a:lnSpc>
              <a:buNone/>
            </a:pPr>
            <a:r>
              <a:rPr lang="en-US" sz="1150" dirty="0">
                <a:solidFill>
                  <a:srgbClr val="07281D"/>
                </a:solidFill>
                <a:latin typeface="Calibri" pitchFamily="34" charset="0"/>
                <a:ea typeface="Calibri" pitchFamily="34" charset="-122"/>
                <a:cs typeface="Calibri" pitchFamily="34" charset="-120"/>
              </a:rPr>
              <a:t>GreenGPT builds, curates, and supports — you decide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PROPOSED SOLUTION</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A dedicated managed EHS AI workspace</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marL="0" indent="0">
              <a:buNone/>
            </a:pPr>
            <a:r>
              <a:rPr lang="en-US" sz="1250" dirty="0">
                <a:solidFill>
                  <a:srgbClr val="55705F"/>
                </a:solidFill>
                <a:latin typeface="Calibri" pitchFamily="34" charset="0"/>
                <a:ea typeface="Calibri" pitchFamily="34" charset="-122"/>
                <a:cs typeface="Calibri" pitchFamily="34" charset="-120"/>
              </a:rPr>
              <a:t>Secure, site-aware, human-reviewed. Not another SaaS platform, not a chatbot — a working layer built on your organization's approved EHS materials.</a:t>
            </a:r>
            <a:endParaRPr lang="en-US" sz="1250" dirty="0"/>
          </a:p>
        </p:txBody>
      </p:sp>
      <p:pic>
        <p:nvPicPr>
          <p:cNvPr id="5"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6" name="Shape 3"/>
          <p:cNvSpPr/>
          <p:nvPr/>
        </p:nvSpPr>
        <p:spPr>
          <a:xfrm>
            <a:off x="502920"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7" name="Shape 4"/>
          <p:cNvSpPr/>
          <p:nvPr/>
        </p:nvSpPr>
        <p:spPr>
          <a:xfrm>
            <a:off x="685800" y="1755648"/>
            <a:ext cx="384048" cy="384048"/>
          </a:xfrm>
          <a:prstGeom prst="ellipse">
            <a:avLst/>
          </a:prstGeom>
          <a:solidFill>
            <a:srgbClr val="0B3D2E"/>
          </a:solidFill>
          <a:ln/>
        </p:spPr>
      </p:sp>
      <p:pic>
        <p:nvPicPr>
          <p:cNvPr id="8" name="Image 1" descr="preencoded.png"/>
          <p:cNvPicPr>
            <a:picLocks noChangeAspect="1"/>
          </p:cNvPicPr>
          <p:nvPr/>
        </p:nvPicPr>
        <p:blipFill>
          <a:blip r:embed="rId4"/>
          <a:stretch>
            <a:fillRect/>
          </a:stretch>
        </p:blipFill>
        <p:spPr>
          <a:xfrm>
            <a:off x="789493" y="1859341"/>
            <a:ext cx="176662" cy="176662"/>
          </a:xfrm>
          <a:prstGeom prst="rect">
            <a:avLst/>
          </a:prstGeom>
        </p:spPr>
      </p:pic>
      <p:sp>
        <p:nvSpPr>
          <p:cNvPr id="9" name="Text 5"/>
          <p:cNvSpPr/>
          <p:nvPr/>
        </p:nvSpPr>
        <p:spPr>
          <a:xfrm>
            <a:off x="1179576" y="1773936"/>
            <a:ext cx="1801368" cy="36576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Dedicated AI workspace</a:t>
            </a:r>
            <a:endParaRPr lang="en-US" sz="1250" dirty="0"/>
          </a:p>
        </p:txBody>
      </p:sp>
      <p:sp>
        <p:nvSpPr>
          <p:cNvPr id="10" name="Text 6"/>
          <p:cNvSpPr/>
          <p:nvPr/>
        </p:nvSpPr>
        <p:spPr>
          <a:xfrm>
            <a:off x="685800" y="2258568"/>
            <a:ext cx="2258568" cy="685800"/>
          </a:xfrm>
          <a:prstGeom prst="rect">
            <a:avLst/>
          </a:prstGeom>
          <a:noFill/>
          <a:ln/>
        </p:spPr>
        <p:txBody>
          <a:bodyPr wrap="square" lIns="0" tIns="0" rIns="0" bIns="0" rtlCol="0" anchor="ctr"/>
          <a:lstStyle/>
          <a:p>
            <a:pPr marL="0" indent="0">
              <a:lnSpc>
                <a:spcPct val="108000"/>
              </a:lnSpc>
              <a:buNone/>
            </a:pPr>
            <a:r>
              <a:rPr lang="en-US" sz="1050" dirty="0">
                <a:solidFill>
                  <a:srgbClr val="55705F"/>
                </a:solidFill>
                <a:latin typeface="Calibri" pitchFamily="34" charset="0"/>
                <a:ea typeface="Calibri" pitchFamily="34" charset="-122"/>
                <a:cs typeface="Calibri" pitchFamily="34" charset="-120"/>
              </a:rPr>
              <a:t>A single-client instance configured for your organization — not a shared platform.</a:t>
            </a:r>
            <a:endParaRPr lang="en-US" sz="1050" dirty="0"/>
          </a:p>
        </p:txBody>
      </p:sp>
      <p:sp>
        <p:nvSpPr>
          <p:cNvPr id="11" name="Shape 7"/>
          <p:cNvSpPr/>
          <p:nvPr/>
        </p:nvSpPr>
        <p:spPr>
          <a:xfrm>
            <a:off x="3392424"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12" name="Shape 8"/>
          <p:cNvSpPr/>
          <p:nvPr/>
        </p:nvSpPr>
        <p:spPr>
          <a:xfrm>
            <a:off x="3575304" y="1755648"/>
            <a:ext cx="384048" cy="384048"/>
          </a:xfrm>
          <a:prstGeom prst="ellipse">
            <a:avLst/>
          </a:prstGeom>
          <a:solidFill>
            <a:srgbClr val="0B3D2E"/>
          </a:solidFill>
          <a:ln/>
        </p:spPr>
      </p:sp>
      <p:pic>
        <p:nvPicPr>
          <p:cNvPr id="13" name="Image 2" descr="preencoded.png"/>
          <p:cNvPicPr>
            <a:picLocks noChangeAspect="1"/>
          </p:cNvPicPr>
          <p:nvPr/>
        </p:nvPicPr>
        <p:blipFill>
          <a:blip r:embed="rId5"/>
          <a:stretch>
            <a:fillRect/>
          </a:stretch>
        </p:blipFill>
        <p:spPr>
          <a:xfrm>
            <a:off x="3678997" y="1859341"/>
            <a:ext cx="176662" cy="176662"/>
          </a:xfrm>
          <a:prstGeom prst="rect">
            <a:avLst/>
          </a:prstGeom>
        </p:spPr>
      </p:pic>
      <p:sp>
        <p:nvSpPr>
          <p:cNvPr id="14" name="Text 9"/>
          <p:cNvSpPr/>
          <p:nvPr/>
        </p:nvSpPr>
        <p:spPr>
          <a:xfrm>
            <a:off x="4069080" y="1773936"/>
            <a:ext cx="1801368" cy="36576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Secure document intake</a:t>
            </a:r>
            <a:endParaRPr lang="en-US" sz="1250" dirty="0"/>
          </a:p>
        </p:txBody>
      </p:sp>
      <p:sp>
        <p:nvSpPr>
          <p:cNvPr id="15" name="Text 10"/>
          <p:cNvSpPr/>
          <p:nvPr/>
        </p:nvSpPr>
        <p:spPr>
          <a:xfrm>
            <a:off x="3575304" y="2258568"/>
            <a:ext cx="2258568" cy="685800"/>
          </a:xfrm>
          <a:prstGeom prst="rect">
            <a:avLst/>
          </a:prstGeom>
          <a:noFill/>
          <a:ln/>
        </p:spPr>
        <p:txBody>
          <a:bodyPr wrap="square" lIns="0" tIns="0" rIns="0" bIns="0" rtlCol="0" anchor="ctr"/>
          <a:lstStyle/>
          <a:p>
            <a:pPr marL="0" indent="0">
              <a:lnSpc>
                <a:spcPct val="108000"/>
              </a:lnSpc>
              <a:buNone/>
            </a:pPr>
            <a:r>
              <a:rPr lang="en-US" sz="1050" dirty="0">
                <a:solidFill>
                  <a:srgbClr val="55705F"/>
                </a:solidFill>
                <a:latin typeface="Calibri" pitchFamily="34" charset="0"/>
                <a:ea typeface="Calibri" pitchFamily="34" charset="-122"/>
                <a:cs typeface="Calibri" pitchFamily="34" charset="-120"/>
              </a:rPr>
              <a:t>Approved EHS materials only, access-controlled ingestion.</a:t>
            </a:r>
            <a:endParaRPr lang="en-US" sz="1050" dirty="0"/>
          </a:p>
        </p:txBody>
      </p:sp>
      <p:sp>
        <p:nvSpPr>
          <p:cNvPr id="16" name="Shape 11"/>
          <p:cNvSpPr/>
          <p:nvPr/>
        </p:nvSpPr>
        <p:spPr>
          <a:xfrm>
            <a:off x="6281928"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17" name="Shape 12"/>
          <p:cNvSpPr/>
          <p:nvPr/>
        </p:nvSpPr>
        <p:spPr>
          <a:xfrm>
            <a:off x="6464808" y="1755648"/>
            <a:ext cx="384048" cy="384048"/>
          </a:xfrm>
          <a:prstGeom prst="ellipse">
            <a:avLst/>
          </a:prstGeom>
          <a:solidFill>
            <a:srgbClr val="0B3D2E"/>
          </a:solidFill>
          <a:ln/>
        </p:spPr>
      </p:sp>
      <p:pic>
        <p:nvPicPr>
          <p:cNvPr id="18" name="Image 3" descr="preencoded.png"/>
          <p:cNvPicPr>
            <a:picLocks noChangeAspect="1"/>
          </p:cNvPicPr>
          <p:nvPr/>
        </p:nvPicPr>
        <p:blipFill>
          <a:blip r:embed="rId6"/>
          <a:stretch>
            <a:fillRect/>
          </a:stretch>
        </p:blipFill>
        <p:spPr>
          <a:xfrm>
            <a:off x="6568501" y="1859341"/>
            <a:ext cx="176662" cy="176662"/>
          </a:xfrm>
          <a:prstGeom prst="rect">
            <a:avLst/>
          </a:prstGeom>
        </p:spPr>
      </p:pic>
      <p:sp>
        <p:nvSpPr>
          <p:cNvPr id="19" name="Text 13"/>
          <p:cNvSpPr/>
          <p:nvPr/>
        </p:nvSpPr>
        <p:spPr>
          <a:xfrm>
            <a:off x="6958584" y="1773936"/>
            <a:ext cx="1801368" cy="36576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Site-aware retrieval</a:t>
            </a:r>
            <a:endParaRPr lang="en-US" sz="1250" dirty="0"/>
          </a:p>
        </p:txBody>
      </p:sp>
      <p:sp>
        <p:nvSpPr>
          <p:cNvPr id="20" name="Text 14"/>
          <p:cNvSpPr/>
          <p:nvPr/>
        </p:nvSpPr>
        <p:spPr>
          <a:xfrm>
            <a:off x="6464808" y="2258568"/>
            <a:ext cx="2258568" cy="685800"/>
          </a:xfrm>
          <a:prstGeom prst="rect">
            <a:avLst/>
          </a:prstGeom>
          <a:noFill/>
          <a:ln/>
        </p:spPr>
        <p:txBody>
          <a:bodyPr wrap="square" lIns="0" tIns="0" rIns="0" bIns="0" rtlCol="0" anchor="ctr"/>
          <a:lstStyle/>
          <a:p>
            <a:pPr marL="0" indent="0">
              <a:lnSpc>
                <a:spcPct val="108000"/>
              </a:lnSpc>
              <a:buNone/>
            </a:pPr>
            <a:r>
              <a:rPr lang="en-US" sz="1050" dirty="0">
                <a:solidFill>
                  <a:srgbClr val="55705F"/>
                </a:solidFill>
                <a:latin typeface="Calibri" pitchFamily="34" charset="0"/>
                <a:ea typeface="Calibri" pitchFamily="34" charset="-122"/>
                <a:cs typeface="Calibri" pitchFamily="34" charset="-120"/>
              </a:rPr>
              <a:t>Answers grounded in the right site's plans, permits, and templates.</a:t>
            </a:r>
            <a:endParaRPr lang="en-US" sz="1050" dirty="0"/>
          </a:p>
        </p:txBody>
      </p:sp>
      <p:sp>
        <p:nvSpPr>
          <p:cNvPr id="21" name="Shape 15"/>
          <p:cNvSpPr/>
          <p:nvPr/>
        </p:nvSpPr>
        <p:spPr>
          <a:xfrm>
            <a:off x="502920"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22" name="Shape 16"/>
          <p:cNvSpPr/>
          <p:nvPr/>
        </p:nvSpPr>
        <p:spPr>
          <a:xfrm>
            <a:off x="685800" y="3474720"/>
            <a:ext cx="384048" cy="384048"/>
          </a:xfrm>
          <a:prstGeom prst="ellipse">
            <a:avLst/>
          </a:prstGeom>
          <a:solidFill>
            <a:srgbClr val="0B3D2E"/>
          </a:solidFill>
          <a:ln/>
        </p:spPr>
      </p:sp>
      <p:pic>
        <p:nvPicPr>
          <p:cNvPr id="23" name="Image 4" descr="preencoded.png"/>
          <p:cNvPicPr>
            <a:picLocks noChangeAspect="1"/>
          </p:cNvPicPr>
          <p:nvPr/>
        </p:nvPicPr>
        <p:blipFill>
          <a:blip r:embed="rId7"/>
          <a:stretch>
            <a:fillRect/>
          </a:stretch>
        </p:blipFill>
        <p:spPr>
          <a:xfrm>
            <a:off x="789493" y="3578413"/>
            <a:ext cx="176662" cy="176662"/>
          </a:xfrm>
          <a:prstGeom prst="rect">
            <a:avLst/>
          </a:prstGeom>
        </p:spPr>
      </p:pic>
      <p:sp>
        <p:nvSpPr>
          <p:cNvPr id="24" name="Text 17"/>
          <p:cNvSpPr/>
          <p:nvPr/>
        </p:nvSpPr>
        <p:spPr>
          <a:xfrm>
            <a:off x="1179576" y="3493008"/>
            <a:ext cx="1801368" cy="36576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Human-reviewed outputs</a:t>
            </a:r>
            <a:endParaRPr lang="en-US" sz="1250" dirty="0"/>
          </a:p>
        </p:txBody>
      </p:sp>
      <p:sp>
        <p:nvSpPr>
          <p:cNvPr id="25" name="Text 18"/>
          <p:cNvSpPr/>
          <p:nvPr/>
        </p:nvSpPr>
        <p:spPr>
          <a:xfrm>
            <a:off x="685800" y="3977640"/>
            <a:ext cx="2258568" cy="685800"/>
          </a:xfrm>
          <a:prstGeom prst="rect">
            <a:avLst/>
          </a:prstGeom>
          <a:noFill/>
          <a:ln/>
        </p:spPr>
        <p:txBody>
          <a:bodyPr wrap="square" lIns="0" tIns="0" rIns="0" bIns="0" rtlCol="0" anchor="ctr"/>
          <a:lstStyle/>
          <a:p>
            <a:pPr marL="0" indent="0">
              <a:lnSpc>
                <a:spcPct val="108000"/>
              </a:lnSpc>
              <a:buNone/>
            </a:pPr>
            <a:r>
              <a:rPr lang="en-US" sz="1050" dirty="0">
                <a:solidFill>
                  <a:srgbClr val="55705F"/>
                </a:solidFill>
                <a:latin typeface="Calibri" pitchFamily="34" charset="0"/>
                <a:ea typeface="Calibri" pitchFamily="34" charset="-122"/>
                <a:cs typeface="Calibri" pitchFamily="34" charset="-120"/>
              </a:rPr>
              <a:t>Every deliverable is a draft until your EHS team approves it.</a:t>
            </a:r>
            <a:endParaRPr lang="en-US" sz="1050" dirty="0"/>
          </a:p>
        </p:txBody>
      </p:sp>
      <p:sp>
        <p:nvSpPr>
          <p:cNvPr id="26" name="Shape 19"/>
          <p:cNvSpPr/>
          <p:nvPr/>
        </p:nvSpPr>
        <p:spPr>
          <a:xfrm>
            <a:off x="3392424"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27" name="Shape 20"/>
          <p:cNvSpPr/>
          <p:nvPr/>
        </p:nvSpPr>
        <p:spPr>
          <a:xfrm>
            <a:off x="3575304" y="3474720"/>
            <a:ext cx="384048" cy="384048"/>
          </a:xfrm>
          <a:prstGeom prst="ellipse">
            <a:avLst/>
          </a:prstGeom>
          <a:solidFill>
            <a:srgbClr val="0B3D2E"/>
          </a:solidFill>
          <a:ln/>
        </p:spPr>
      </p:sp>
      <p:pic>
        <p:nvPicPr>
          <p:cNvPr id="28" name="Image 5" descr="preencoded.png"/>
          <p:cNvPicPr>
            <a:picLocks noChangeAspect="1"/>
          </p:cNvPicPr>
          <p:nvPr/>
        </p:nvPicPr>
        <p:blipFill>
          <a:blip r:embed="rId8"/>
          <a:stretch>
            <a:fillRect/>
          </a:stretch>
        </p:blipFill>
        <p:spPr>
          <a:xfrm>
            <a:off x="3678997" y="3578413"/>
            <a:ext cx="176662" cy="176662"/>
          </a:xfrm>
          <a:prstGeom prst="rect">
            <a:avLst/>
          </a:prstGeom>
        </p:spPr>
      </p:pic>
      <p:sp>
        <p:nvSpPr>
          <p:cNvPr id="29" name="Text 21"/>
          <p:cNvSpPr/>
          <p:nvPr/>
        </p:nvSpPr>
        <p:spPr>
          <a:xfrm>
            <a:off x="4069080" y="3493008"/>
            <a:ext cx="1801368" cy="36576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Action &amp; evidence tracking</a:t>
            </a:r>
            <a:endParaRPr lang="en-US" sz="1250" dirty="0"/>
          </a:p>
        </p:txBody>
      </p:sp>
      <p:sp>
        <p:nvSpPr>
          <p:cNvPr id="30" name="Text 22"/>
          <p:cNvSpPr/>
          <p:nvPr/>
        </p:nvSpPr>
        <p:spPr>
          <a:xfrm>
            <a:off x="3575304" y="3977640"/>
            <a:ext cx="2258568" cy="685800"/>
          </a:xfrm>
          <a:prstGeom prst="rect">
            <a:avLst/>
          </a:prstGeom>
          <a:noFill/>
          <a:ln/>
        </p:spPr>
        <p:txBody>
          <a:bodyPr wrap="square" lIns="0" tIns="0" rIns="0" bIns="0" rtlCol="0" anchor="ctr"/>
          <a:lstStyle/>
          <a:p>
            <a:pPr marL="0" indent="0">
              <a:lnSpc>
                <a:spcPct val="108000"/>
              </a:lnSpc>
              <a:buNone/>
            </a:pPr>
            <a:r>
              <a:rPr lang="en-US" sz="1050" dirty="0">
                <a:solidFill>
                  <a:srgbClr val="55705F"/>
                </a:solidFill>
                <a:latin typeface="Calibri" pitchFamily="34" charset="0"/>
                <a:ea typeface="Calibri" pitchFamily="34" charset="-122"/>
                <a:cs typeface="Calibri" pitchFamily="34" charset="-120"/>
              </a:rPr>
              <a:t>Findings become trackers with owners, due dates, and evidence.</a:t>
            </a:r>
            <a:endParaRPr lang="en-US" sz="1050" dirty="0"/>
          </a:p>
        </p:txBody>
      </p:sp>
      <p:sp>
        <p:nvSpPr>
          <p:cNvPr id="31" name="Shape 23"/>
          <p:cNvSpPr/>
          <p:nvPr/>
        </p:nvSpPr>
        <p:spPr>
          <a:xfrm>
            <a:off x="6281928"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32" name="Shape 24"/>
          <p:cNvSpPr/>
          <p:nvPr/>
        </p:nvSpPr>
        <p:spPr>
          <a:xfrm>
            <a:off x="6464808" y="3474720"/>
            <a:ext cx="384048" cy="384048"/>
          </a:xfrm>
          <a:prstGeom prst="ellipse">
            <a:avLst/>
          </a:prstGeom>
          <a:solidFill>
            <a:srgbClr val="0B3D2E"/>
          </a:solidFill>
          <a:ln/>
        </p:spPr>
      </p:sp>
      <p:pic>
        <p:nvPicPr>
          <p:cNvPr id="33" name="Image 6" descr="preencoded.png"/>
          <p:cNvPicPr>
            <a:picLocks noChangeAspect="1"/>
          </p:cNvPicPr>
          <p:nvPr/>
        </p:nvPicPr>
        <p:blipFill>
          <a:blip r:embed="rId9"/>
          <a:stretch>
            <a:fillRect/>
          </a:stretch>
        </p:blipFill>
        <p:spPr>
          <a:xfrm>
            <a:off x="6568501" y="3578413"/>
            <a:ext cx="176662" cy="176662"/>
          </a:xfrm>
          <a:prstGeom prst="rect">
            <a:avLst/>
          </a:prstGeom>
        </p:spPr>
      </p:pic>
      <p:sp>
        <p:nvSpPr>
          <p:cNvPr id="34" name="Text 25"/>
          <p:cNvSpPr/>
          <p:nvPr/>
        </p:nvSpPr>
        <p:spPr>
          <a:xfrm>
            <a:off x="6958584" y="3493008"/>
            <a:ext cx="1801368" cy="36576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Monthly summaries</a:t>
            </a:r>
            <a:endParaRPr lang="en-US" sz="1250" dirty="0"/>
          </a:p>
        </p:txBody>
      </p:sp>
      <p:sp>
        <p:nvSpPr>
          <p:cNvPr id="35" name="Text 26"/>
          <p:cNvSpPr/>
          <p:nvPr/>
        </p:nvSpPr>
        <p:spPr>
          <a:xfrm>
            <a:off x="6464808" y="3977640"/>
            <a:ext cx="2258568" cy="685800"/>
          </a:xfrm>
          <a:prstGeom prst="rect">
            <a:avLst/>
          </a:prstGeom>
          <a:noFill/>
          <a:ln/>
        </p:spPr>
        <p:txBody>
          <a:bodyPr wrap="square" lIns="0" tIns="0" rIns="0" bIns="0" rtlCol="0" anchor="ctr"/>
          <a:lstStyle/>
          <a:p>
            <a:pPr marL="0" indent="0">
              <a:lnSpc>
                <a:spcPct val="108000"/>
              </a:lnSpc>
              <a:buNone/>
            </a:pPr>
            <a:r>
              <a:rPr lang="en-US" sz="1050" dirty="0">
                <a:solidFill>
                  <a:srgbClr val="55705F"/>
                </a:solidFill>
                <a:latin typeface="Calibri" pitchFamily="34" charset="0"/>
                <a:ea typeface="Calibri" pitchFamily="34" charset="-122"/>
                <a:cs typeface="Calibri" pitchFamily="34" charset="-120"/>
              </a:rPr>
              <a:t>Recurring compliance briefings assembled from the month's activity.</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WORKFLOW OVERVIEW</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How work moves through the workspace</a:t>
            </a:r>
            <a:endParaRPr lang="en-US" sz="2700" dirty="0"/>
          </a:p>
        </p:txBody>
      </p:sp>
      <p:pic>
        <p:nvPicPr>
          <p:cNvPr id="4"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5" name="Shape 2"/>
          <p:cNvSpPr/>
          <p:nvPr/>
        </p:nvSpPr>
        <p:spPr>
          <a:xfrm>
            <a:off x="502920" y="1600200"/>
            <a:ext cx="1261872" cy="1572768"/>
          </a:xfrm>
          <a:prstGeom prst="roundRect">
            <a:avLst>
              <a:gd name="adj" fmla="val 5072"/>
            </a:avLst>
          </a:prstGeom>
          <a:solidFill>
            <a:srgbClr val="F4F7F2"/>
          </a:solidFill>
          <a:ln/>
          <a:effectLst>
            <a:outerShdw blurRad="88900" dist="25400" dir="2700000" algn="bl" rotWithShape="0">
              <a:srgbClr val="000000">
                <a:alpha val="13000"/>
              </a:srgbClr>
            </a:outerShdw>
          </a:effectLst>
        </p:spPr>
      </p:sp>
      <p:sp>
        <p:nvSpPr>
          <p:cNvPr id="6" name="Shape 3"/>
          <p:cNvSpPr/>
          <p:nvPr/>
        </p:nvSpPr>
        <p:spPr>
          <a:xfrm>
            <a:off x="932688" y="1783080"/>
            <a:ext cx="402336" cy="402336"/>
          </a:xfrm>
          <a:prstGeom prst="ellipse">
            <a:avLst/>
          </a:prstGeom>
          <a:solidFill>
            <a:srgbClr val="0B3D2E"/>
          </a:solidFill>
          <a:ln/>
        </p:spPr>
      </p:sp>
      <p:pic>
        <p:nvPicPr>
          <p:cNvPr id="7" name="Image 1" descr="preencoded.png"/>
          <p:cNvPicPr>
            <a:picLocks noChangeAspect="1"/>
          </p:cNvPicPr>
          <p:nvPr/>
        </p:nvPicPr>
        <p:blipFill>
          <a:blip r:embed="rId4"/>
          <a:stretch>
            <a:fillRect/>
          </a:stretch>
        </p:blipFill>
        <p:spPr>
          <a:xfrm>
            <a:off x="1041319" y="1891711"/>
            <a:ext cx="185075" cy="185075"/>
          </a:xfrm>
          <a:prstGeom prst="rect">
            <a:avLst/>
          </a:prstGeom>
        </p:spPr>
      </p:pic>
      <p:sp>
        <p:nvSpPr>
          <p:cNvPr id="8" name="Text 4"/>
          <p:cNvSpPr/>
          <p:nvPr/>
        </p:nvSpPr>
        <p:spPr>
          <a:xfrm>
            <a:off x="566928" y="2258568"/>
            <a:ext cx="1133856" cy="841248"/>
          </a:xfrm>
          <a:prstGeom prst="rect">
            <a:avLst/>
          </a:prstGeom>
          <a:noFill/>
          <a:ln/>
        </p:spPr>
        <p:txBody>
          <a:bodyPr wrap="square" lIns="0" tIns="0" rIns="0" bIns="0" rtlCol="0" anchor="t"/>
          <a:lstStyle/>
          <a:p>
            <a:pPr marL="0" indent="0" algn="ctr">
              <a:lnSpc>
                <a:spcPct val="102000"/>
              </a:lnSpc>
              <a:buNone/>
            </a:pPr>
            <a:r>
              <a:rPr lang="en-US" sz="1000" b="1" dirty="0">
                <a:solidFill>
                  <a:srgbClr val="0B3D2E"/>
                </a:solidFill>
                <a:latin typeface="Calibri" pitchFamily="34" charset="0"/>
                <a:ea typeface="Calibri" pitchFamily="34" charset="-122"/>
                <a:cs typeface="Calibri" pitchFamily="34" charset="-120"/>
              </a:rPr>
              <a:t>Client EHS documents + site data</a:t>
            </a:r>
            <a:endParaRPr lang="en-US" sz="1000" dirty="0"/>
          </a:p>
        </p:txBody>
      </p:sp>
      <p:sp>
        <p:nvSpPr>
          <p:cNvPr id="9" name="Text 5"/>
          <p:cNvSpPr/>
          <p:nvPr/>
        </p:nvSpPr>
        <p:spPr>
          <a:xfrm>
            <a:off x="566928" y="2898648"/>
            <a:ext cx="1133856" cy="219456"/>
          </a:xfrm>
          <a:prstGeom prst="rect">
            <a:avLst/>
          </a:prstGeom>
          <a:noFill/>
          <a:ln/>
        </p:spPr>
        <p:txBody>
          <a:bodyPr wrap="square" lIns="0" tIns="0" rIns="0" bIns="0" rtlCol="0" anchor="ctr"/>
          <a:lstStyle/>
          <a:p>
            <a:pPr marL="0" indent="0" algn="ctr">
              <a:buNone/>
            </a:pPr>
            <a:r>
              <a:rPr lang="en-US" sz="900" b="1" dirty="0">
                <a:solidFill>
                  <a:srgbClr val="A3BDB0"/>
                </a:solidFill>
                <a:latin typeface="Calibri" pitchFamily="34" charset="0"/>
                <a:ea typeface="Calibri" pitchFamily="34" charset="-122"/>
                <a:cs typeface="Calibri" pitchFamily="34" charset="-120"/>
              </a:rPr>
              <a:t>1</a:t>
            </a:r>
            <a:endParaRPr lang="en-US" sz="900" dirty="0"/>
          </a:p>
        </p:txBody>
      </p:sp>
      <p:pic>
        <p:nvPicPr>
          <p:cNvPr id="10" name="Image 2" descr="preencoded.png"/>
          <p:cNvPicPr>
            <a:picLocks noChangeAspect="1"/>
          </p:cNvPicPr>
          <p:nvPr/>
        </p:nvPicPr>
        <p:blipFill>
          <a:blip r:embed="rId5"/>
          <a:stretch>
            <a:fillRect/>
          </a:stretch>
        </p:blipFill>
        <p:spPr>
          <a:xfrm>
            <a:off x="1787652" y="2322576"/>
            <a:ext cx="128016" cy="128016"/>
          </a:xfrm>
          <a:prstGeom prst="rect">
            <a:avLst/>
          </a:prstGeom>
        </p:spPr>
      </p:pic>
      <p:sp>
        <p:nvSpPr>
          <p:cNvPr id="11" name="Shape 6"/>
          <p:cNvSpPr/>
          <p:nvPr/>
        </p:nvSpPr>
        <p:spPr>
          <a:xfrm>
            <a:off x="1933956" y="1600200"/>
            <a:ext cx="1261872" cy="1572768"/>
          </a:xfrm>
          <a:prstGeom prst="roundRect">
            <a:avLst>
              <a:gd name="adj" fmla="val 5072"/>
            </a:avLst>
          </a:prstGeom>
          <a:solidFill>
            <a:srgbClr val="0B3D2E"/>
          </a:solidFill>
          <a:ln/>
          <a:effectLst>
            <a:outerShdw blurRad="88900" dist="25400" dir="2700000" algn="bl" rotWithShape="0">
              <a:srgbClr val="000000">
                <a:alpha val="13000"/>
              </a:srgbClr>
            </a:outerShdw>
          </a:effectLst>
        </p:spPr>
      </p:sp>
      <p:sp>
        <p:nvSpPr>
          <p:cNvPr id="12" name="Shape 7"/>
          <p:cNvSpPr/>
          <p:nvPr/>
        </p:nvSpPr>
        <p:spPr>
          <a:xfrm>
            <a:off x="2363724" y="1783080"/>
            <a:ext cx="402336" cy="402336"/>
          </a:xfrm>
          <a:prstGeom prst="ellipse">
            <a:avLst/>
          </a:prstGeom>
          <a:solidFill>
            <a:srgbClr val="11553F"/>
          </a:solidFill>
          <a:ln/>
        </p:spPr>
      </p:sp>
      <p:pic>
        <p:nvPicPr>
          <p:cNvPr id="13" name="Image 3" descr="preencoded.png"/>
          <p:cNvPicPr>
            <a:picLocks noChangeAspect="1"/>
          </p:cNvPicPr>
          <p:nvPr/>
        </p:nvPicPr>
        <p:blipFill>
          <a:blip r:embed="rId6"/>
          <a:stretch>
            <a:fillRect/>
          </a:stretch>
        </p:blipFill>
        <p:spPr>
          <a:xfrm>
            <a:off x="2472355" y="1891711"/>
            <a:ext cx="185075" cy="185075"/>
          </a:xfrm>
          <a:prstGeom prst="rect">
            <a:avLst/>
          </a:prstGeom>
        </p:spPr>
      </p:pic>
      <p:sp>
        <p:nvSpPr>
          <p:cNvPr id="14" name="Text 8"/>
          <p:cNvSpPr/>
          <p:nvPr/>
        </p:nvSpPr>
        <p:spPr>
          <a:xfrm>
            <a:off x="1997964" y="2258568"/>
            <a:ext cx="1133856" cy="841248"/>
          </a:xfrm>
          <a:prstGeom prst="rect">
            <a:avLst/>
          </a:prstGeom>
          <a:noFill/>
          <a:ln/>
        </p:spPr>
        <p:txBody>
          <a:bodyPr wrap="square" lIns="0" tIns="0" rIns="0" bIns="0" rtlCol="0" anchor="t"/>
          <a:lstStyle/>
          <a:p>
            <a:pPr marL="0" indent="0" algn="ctr">
              <a:lnSpc>
                <a:spcPct val="102000"/>
              </a:lnSpc>
              <a:buNone/>
            </a:pPr>
            <a:r>
              <a:rPr lang="en-US" sz="1000" b="1" dirty="0">
                <a:solidFill>
                  <a:srgbClr val="FFFFFF"/>
                </a:solidFill>
                <a:latin typeface="Calibri" pitchFamily="34" charset="0"/>
                <a:ea typeface="Calibri" pitchFamily="34" charset="-122"/>
                <a:cs typeface="Calibri" pitchFamily="34" charset="-120"/>
              </a:rPr>
              <a:t>GreenGPT EHS knowledge base</a:t>
            </a:r>
            <a:endParaRPr lang="en-US" sz="1000" dirty="0"/>
          </a:p>
        </p:txBody>
      </p:sp>
      <p:sp>
        <p:nvSpPr>
          <p:cNvPr id="15" name="Text 9"/>
          <p:cNvSpPr/>
          <p:nvPr/>
        </p:nvSpPr>
        <p:spPr>
          <a:xfrm>
            <a:off x="1997964" y="2898648"/>
            <a:ext cx="1133856" cy="219456"/>
          </a:xfrm>
          <a:prstGeom prst="rect">
            <a:avLst/>
          </a:prstGeom>
          <a:noFill/>
          <a:ln/>
        </p:spPr>
        <p:txBody>
          <a:bodyPr wrap="square" lIns="0" tIns="0" rIns="0" bIns="0" rtlCol="0" anchor="ctr"/>
          <a:lstStyle/>
          <a:p>
            <a:pPr marL="0" indent="0" algn="ctr">
              <a:buNone/>
            </a:pPr>
            <a:r>
              <a:rPr lang="en-US" sz="900" b="1" dirty="0">
                <a:solidFill>
                  <a:srgbClr val="8FC2A9"/>
                </a:solidFill>
                <a:latin typeface="Calibri" pitchFamily="34" charset="0"/>
                <a:ea typeface="Calibri" pitchFamily="34" charset="-122"/>
                <a:cs typeface="Calibri" pitchFamily="34" charset="-120"/>
              </a:rPr>
              <a:t>2</a:t>
            </a:r>
            <a:endParaRPr lang="en-US" sz="900" dirty="0"/>
          </a:p>
        </p:txBody>
      </p:sp>
      <p:pic>
        <p:nvPicPr>
          <p:cNvPr id="16" name="Image 4" descr="preencoded.png"/>
          <p:cNvPicPr>
            <a:picLocks noChangeAspect="1"/>
          </p:cNvPicPr>
          <p:nvPr/>
        </p:nvPicPr>
        <p:blipFill>
          <a:blip r:embed="rId5"/>
          <a:stretch>
            <a:fillRect/>
          </a:stretch>
        </p:blipFill>
        <p:spPr>
          <a:xfrm>
            <a:off x="3218688" y="2322576"/>
            <a:ext cx="128016" cy="128016"/>
          </a:xfrm>
          <a:prstGeom prst="rect">
            <a:avLst/>
          </a:prstGeom>
        </p:spPr>
      </p:pic>
      <p:sp>
        <p:nvSpPr>
          <p:cNvPr id="17" name="Shape 10"/>
          <p:cNvSpPr/>
          <p:nvPr/>
        </p:nvSpPr>
        <p:spPr>
          <a:xfrm>
            <a:off x="3364992" y="1600200"/>
            <a:ext cx="1261872" cy="1572768"/>
          </a:xfrm>
          <a:prstGeom prst="roundRect">
            <a:avLst>
              <a:gd name="adj" fmla="val 5072"/>
            </a:avLst>
          </a:prstGeom>
          <a:solidFill>
            <a:srgbClr val="F4F7F2"/>
          </a:solidFill>
          <a:ln/>
          <a:effectLst>
            <a:outerShdw blurRad="88900" dist="25400" dir="2700000" algn="bl" rotWithShape="0">
              <a:srgbClr val="000000">
                <a:alpha val="13000"/>
              </a:srgbClr>
            </a:outerShdw>
          </a:effectLst>
        </p:spPr>
      </p:sp>
      <p:sp>
        <p:nvSpPr>
          <p:cNvPr id="18" name="Shape 11"/>
          <p:cNvSpPr/>
          <p:nvPr/>
        </p:nvSpPr>
        <p:spPr>
          <a:xfrm>
            <a:off x="3794760" y="1783080"/>
            <a:ext cx="402336" cy="402336"/>
          </a:xfrm>
          <a:prstGeom prst="ellipse">
            <a:avLst/>
          </a:prstGeom>
          <a:solidFill>
            <a:srgbClr val="0B3D2E"/>
          </a:solidFill>
          <a:ln/>
        </p:spPr>
      </p:sp>
      <p:pic>
        <p:nvPicPr>
          <p:cNvPr id="19" name="Image 5" descr="preencoded.png"/>
          <p:cNvPicPr>
            <a:picLocks noChangeAspect="1"/>
          </p:cNvPicPr>
          <p:nvPr/>
        </p:nvPicPr>
        <p:blipFill>
          <a:blip r:embed="rId7"/>
          <a:stretch>
            <a:fillRect/>
          </a:stretch>
        </p:blipFill>
        <p:spPr>
          <a:xfrm>
            <a:off x="3903391" y="1891711"/>
            <a:ext cx="185075" cy="185075"/>
          </a:xfrm>
          <a:prstGeom prst="rect">
            <a:avLst/>
          </a:prstGeom>
        </p:spPr>
      </p:pic>
      <p:sp>
        <p:nvSpPr>
          <p:cNvPr id="20" name="Text 12"/>
          <p:cNvSpPr/>
          <p:nvPr/>
        </p:nvSpPr>
        <p:spPr>
          <a:xfrm>
            <a:off x="3429000" y="2258568"/>
            <a:ext cx="1133856" cy="841248"/>
          </a:xfrm>
          <a:prstGeom prst="rect">
            <a:avLst/>
          </a:prstGeom>
          <a:noFill/>
          <a:ln/>
        </p:spPr>
        <p:txBody>
          <a:bodyPr wrap="square" lIns="0" tIns="0" rIns="0" bIns="0" rtlCol="0" anchor="t"/>
          <a:lstStyle/>
          <a:p>
            <a:pPr marL="0" indent="0" algn="ctr">
              <a:lnSpc>
                <a:spcPct val="102000"/>
              </a:lnSpc>
              <a:buNone/>
            </a:pPr>
            <a:r>
              <a:rPr lang="en-US" sz="1000" b="1" dirty="0">
                <a:solidFill>
                  <a:srgbClr val="0B3D2E"/>
                </a:solidFill>
                <a:latin typeface="Calibri" pitchFamily="34" charset="0"/>
                <a:ea typeface="Calibri" pitchFamily="34" charset="-122"/>
                <a:cs typeface="Calibri" pitchFamily="34" charset="-120"/>
              </a:rPr>
              <a:t>EHS team prompts &amp; requests</a:t>
            </a:r>
            <a:endParaRPr lang="en-US" sz="1000" dirty="0"/>
          </a:p>
        </p:txBody>
      </p:sp>
      <p:sp>
        <p:nvSpPr>
          <p:cNvPr id="21" name="Text 13"/>
          <p:cNvSpPr/>
          <p:nvPr/>
        </p:nvSpPr>
        <p:spPr>
          <a:xfrm>
            <a:off x="3429000" y="2898648"/>
            <a:ext cx="1133856" cy="219456"/>
          </a:xfrm>
          <a:prstGeom prst="rect">
            <a:avLst/>
          </a:prstGeom>
          <a:noFill/>
          <a:ln/>
        </p:spPr>
        <p:txBody>
          <a:bodyPr wrap="square" lIns="0" tIns="0" rIns="0" bIns="0" rtlCol="0" anchor="ctr"/>
          <a:lstStyle/>
          <a:p>
            <a:pPr marL="0" indent="0" algn="ctr">
              <a:buNone/>
            </a:pPr>
            <a:r>
              <a:rPr lang="en-US" sz="900" b="1" dirty="0">
                <a:solidFill>
                  <a:srgbClr val="A3BDB0"/>
                </a:solidFill>
                <a:latin typeface="Calibri" pitchFamily="34" charset="0"/>
                <a:ea typeface="Calibri" pitchFamily="34" charset="-122"/>
                <a:cs typeface="Calibri" pitchFamily="34" charset="-120"/>
              </a:rPr>
              <a:t>3</a:t>
            </a:r>
            <a:endParaRPr lang="en-US" sz="900" dirty="0"/>
          </a:p>
        </p:txBody>
      </p:sp>
      <p:pic>
        <p:nvPicPr>
          <p:cNvPr id="22" name="Image 6" descr="preencoded.png"/>
          <p:cNvPicPr>
            <a:picLocks noChangeAspect="1"/>
          </p:cNvPicPr>
          <p:nvPr/>
        </p:nvPicPr>
        <p:blipFill>
          <a:blip r:embed="rId5"/>
          <a:stretch>
            <a:fillRect/>
          </a:stretch>
        </p:blipFill>
        <p:spPr>
          <a:xfrm>
            <a:off x="4649724" y="2322576"/>
            <a:ext cx="128016" cy="128016"/>
          </a:xfrm>
          <a:prstGeom prst="rect">
            <a:avLst/>
          </a:prstGeom>
        </p:spPr>
      </p:pic>
      <p:sp>
        <p:nvSpPr>
          <p:cNvPr id="23" name="Shape 14"/>
          <p:cNvSpPr/>
          <p:nvPr/>
        </p:nvSpPr>
        <p:spPr>
          <a:xfrm>
            <a:off x="4796028" y="1600200"/>
            <a:ext cx="1261872" cy="1572768"/>
          </a:xfrm>
          <a:prstGeom prst="roundRect">
            <a:avLst>
              <a:gd name="adj" fmla="val 5072"/>
            </a:avLst>
          </a:prstGeom>
          <a:solidFill>
            <a:srgbClr val="F4F7F2"/>
          </a:solidFill>
          <a:ln/>
          <a:effectLst>
            <a:outerShdw blurRad="88900" dist="25400" dir="2700000" algn="bl" rotWithShape="0">
              <a:srgbClr val="000000">
                <a:alpha val="13000"/>
              </a:srgbClr>
            </a:outerShdw>
          </a:effectLst>
        </p:spPr>
      </p:sp>
      <p:sp>
        <p:nvSpPr>
          <p:cNvPr id="24" name="Shape 15"/>
          <p:cNvSpPr/>
          <p:nvPr/>
        </p:nvSpPr>
        <p:spPr>
          <a:xfrm>
            <a:off x="5225796" y="1783080"/>
            <a:ext cx="402336" cy="402336"/>
          </a:xfrm>
          <a:prstGeom prst="ellipse">
            <a:avLst/>
          </a:prstGeom>
          <a:solidFill>
            <a:srgbClr val="0B3D2E"/>
          </a:solidFill>
          <a:ln/>
        </p:spPr>
      </p:sp>
      <p:pic>
        <p:nvPicPr>
          <p:cNvPr id="25" name="Image 7" descr="preencoded.png"/>
          <p:cNvPicPr>
            <a:picLocks noChangeAspect="1"/>
          </p:cNvPicPr>
          <p:nvPr/>
        </p:nvPicPr>
        <p:blipFill>
          <a:blip r:embed="rId8"/>
          <a:stretch>
            <a:fillRect/>
          </a:stretch>
        </p:blipFill>
        <p:spPr>
          <a:xfrm>
            <a:off x="5334427" y="1891711"/>
            <a:ext cx="185075" cy="185075"/>
          </a:xfrm>
          <a:prstGeom prst="rect">
            <a:avLst/>
          </a:prstGeom>
        </p:spPr>
      </p:pic>
      <p:sp>
        <p:nvSpPr>
          <p:cNvPr id="26" name="Text 16"/>
          <p:cNvSpPr/>
          <p:nvPr/>
        </p:nvSpPr>
        <p:spPr>
          <a:xfrm>
            <a:off x="4860036" y="2258568"/>
            <a:ext cx="1133856" cy="841248"/>
          </a:xfrm>
          <a:prstGeom prst="rect">
            <a:avLst/>
          </a:prstGeom>
          <a:noFill/>
          <a:ln/>
        </p:spPr>
        <p:txBody>
          <a:bodyPr wrap="square" lIns="0" tIns="0" rIns="0" bIns="0" rtlCol="0" anchor="t"/>
          <a:lstStyle/>
          <a:p>
            <a:pPr marL="0" indent="0" algn="ctr">
              <a:lnSpc>
                <a:spcPct val="102000"/>
              </a:lnSpc>
              <a:buNone/>
            </a:pPr>
            <a:r>
              <a:rPr lang="en-US" sz="1000" b="1" dirty="0">
                <a:solidFill>
                  <a:srgbClr val="0B3D2E"/>
                </a:solidFill>
                <a:latin typeface="Calibri" pitchFamily="34" charset="0"/>
                <a:ea typeface="Calibri" pitchFamily="34" charset="-122"/>
                <a:cs typeface="Calibri" pitchFamily="34" charset="-120"/>
              </a:rPr>
              <a:t>AI-assisted draft outputs</a:t>
            </a:r>
            <a:endParaRPr lang="en-US" sz="1000" dirty="0"/>
          </a:p>
        </p:txBody>
      </p:sp>
      <p:sp>
        <p:nvSpPr>
          <p:cNvPr id="27" name="Text 17"/>
          <p:cNvSpPr/>
          <p:nvPr/>
        </p:nvSpPr>
        <p:spPr>
          <a:xfrm>
            <a:off x="4860036" y="2898648"/>
            <a:ext cx="1133856" cy="219456"/>
          </a:xfrm>
          <a:prstGeom prst="rect">
            <a:avLst/>
          </a:prstGeom>
          <a:noFill/>
          <a:ln/>
        </p:spPr>
        <p:txBody>
          <a:bodyPr wrap="square" lIns="0" tIns="0" rIns="0" bIns="0" rtlCol="0" anchor="ctr"/>
          <a:lstStyle/>
          <a:p>
            <a:pPr marL="0" indent="0" algn="ctr">
              <a:buNone/>
            </a:pPr>
            <a:r>
              <a:rPr lang="en-US" sz="900" b="1" dirty="0">
                <a:solidFill>
                  <a:srgbClr val="A3BDB0"/>
                </a:solidFill>
                <a:latin typeface="Calibri" pitchFamily="34" charset="0"/>
                <a:ea typeface="Calibri" pitchFamily="34" charset="-122"/>
                <a:cs typeface="Calibri" pitchFamily="34" charset="-120"/>
              </a:rPr>
              <a:t>4</a:t>
            </a:r>
            <a:endParaRPr lang="en-US" sz="900" dirty="0"/>
          </a:p>
        </p:txBody>
      </p:sp>
      <p:pic>
        <p:nvPicPr>
          <p:cNvPr id="28" name="Image 8" descr="preencoded.png"/>
          <p:cNvPicPr>
            <a:picLocks noChangeAspect="1"/>
          </p:cNvPicPr>
          <p:nvPr/>
        </p:nvPicPr>
        <p:blipFill>
          <a:blip r:embed="rId5"/>
          <a:stretch>
            <a:fillRect/>
          </a:stretch>
        </p:blipFill>
        <p:spPr>
          <a:xfrm>
            <a:off x="6080760" y="2322576"/>
            <a:ext cx="128016" cy="128016"/>
          </a:xfrm>
          <a:prstGeom prst="rect">
            <a:avLst/>
          </a:prstGeom>
        </p:spPr>
      </p:pic>
      <p:sp>
        <p:nvSpPr>
          <p:cNvPr id="29" name="Shape 18"/>
          <p:cNvSpPr/>
          <p:nvPr/>
        </p:nvSpPr>
        <p:spPr>
          <a:xfrm>
            <a:off x="6227064" y="1600200"/>
            <a:ext cx="1261872" cy="1572768"/>
          </a:xfrm>
          <a:prstGeom prst="roundRect">
            <a:avLst>
              <a:gd name="adj" fmla="val 5072"/>
            </a:avLst>
          </a:prstGeom>
          <a:solidFill>
            <a:srgbClr val="EAF6EF"/>
          </a:solidFill>
          <a:ln/>
          <a:effectLst>
            <a:outerShdw blurRad="88900" dist="25400" dir="2700000" algn="bl" rotWithShape="0">
              <a:srgbClr val="000000">
                <a:alpha val="13000"/>
              </a:srgbClr>
            </a:outerShdw>
          </a:effectLst>
        </p:spPr>
      </p:sp>
      <p:sp>
        <p:nvSpPr>
          <p:cNvPr id="30" name="Shape 19"/>
          <p:cNvSpPr/>
          <p:nvPr/>
        </p:nvSpPr>
        <p:spPr>
          <a:xfrm>
            <a:off x="6656832" y="1783080"/>
            <a:ext cx="402336" cy="402336"/>
          </a:xfrm>
          <a:prstGeom prst="ellipse">
            <a:avLst/>
          </a:prstGeom>
          <a:solidFill>
            <a:srgbClr val="0B3D2E"/>
          </a:solidFill>
          <a:ln/>
        </p:spPr>
      </p:sp>
      <p:pic>
        <p:nvPicPr>
          <p:cNvPr id="31" name="Image 9" descr="preencoded.png"/>
          <p:cNvPicPr>
            <a:picLocks noChangeAspect="1"/>
          </p:cNvPicPr>
          <p:nvPr/>
        </p:nvPicPr>
        <p:blipFill>
          <a:blip r:embed="rId9"/>
          <a:stretch>
            <a:fillRect/>
          </a:stretch>
        </p:blipFill>
        <p:spPr>
          <a:xfrm>
            <a:off x="6765463" y="1891711"/>
            <a:ext cx="185075" cy="185075"/>
          </a:xfrm>
          <a:prstGeom prst="rect">
            <a:avLst/>
          </a:prstGeom>
        </p:spPr>
      </p:pic>
      <p:sp>
        <p:nvSpPr>
          <p:cNvPr id="32" name="Text 20"/>
          <p:cNvSpPr/>
          <p:nvPr/>
        </p:nvSpPr>
        <p:spPr>
          <a:xfrm>
            <a:off x="6291072" y="2258568"/>
            <a:ext cx="1133856" cy="841248"/>
          </a:xfrm>
          <a:prstGeom prst="rect">
            <a:avLst/>
          </a:prstGeom>
          <a:noFill/>
          <a:ln/>
        </p:spPr>
        <p:txBody>
          <a:bodyPr wrap="square" lIns="0" tIns="0" rIns="0" bIns="0" rtlCol="0" anchor="t"/>
          <a:lstStyle/>
          <a:p>
            <a:pPr marL="0" indent="0" algn="ctr">
              <a:lnSpc>
                <a:spcPct val="102000"/>
              </a:lnSpc>
              <a:buNone/>
            </a:pPr>
            <a:r>
              <a:rPr lang="en-US" sz="1000" b="1" dirty="0">
                <a:solidFill>
                  <a:srgbClr val="0B3D2E"/>
                </a:solidFill>
                <a:latin typeface="Calibri" pitchFamily="34" charset="0"/>
                <a:ea typeface="Calibri" pitchFamily="34" charset="-122"/>
                <a:cs typeface="Calibri" pitchFamily="34" charset="-120"/>
              </a:rPr>
              <a:t>Human review &amp; approval</a:t>
            </a:r>
            <a:endParaRPr lang="en-US" sz="1000" dirty="0"/>
          </a:p>
        </p:txBody>
      </p:sp>
      <p:sp>
        <p:nvSpPr>
          <p:cNvPr id="33" name="Text 21"/>
          <p:cNvSpPr/>
          <p:nvPr/>
        </p:nvSpPr>
        <p:spPr>
          <a:xfrm>
            <a:off x="6291072" y="2898648"/>
            <a:ext cx="1133856" cy="219456"/>
          </a:xfrm>
          <a:prstGeom prst="rect">
            <a:avLst/>
          </a:prstGeom>
          <a:noFill/>
          <a:ln/>
        </p:spPr>
        <p:txBody>
          <a:bodyPr wrap="square" lIns="0" tIns="0" rIns="0" bIns="0" rtlCol="0" anchor="ctr"/>
          <a:lstStyle/>
          <a:p>
            <a:pPr marL="0" indent="0" algn="ctr">
              <a:buNone/>
            </a:pPr>
            <a:r>
              <a:rPr lang="en-US" sz="900" b="1" dirty="0">
                <a:solidFill>
                  <a:srgbClr val="A3BDB0"/>
                </a:solidFill>
                <a:latin typeface="Calibri" pitchFamily="34" charset="0"/>
                <a:ea typeface="Calibri" pitchFamily="34" charset="-122"/>
                <a:cs typeface="Calibri" pitchFamily="34" charset="-120"/>
              </a:rPr>
              <a:t>5</a:t>
            </a:r>
            <a:endParaRPr lang="en-US" sz="900" dirty="0"/>
          </a:p>
        </p:txBody>
      </p:sp>
      <p:pic>
        <p:nvPicPr>
          <p:cNvPr id="34" name="Image 10" descr="preencoded.png"/>
          <p:cNvPicPr>
            <a:picLocks noChangeAspect="1"/>
          </p:cNvPicPr>
          <p:nvPr/>
        </p:nvPicPr>
        <p:blipFill>
          <a:blip r:embed="rId5"/>
          <a:stretch>
            <a:fillRect/>
          </a:stretch>
        </p:blipFill>
        <p:spPr>
          <a:xfrm>
            <a:off x="7511796" y="2322576"/>
            <a:ext cx="128016" cy="128016"/>
          </a:xfrm>
          <a:prstGeom prst="rect">
            <a:avLst/>
          </a:prstGeom>
        </p:spPr>
      </p:pic>
      <p:sp>
        <p:nvSpPr>
          <p:cNvPr id="35" name="Shape 22"/>
          <p:cNvSpPr/>
          <p:nvPr/>
        </p:nvSpPr>
        <p:spPr>
          <a:xfrm>
            <a:off x="7658100" y="1600200"/>
            <a:ext cx="1261872" cy="1572768"/>
          </a:xfrm>
          <a:prstGeom prst="roundRect">
            <a:avLst>
              <a:gd name="adj" fmla="val 5072"/>
            </a:avLst>
          </a:prstGeom>
          <a:solidFill>
            <a:srgbClr val="0B3D2E"/>
          </a:solidFill>
          <a:ln/>
          <a:effectLst>
            <a:outerShdw blurRad="88900" dist="25400" dir="2700000" algn="bl" rotWithShape="0">
              <a:srgbClr val="000000">
                <a:alpha val="13000"/>
              </a:srgbClr>
            </a:outerShdw>
          </a:effectLst>
        </p:spPr>
      </p:sp>
      <p:sp>
        <p:nvSpPr>
          <p:cNvPr id="36" name="Shape 23"/>
          <p:cNvSpPr/>
          <p:nvPr/>
        </p:nvSpPr>
        <p:spPr>
          <a:xfrm>
            <a:off x="8087868" y="1783080"/>
            <a:ext cx="402336" cy="402336"/>
          </a:xfrm>
          <a:prstGeom prst="ellipse">
            <a:avLst/>
          </a:prstGeom>
          <a:solidFill>
            <a:srgbClr val="11553F"/>
          </a:solidFill>
          <a:ln/>
        </p:spPr>
      </p:sp>
      <p:pic>
        <p:nvPicPr>
          <p:cNvPr id="37" name="Image 11" descr="preencoded.png"/>
          <p:cNvPicPr>
            <a:picLocks noChangeAspect="1"/>
          </p:cNvPicPr>
          <p:nvPr/>
        </p:nvPicPr>
        <p:blipFill>
          <a:blip r:embed="rId10"/>
          <a:stretch>
            <a:fillRect/>
          </a:stretch>
        </p:blipFill>
        <p:spPr>
          <a:xfrm>
            <a:off x="8196499" y="1891711"/>
            <a:ext cx="185075" cy="185075"/>
          </a:xfrm>
          <a:prstGeom prst="rect">
            <a:avLst/>
          </a:prstGeom>
        </p:spPr>
      </p:pic>
      <p:sp>
        <p:nvSpPr>
          <p:cNvPr id="38" name="Text 24"/>
          <p:cNvSpPr/>
          <p:nvPr/>
        </p:nvSpPr>
        <p:spPr>
          <a:xfrm>
            <a:off x="7722108" y="2258568"/>
            <a:ext cx="1133856" cy="841248"/>
          </a:xfrm>
          <a:prstGeom prst="rect">
            <a:avLst/>
          </a:prstGeom>
          <a:noFill/>
          <a:ln/>
        </p:spPr>
        <p:txBody>
          <a:bodyPr wrap="square" lIns="0" tIns="0" rIns="0" bIns="0" rtlCol="0" anchor="t"/>
          <a:lstStyle/>
          <a:p>
            <a:pPr marL="0" indent="0" algn="ctr">
              <a:lnSpc>
                <a:spcPct val="102000"/>
              </a:lnSpc>
              <a:buNone/>
            </a:pPr>
            <a:r>
              <a:rPr lang="en-US" sz="1000" b="1" dirty="0">
                <a:solidFill>
                  <a:srgbClr val="FFFFFF"/>
                </a:solidFill>
                <a:latin typeface="Calibri" pitchFamily="34" charset="0"/>
                <a:ea typeface="Calibri" pitchFamily="34" charset="-122"/>
                <a:cs typeface="Calibri" pitchFamily="34" charset="-120"/>
              </a:rPr>
              <a:t>Trackers, briefings, checklists, follow-up</a:t>
            </a:r>
            <a:endParaRPr lang="en-US" sz="1000" dirty="0"/>
          </a:p>
        </p:txBody>
      </p:sp>
      <p:sp>
        <p:nvSpPr>
          <p:cNvPr id="39" name="Text 25"/>
          <p:cNvSpPr/>
          <p:nvPr/>
        </p:nvSpPr>
        <p:spPr>
          <a:xfrm>
            <a:off x="7722108" y="2898648"/>
            <a:ext cx="1133856" cy="219456"/>
          </a:xfrm>
          <a:prstGeom prst="rect">
            <a:avLst/>
          </a:prstGeom>
          <a:noFill/>
          <a:ln/>
        </p:spPr>
        <p:txBody>
          <a:bodyPr wrap="square" lIns="0" tIns="0" rIns="0" bIns="0" rtlCol="0" anchor="ctr"/>
          <a:lstStyle/>
          <a:p>
            <a:pPr marL="0" indent="0" algn="ctr">
              <a:buNone/>
            </a:pPr>
            <a:r>
              <a:rPr lang="en-US" sz="900" b="1" dirty="0">
                <a:solidFill>
                  <a:srgbClr val="8FC2A9"/>
                </a:solidFill>
                <a:latin typeface="Calibri" pitchFamily="34" charset="0"/>
                <a:ea typeface="Calibri" pitchFamily="34" charset="-122"/>
                <a:cs typeface="Calibri" pitchFamily="34" charset="-120"/>
              </a:rPr>
              <a:t>6</a:t>
            </a:r>
            <a:endParaRPr lang="en-US" sz="900" dirty="0"/>
          </a:p>
        </p:txBody>
      </p:sp>
      <p:sp>
        <p:nvSpPr>
          <p:cNvPr id="40" name="Shape 26"/>
          <p:cNvSpPr/>
          <p:nvPr/>
        </p:nvSpPr>
        <p:spPr>
          <a:xfrm>
            <a:off x="2011680" y="3401568"/>
            <a:ext cx="5577840" cy="0"/>
          </a:xfrm>
          <a:prstGeom prst="line">
            <a:avLst/>
          </a:prstGeom>
          <a:noFill/>
          <a:ln w="15875">
            <a:solidFill>
              <a:srgbClr val="10B981"/>
            </a:solidFill>
            <a:prstDash val="dash"/>
            <a:tailEnd type="triangle"/>
          </a:ln>
        </p:spPr>
      </p:sp>
      <p:sp>
        <p:nvSpPr>
          <p:cNvPr id="41" name="Text 27"/>
          <p:cNvSpPr/>
          <p:nvPr/>
        </p:nvSpPr>
        <p:spPr>
          <a:xfrm>
            <a:off x="2011680" y="3456432"/>
            <a:ext cx="5577840" cy="228600"/>
          </a:xfrm>
          <a:prstGeom prst="rect">
            <a:avLst/>
          </a:prstGeom>
          <a:noFill/>
          <a:ln/>
        </p:spPr>
        <p:txBody>
          <a:bodyPr wrap="square" lIns="0" tIns="0" rIns="0" bIns="0" rtlCol="0" anchor="ctr"/>
          <a:lstStyle/>
          <a:p>
            <a:pPr marL="0" indent="0" algn="ctr">
              <a:buNone/>
            </a:pPr>
            <a:r>
              <a:rPr lang="en-US" sz="950" i="1" dirty="0">
                <a:solidFill>
                  <a:srgbClr val="55705F"/>
                </a:solidFill>
                <a:latin typeface="Calibri" pitchFamily="34" charset="0"/>
                <a:ea typeface="Calibri" pitchFamily="34" charset="-122"/>
                <a:cs typeface="Calibri" pitchFamily="34" charset="-120"/>
              </a:rPr>
              <a:t>approved outputs feed back into the knowledge base — consistency compounds over time</a:t>
            </a:r>
            <a:endParaRPr lang="en-US" sz="950" dirty="0"/>
          </a:p>
        </p:txBody>
      </p:sp>
      <p:sp>
        <p:nvSpPr>
          <p:cNvPr id="42" name="Text 28"/>
          <p:cNvSpPr/>
          <p:nvPr/>
        </p:nvSpPr>
        <p:spPr>
          <a:xfrm>
            <a:off x="502920" y="3931920"/>
            <a:ext cx="2651760" cy="868680"/>
          </a:xfrm>
          <a:prstGeom prst="rect">
            <a:avLst/>
          </a:prstGeom>
          <a:noFill/>
          <a:ln/>
        </p:spPr>
        <p:txBody>
          <a:bodyPr wrap="square" lIns="0" tIns="0" rIns="0" bIns="0" rtlCol="0" anchor="ctr"/>
          <a:lstStyle/>
          <a:p>
            <a:pPr marL="0" indent="0">
              <a:lnSpc>
                <a:spcPct val="110000"/>
              </a:lnSpc>
              <a:buNone/>
            </a:pPr>
            <a:r>
              <a:rPr lang="en-US" sz="1150" b="1" dirty="0">
                <a:solidFill>
                  <a:srgbClr val="0B3D2E"/>
                </a:solidFill>
                <a:latin typeface="Calibri" pitchFamily="34" charset="0"/>
                <a:ea typeface="Calibri" pitchFamily="34" charset="-122"/>
                <a:cs typeface="Calibri" pitchFamily="34" charset="-120"/>
              </a:rPr>
              <a:t>Approved sources in</a:t>
            </a:r>
            <a:endParaRPr lang="en-US" sz="1150" dirty="0"/>
          </a:p>
          <a:p>
            <a:pPr marL="0" indent="0">
              <a:lnSpc>
                <a:spcPct val="110000"/>
              </a:lnSpc>
              <a:buNone/>
            </a:pPr>
            <a:r>
              <a:rPr lang="en-US" sz="1000" dirty="0">
                <a:solidFill>
                  <a:srgbClr val="55705F"/>
                </a:solidFill>
                <a:latin typeface="Calibri" pitchFamily="34" charset="0"/>
                <a:ea typeface="Calibri" pitchFamily="34" charset="-122"/>
                <a:cs typeface="Calibri" pitchFamily="34" charset="-120"/>
              </a:rPr>
              <a:t>The workspace answers only from vetted client materials.</a:t>
            </a:r>
            <a:endParaRPr lang="en-US" sz="1150" dirty="0"/>
          </a:p>
        </p:txBody>
      </p:sp>
      <p:sp>
        <p:nvSpPr>
          <p:cNvPr id="43" name="Text 29"/>
          <p:cNvSpPr/>
          <p:nvPr/>
        </p:nvSpPr>
        <p:spPr>
          <a:xfrm>
            <a:off x="3401568" y="3931920"/>
            <a:ext cx="2651760" cy="868680"/>
          </a:xfrm>
          <a:prstGeom prst="rect">
            <a:avLst/>
          </a:prstGeom>
          <a:noFill/>
          <a:ln/>
        </p:spPr>
        <p:txBody>
          <a:bodyPr wrap="square" lIns="0" tIns="0" rIns="0" bIns="0" rtlCol="0" anchor="ctr"/>
          <a:lstStyle/>
          <a:p>
            <a:pPr marL="0" indent="0">
              <a:lnSpc>
                <a:spcPct val="110000"/>
              </a:lnSpc>
              <a:buNone/>
            </a:pPr>
            <a:r>
              <a:rPr lang="en-US" sz="1150" b="1" dirty="0">
                <a:solidFill>
                  <a:srgbClr val="0B3D2E"/>
                </a:solidFill>
                <a:latin typeface="Calibri" pitchFamily="34" charset="0"/>
                <a:ea typeface="Calibri" pitchFamily="34" charset="-122"/>
                <a:cs typeface="Calibri" pitchFamily="34" charset="-120"/>
              </a:rPr>
              <a:t>Source-linked drafts out</a:t>
            </a:r>
            <a:endParaRPr lang="en-US" sz="1150" dirty="0"/>
          </a:p>
          <a:p>
            <a:pPr marL="0" indent="0">
              <a:lnSpc>
                <a:spcPct val="110000"/>
              </a:lnSpc>
              <a:buNone/>
            </a:pPr>
            <a:r>
              <a:rPr lang="en-US" sz="1000" dirty="0">
                <a:solidFill>
                  <a:srgbClr val="55705F"/>
                </a:solidFill>
                <a:latin typeface="Calibri" pitchFamily="34" charset="0"/>
                <a:ea typeface="Calibri" pitchFamily="34" charset="-122"/>
                <a:cs typeface="Calibri" pitchFamily="34" charset="-120"/>
              </a:rPr>
              <a:t>Every output cites the documents it draws from.</a:t>
            </a:r>
            <a:endParaRPr lang="en-US" sz="1150" dirty="0"/>
          </a:p>
        </p:txBody>
      </p:sp>
      <p:sp>
        <p:nvSpPr>
          <p:cNvPr id="44" name="Text 30"/>
          <p:cNvSpPr/>
          <p:nvPr/>
        </p:nvSpPr>
        <p:spPr>
          <a:xfrm>
            <a:off x="6300216" y="3931920"/>
            <a:ext cx="2651760" cy="868680"/>
          </a:xfrm>
          <a:prstGeom prst="rect">
            <a:avLst/>
          </a:prstGeom>
          <a:noFill/>
          <a:ln/>
        </p:spPr>
        <p:txBody>
          <a:bodyPr wrap="square" lIns="0" tIns="0" rIns="0" bIns="0" rtlCol="0" anchor="ctr"/>
          <a:lstStyle/>
          <a:p>
            <a:pPr marL="0" indent="0">
              <a:lnSpc>
                <a:spcPct val="110000"/>
              </a:lnSpc>
              <a:buNone/>
            </a:pPr>
            <a:r>
              <a:rPr lang="en-US" sz="1150" b="1" dirty="0">
                <a:solidFill>
                  <a:srgbClr val="0B3D2E"/>
                </a:solidFill>
                <a:latin typeface="Calibri" pitchFamily="34" charset="0"/>
                <a:ea typeface="Calibri" pitchFamily="34" charset="-122"/>
                <a:cs typeface="Calibri" pitchFamily="34" charset="-120"/>
              </a:rPr>
              <a:t>Nothing final without review</a:t>
            </a:r>
            <a:endParaRPr lang="en-US" sz="1150" dirty="0"/>
          </a:p>
          <a:p>
            <a:pPr marL="0" indent="0">
              <a:lnSpc>
                <a:spcPct val="110000"/>
              </a:lnSpc>
              <a:buNone/>
            </a:pPr>
            <a:r>
              <a:rPr lang="en-US" sz="1000" dirty="0">
                <a:solidFill>
                  <a:srgbClr val="55705F"/>
                </a:solidFill>
                <a:latin typeface="Calibri" pitchFamily="34" charset="0"/>
                <a:ea typeface="Calibri" pitchFamily="34" charset="-122"/>
                <a:cs typeface="Calibri" pitchFamily="34" charset="-120"/>
              </a:rPr>
              <a:t>Your EHS professionals approve before anything ships.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DATA INPUTS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Built from your organization's approved materials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marL="0" indent="0">
              <a:buNone/>
            </a:pPr>
            <a:r>
              <a:rPr lang="en-US" sz="1250" dirty="0">
                <a:solidFill>
                  <a:srgbClr val="55705F"/>
                </a:solidFill>
                <a:latin typeface="Calibri" pitchFamily="34" charset="0"/>
                <a:ea typeface="Calibri" pitchFamily="34" charset="-122"/>
                <a:cs typeface="Calibri" pitchFamily="34" charset="-120"/>
              </a:rPr>
              <a:t>Your team already maintains every item on this slide — nothing exotic is required.</a:t>
            </a:r>
            <a:endParaRPr lang="en-US" sz="1250" dirty="0"/>
          </a:p>
        </p:txBody>
      </p:sp>
      <p:pic>
        <p:nvPicPr>
          <p:cNvPr id="5"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6" name="Shape 3"/>
          <p:cNvSpPr/>
          <p:nvPr/>
        </p:nvSpPr>
        <p:spPr>
          <a:xfrm>
            <a:off x="502920" y="1572768"/>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7" name="Image 1" descr="preencoded.png"/>
          <p:cNvPicPr>
            <a:picLocks noChangeAspect="1"/>
          </p:cNvPicPr>
          <p:nvPr/>
        </p:nvPicPr>
        <p:blipFill>
          <a:blip r:embed="rId4"/>
          <a:stretch>
            <a:fillRect/>
          </a:stretch>
        </p:blipFill>
        <p:spPr>
          <a:xfrm>
            <a:off x="685800" y="1828800"/>
            <a:ext cx="237744" cy="237744"/>
          </a:xfrm>
          <a:prstGeom prst="rect">
            <a:avLst/>
          </a:prstGeom>
        </p:spPr>
      </p:pic>
      <p:sp>
        <p:nvSpPr>
          <p:cNvPr id="8" name="Text 4"/>
          <p:cNvSpPr/>
          <p:nvPr/>
        </p:nvSpPr>
        <p:spPr>
          <a:xfrm>
            <a:off x="1033272" y="1645920"/>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Site profiles</a:t>
            </a:r>
            <a:endParaRPr lang="en-US" sz="1100" dirty="0"/>
          </a:p>
        </p:txBody>
      </p:sp>
      <p:sp>
        <p:nvSpPr>
          <p:cNvPr id="9" name="Shape 5"/>
          <p:cNvSpPr/>
          <p:nvPr/>
        </p:nvSpPr>
        <p:spPr>
          <a:xfrm>
            <a:off x="3392424" y="1572768"/>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10" name="Image 2" descr="preencoded.png"/>
          <p:cNvPicPr>
            <a:picLocks noChangeAspect="1"/>
          </p:cNvPicPr>
          <p:nvPr/>
        </p:nvPicPr>
        <p:blipFill>
          <a:blip r:embed="rId5"/>
          <a:stretch>
            <a:fillRect/>
          </a:stretch>
        </p:blipFill>
        <p:spPr>
          <a:xfrm>
            <a:off x="3575304" y="1828800"/>
            <a:ext cx="237744" cy="237744"/>
          </a:xfrm>
          <a:prstGeom prst="rect">
            <a:avLst/>
          </a:prstGeom>
        </p:spPr>
      </p:pic>
      <p:sp>
        <p:nvSpPr>
          <p:cNvPr id="11" name="Text 6"/>
          <p:cNvSpPr/>
          <p:nvPr/>
        </p:nvSpPr>
        <p:spPr>
          <a:xfrm>
            <a:off x="3922776" y="1645920"/>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Safety plans</a:t>
            </a:r>
            <a:endParaRPr lang="en-US" sz="1100" dirty="0"/>
          </a:p>
        </p:txBody>
      </p:sp>
      <p:sp>
        <p:nvSpPr>
          <p:cNvPr id="12" name="Shape 7"/>
          <p:cNvSpPr/>
          <p:nvPr/>
        </p:nvSpPr>
        <p:spPr>
          <a:xfrm>
            <a:off x="6281928" y="1572768"/>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13" name="Image 3" descr="preencoded.png"/>
          <p:cNvPicPr>
            <a:picLocks noChangeAspect="1"/>
          </p:cNvPicPr>
          <p:nvPr/>
        </p:nvPicPr>
        <p:blipFill>
          <a:blip r:embed="rId6"/>
          <a:stretch>
            <a:fillRect/>
          </a:stretch>
        </p:blipFill>
        <p:spPr>
          <a:xfrm>
            <a:off x="6464808" y="1828800"/>
            <a:ext cx="237744" cy="237744"/>
          </a:xfrm>
          <a:prstGeom prst="rect">
            <a:avLst/>
          </a:prstGeom>
        </p:spPr>
      </p:pic>
      <p:sp>
        <p:nvSpPr>
          <p:cNvPr id="14" name="Text 8"/>
          <p:cNvSpPr/>
          <p:nvPr/>
        </p:nvSpPr>
        <p:spPr>
          <a:xfrm>
            <a:off x="6812280" y="1645920"/>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Facility inspection templates</a:t>
            </a:r>
            <a:endParaRPr lang="en-US" sz="1100" dirty="0"/>
          </a:p>
        </p:txBody>
      </p:sp>
      <p:sp>
        <p:nvSpPr>
          <p:cNvPr id="15" name="Shape 9"/>
          <p:cNvSpPr/>
          <p:nvPr/>
        </p:nvSpPr>
        <p:spPr>
          <a:xfrm>
            <a:off x="502920" y="2542032"/>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16" name="Image 4" descr="preencoded.png"/>
          <p:cNvPicPr>
            <a:picLocks noChangeAspect="1"/>
          </p:cNvPicPr>
          <p:nvPr/>
        </p:nvPicPr>
        <p:blipFill>
          <a:blip r:embed="rId7"/>
          <a:stretch>
            <a:fillRect/>
          </a:stretch>
        </p:blipFill>
        <p:spPr>
          <a:xfrm>
            <a:off x="685800" y="2798064"/>
            <a:ext cx="237744" cy="237744"/>
          </a:xfrm>
          <a:prstGeom prst="rect">
            <a:avLst/>
          </a:prstGeom>
        </p:spPr>
      </p:pic>
      <p:sp>
        <p:nvSpPr>
          <p:cNvPr id="17" name="Text 10"/>
          <p:cNvSpPr/>
          <p:nvPr/>
        </p:nvSpPr>
        <p:spPr>
          <a:xfrm>
            <a:off x="1033272" y="2615184"/>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Training materials (safety, manager, regulatory)</a:t>
            </a:r>
            <a:endParaRPr lang="en-US" sz="1100" dirty="0"/>
          </a:p>
        </p:txBody>
      </p:sp>
      <p:sp>
        <p:nvSpPr>
          <p:cNvPr id="18" name="Shape 11"/>
          <p:cNvSpPr/>
          <p:nvPr/>
        </p:nvSpPr>
        <p:spPr>
          <a:xfrm>
            <a:off x="3392424" y="2542032"/>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19" name="Image 5" descr="preencoded.png"/>
          <p:cNvPicPr>
            <a:picLocks noChangeAspect="1"/>
          </p:cNvPicPr>
          <p:nvPr/>
        </p:nvPicPr>
        <p:blipFill>
          <a:blip r:embed="rId8"/>
          <a:stretch>
            <a:fillRect/>
          </a:stretch>
        </p:blipFill>
        <p:spPr>
          <a:xfrm>
            <a:off x="3575304" y="2798064"/>
            <a:ext cx="237744" cy="237744"/>
          </a:xfrm>
          <a:prstGeom prst="rect">
            <a:avLst/>
          </a:prstGeom>
        </p:spPr>
      </p:pic>
      <p:sp>
        <p:nvSpPr>
          <p:cNvPr id="20" name="Text 12"/>
          <p:cNvSpPr/>
          <p:nvPr/>
        </p:nvSpPr>
        <p:spPr>
          <a:xfrm>
            <a:off x="3922776" y="2615184"/>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Hazardous materials &amp; spill prevention plans</a:t>
            </a:r>
            <a:endParaRPr lang="en-US" sz="1100" dirty="0"/>
          </a:p>
        </p:txBody>
      </p:sp>
      <p:sp>
        <p:nvSpPr>
          <p:cNvPr id="21" name="Shape 13"/>
          <p:cNvSpPr/>
          <p:nvPr/>
        </p:nvSpPr>
        <p:spPr>
          <a:xfrm>
            <a:off x="6281928" y="2542032"/>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22" name="Image 6" descr="preencoded.png"/>
          <p:cNvPicPr>
            <a:picLocks noChangeAspect="1"/>
          </p:cNvPicPr>
          <p:nvPr/>
        </p:nvPicPr>
        <p:blipFill>
          <a:blip r:embed="rId9"/>
          <a:stretch>
            <a:fillRect/>
          </a:stretch>
        </p:blipFill>
        <p:spPr>
          <a:xfrm>
            <a:off x="6464808" y="2798064"/>
            <a:ext cx="237744" cy="237744"/>
          </a:xfrm>
          <a:prstGeom prst="rect">
            <a:avLst/>
          </a:prstGeom>
        </p:spPr>
      </p:pic>
      <p:sp>
        <p:nvSpPr>
          <p:cNvPr id="23" name="Text 14"/>
          <p:cNvSpPr/>
          <p:nvPr/>
        </p:nvSpPr>
        <p:spPr>
          <a:xfrm>
            <a:off x="6812280" y="2615184"/>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Agency &amp; program compliance notes</a:t>
            </a:r>
            <a:endParaRPr lang="en-US" sz="1100" dirty="0"/>
          </a:p>
        </p:txBody>
      </p:sp>
      <p:sp>
        <p:nvSpPr>
          <p:cNvPr id="24" name="Shape 15"/>
          <p:cNvSpPr/>
          <p:nvPr/>
        </p:nvSpPr>
        <p:spPr>
          <a:xfrm>
            <a:off x="502920" y="3511296"/>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25" name="Image 7" descr="preencoded.png"/>
          <p:cNvPicPr>
            <a:picLocks noChangeAspect="1"/>
          </p:cNvPicPr>
          <p:nvPr/>
        </p:nvPicPr>
        <p:blipFill>
          <a:blip r:embed="rId10"/>
          <a:stretch>
            <a:fillRect/>
          </a:stretch>
        </p:blipFill>
        <p:spPr>
          <a:xfrm>
            <a:off x="685800" y="3767328"/>
            <a:ext cx="237744" cy="237744"/>
          </a:xfrm>
          <a:prstGeom prst="rect">
            <a:avLst/>
          </a:prstGeom>
        </p:spPr>
      </p:pic>
      <p:sp>
        <p:nvSpPr>
          <p:cNvPr id="26" name="Text 16"/>
          <p:cNvSpPr/>
          <p:nvPr/>
        </p:nvSpPr>
        <p:spPr>
          <a:xfrm>
            <a:off x="1033272" y="3584448"/>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Permits &amp; recurring obligations</a:t>
            </a:r>
            <a:endParaRPr lang="en-US" sz="1100" dirty="0"/>
          </a:p>
        </p:txBody>
      </p:sp>
      <p:sp>
        <p:nvSpPr>
          <p:cNvPr id="27" name="Shape 17"/>
          <p:cNvSpPr/>
          <p:nvPr/>
        </p:nvSpPr>
        <p:spPr>
          <a:xfrm>
            <a:off x="3392424" y="3511296"/>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28" name="Image 8" descr="preencoded.png"/>
          <p:cNvPicPr>
            <a:picLocks noChangeAspect="1"/>
          </p:cNvPicPr>
          <p:nvPr/>
        </p:nvPicPr>
        <p:blipFill>
          <a:blip r:embed="rId11"/>
          <a:stretch>
            <a:fillRect/>
          </a:stretch>
        </p:blipFill>
        <p:spPr>
          <a:xfrm>
            <a:off x="3575304" y="3767328"/>
            <a:ext cx="237744" cy="237744"/>
          </a:xfrm>
          <a:prstGeom prst="rect">
            <a:avLst/>
          </a:prstGeom>
        </p:spPr>
      </p:pic>
      <p:sp>
        <p:nvSpPr>
          <p:cNvPr id="29" name="Text 18"/>
          <p:cNvSpPr/>
          <p:nvPr/>
        </p:nvSpPr>
        <p:spPr>
          <a:xfrm>
            <a:off x="3922776" y="3584448"/>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Corrective action logs &amp; inspection reports</a:t>
            </a:r>
            <a:endParaRPr lang="en-US" sz="1100" dirty="0"/>
          </a:p>
        </p:txBody>
      </p:sp>
      <p:sp>
        <p:nvSpPr>
          <p:cNvPr id="30" name="Shape 19"/>
          <p:cNvSpPr/>
          <p:nvPr/>
        </p:nvSpPr>
        <p:spPr>
          <a:xfrm>
            <a:off x="6281928" y="3511296"/>
            <a:ext cx="2624328" cy="749808"/>
          </a:xfrm>
          <a:prstGeom prst="roundRect">
            <a:avLst>
              <a:gd name="adj" fmla="val 8537"/>
            </a:avLst>
          </a:prstGeom>
          <a:solidFill>
            <a:srgbClr val="E8F5EC"/>
          </a:solidFill>
          <a:ln/>
          <a:effectLst>
            <a:outerShdw blurRad="88900" dist="25400" dir="2700000" algn="bl" rotWithShape="0">
              <a:srgbClr val="000000">
                <a:alpha val="13000"/>
              </a:srgbClr>
            </a:outerShdw>
          </a:effectLst>
        </p:spPr>
      </p:sp>
      <p:pic>
        <p:nvPicPr>
          <p:cNvPr id="31" name="Image 9" descr="preencoded.png"/>
          <p:cNvPicPr>
            <a:picLocks noChangeAspect="1"/>
          </p:cNvPicPr>
          <p:nvPr/>
        </p:nvPicPr>
        <p:blipFill>
          <a:blip r:embed="rId12"/>
          <a:stretch>
            <a:fillRect/>
          </a:stretch>
        </p:blipFill>
        <p:spPr>
          <a:xfrm>
            <a:off x="6464808" y="3767328"/>
            <a:ext cx="237744" cy="237744"/>
          </a:xfrm>
          <a:prstGeom prst="rect">
            <a:avLst/>
          </a:prstGeom>
        </p:spPr>
      </p:pic>
      <p:sp>
        <p:nvSpPr>
          <p:cNvPr id="32" name="Text 20"/>
          <p:cNvSpPr/>
          <p:nvPr/>
        </p:nvSpPr>
        <p:spPr>
          <a:xfrm>
            <a:off x="6812280" y="3584448"/>
            <a:ext cx="1965960" cy="603504"/>
          </a:xfrm>
          <a:prstGeom prst="rect">
            <a:avLst/>
          </a:prstGeom>
          <a:noFill/>
          <a:ln/>
        </p:spPr>
        <p:txBody>
          <a:bodyPr wrap="square" lIns="0" tIns="0" rIns="0" bIns="0" rtlCol="0" anchor="ctr"/>
          <a:lstStyle/>
          <a:p>
            <a:pPr marL="0" indent="0">
              <a:lnSpc>
                <a:spcPct val="100000"/>
              </a:lnSpc>
              <a:buNone/>
            </a:pPr>
            <a:r>
              <a:rPr lang="en-US" sz="1100" b="1" dirty="0">
                <a:solidFill>
                  <a:srgbClr val="0B3D2E"/>
                </a:solidFill>
                <a:latin typeface="Calibri" pitchFamily="34" charset="0"/>
                <a:ea typeface="Calibri" pitchFamily="34" charset="-122"/>
                <a:cs typeface="Calibri" pitchFamily="34" charset="-120"/>
              </a:rPr>
              <a:t>Internal standards</a:t>
            </a:r>
            <a:endParaRPr lang="en-US" sz="1100" dirty="0"/>
          </a:p>
        </p:txBody>
      </p:sp>
      <p:sp>
        <p:nvSpPr>
          <p:cNvPr id="33" name="Text 21"/>
          <p:cNvSpPr/>
          <p:nvPr/>
        </p:nvSpPr>
        <p:spPr>
          <a:xfrm>
            <a:off x="502920" y="4572000"/>
            <a:ext cx="8138160" cy="320040"/>
          </a:xfrm>
          <a:prstGeom prst="rect">
            <a:avLst/>
          </a:prstGeom>
          <a:noFill/>
          <a:ln/>
        </p:spPr>
        <p:txBody>
          <a:bodyPr wrap="square" lIns="0" tIns="0" rIns="0" bIns="0" rtlCol="0" anchor="ctr"/>
          <a:lstStyle/>
          <a:p>
            <a:pPr marL="0" indent="0">
              <a:buNone/>
            </a:pPr>
            <a:r>
              <a:rPr lang="en-US" sz="1150" b="1" dirty="0">
                <a:solidFill>
                  <a:srgbClr val="0B3D2E"/>
                </a:solidFill>
                <a:latin typeface="Calibri" pitchFamily="34" charset="0"/>
                <a:ea typeface="Calibri" pitchFamily="34" charset="-122"/>
                <a:cs typeface="Calibri" pitchFamily="34" charset="-120"/>
              </a:rPr>
              <a:t>Start small: </a:t>
            </a:r>
            <a:r>
              <a:rPr lang="en-US" sz="1150" dirty="0">
                <a:solidFill>
                  <a:srgbClr val="55705F"/>
                </a:solidFill>
                <a:latin typeface="Calibri" pitchFamily="34" charset="0"/>
                <a:ea typeface="Calibri" pitchFamily="34" charset="-122"/>
                <a:cs typeface="Calibri" pitchFamily="34" charset="-120"/>
              </a:rPr>
              <a:t>a single inspection template plus one site's hazardous materials plan — redacted if preferred — is enough to begin proving value.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USER WORKFLOWS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Six workflows your team could run in week one</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marL="0" indent="0">
              <a:buNone/>
            </a:pPr>
            <a:r>
              <a:rPr lang="en-US" sz="1250" dirty="0">
                <a:solidFill>
                  <a:srgbClr val="55705F"/>
                </a:solidFill>
                <a:latin typeface="Calibri" pitchFamily="34" charset="0"/>
                <a:ea typeface="Calibri" pitchFamily="34" charset="-122"/>
                <a:cs typeface="Calibri" pitchFamily="34" charset="-120"/>
              </a:rPr>
              <a:t>Each one maps to work your team already does by hand today.</a:t>
            </a:r>
            <a:endParaRPr lang="en-US" sz="1250" dirty="0"/>
          </a:p>
        </p:txBody>
      </p:sp>
      <p:pic>
        <p:nvPicPr>
          <p:cNvPr id="5"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6" name="Shape 3"/>
          <p:cNvSpPr/>
          <p:nvPr/>
        </p:nvSpPr>
        <p:spPr>
          <a:xfrm>
            <a:off x="502920"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7" name="Text 4"/>
          <p:cNvSpPr/>
          <p:nvPr/>
        </p:nvSpPr>
        <p:spPr>
          <a:xfrm>
            <a:off x="685800" y="1719072"/>
            <a:ext cx="685800" cy="411480"/>
          </a:xfrm>
          <a:prstGeom prst="rect">
            <a:avLst/>
          </a:prstGeom>
          <a:noFill/>
          <a:ln/>
        </p:spPr>
        <p:txBody>
          <a:bodyPr wrap="square" lIns="0" tIns="0" rIns="0" bIns="0" rtlCol="0" anchor="ctr"/>
          <a:lstStyle/>
          <a:p>
            <a:pPr marL="0" indent="0">
              <a:buNone/>
            </a:pPr>
            <a:r>
              <a:rPr lang="en-US" sz="2100" b="1" dirty="0">
                <a:solidFill>
                  <a:srgbClr val="10B981"/>
                </a:solidFill>
                <a:latin typeface="Cambria" pitchFamily="34" charset="0"/>
                <a:ea typeface="Cambria" pitchFamily="34" charset="-122"/>
                <a:cs typeface="Cambria" pitchFamily="34" charset="-120"/>
              </a:rPr>
              <a:t>01</a:t>
            </a:r>
            <a:endParaRPr lang="en-US" sz="2100" dirty="0"/>
          </a:p>
        </p:txBody>
      </p:sp>
      <p:sp>
        <p:nvSpPr>
          <p:cNvPr id="8" name="Text 5"/>
          <p:cNvSpPr/>
          <p:nvPr/>
        </p:nvSpPr>
        <p:spPr>
          <a:xfrm>
            <a:off x="685800" y="2103120"/>
            <a:ext cx="2258568" cy="27432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Facility Inspection Prep</a:t>
            </a:r>
            <a:endParaRPr lang="en-US" sz="1250" dirty="0"/>
          </a:p>
        </p:txBody>
      </p:sp>
      <p:sp>
        <p:nvSpPr>
          <p:cNvPr id="9" name="Text 6"/>
          <p:cNvSpPr/>
          <p:nvPr/>
        </p:nvSpPr>
        <p:spPr>
          <a:xfrm>
            <a:off x="685800" y="2377440"/>
            <a:ext cx="2258568" cy="621792"/>
          </a:xfrm>
          <a:prstGeom prst="rect">
            <a:avLst/>
          </a:prstGeom>
          <a:noFill/>
          <a:ln/>
        </p:spPr>
        <p:txBody>
          <a:bodyPr wrap="square" lIns="0" tIns="0" rIns="0" bIns="0" rtlCol="0" anchor="ctr"/>
          <a:lstStyle/>
          <a:p>
            <a:pPr marL="0" indent="0">
              <a:lnSpc>
                <a:spcPct val="106000"/>
              </a:lnSpc>
              <a:buNone/>
            </a:pPr>
            <a:r>
              <a:rPr lang="en-US" sz="1000" dirty="0">
                <a:solidFill>
                  <a:srgbClr val="55705F"/>
                </a:solidFill>
                <a:latin typeface="Calibri" pitchFamily="34" charset="0"/>
                <a:ea typeface="Calibri" pitchFamily="34" charset="-122"/>
                <a:cs typeface="Calibri" pitchFamily="34" charset="-120"/>
              </a:rPr>
              <a:t>Site-specific prep summary and checklist from your template plus that site's plans and history.</a:t>
            </a:r>
            <a:endParaRPr lang="en-US" sz="1000" dirty="0"/>
          </a:p>
        </p:txBody>
      </p:sp>
      <p:sp>
        <p:nvSpPr>
          <p:cNvPr id="10" name="Shape 7"/>
          <p:cNvSpPr/>
          <p:nvPr/>
        </p:nvSpPr>
        <p:spPr>
          <a:xfrm>
            <a:off x="3392424"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11" name="Text 8"/>
          <p:cNvSpPr/>
          <p:nvPr/>
        </p:nvSpPr>
        <p:spPr>
          <a:xfrm>
            <a:off x="3575304" y="1719072"/>
            <a:ext cx="685800" cy="411480"/>
          </a:xfrm>
          <a:prstGeom prst="rect">
            <a:avLst/>
          </a:prstGeom>
          <a:noFill/>
          <a:ln/>
        </p:spPr>
        <p:txBody>
          <a:bodyPr wrap="square" lIns="0" tIns="0" rIns="0" bIns="0" rtlCol="0" anchor="ctr"/>
          <a:lstStyle/>
          <a:p>
            <a:pPr marL="0" indent="0">
              <a:buNone/>
            </a:pPr>
            <a:r>
              <a:rPr lang="en-US" sz="2100" b="1" dirty="0">
                <a:solidFill>
                  <a:srgbClr val="10B981"/>
                </a:solidFill>
                <a:latin typeface="Cambria" pitchFamily="34" charset="0"/>
                <a:ea typeface="Cambria" pitchFamily="34" charset="-122"/>
                <a:cs typeface="Cambria" pitchFamily="34" charset="-120"/>
              </a:rPr>
              <a:t>02</a:t>
            </a:r>
            <a:endParaRPr lang="en-US" sz="2100" dirty="0"/>
          </a:p>
        </p:txBody>
      </p:sp>
      <p:sp>
        <p:nvSpPr>
          <p:cNvPr id="12" name="Text 9"/>
          <p:cNvSpPr/>
          <p:nvPr/>
        </p:nvSpPr>
        <p:spPr>
          <a:xfrm>
            <a:off x="3575304" y="2103120"/>
            <a:ext cx="2258568" cy="27432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Corrective Action Follow-Up</a:t>
            </a:r>
            <a:endParaRPr lang="en-US" sz="1250" dirty="0"/>
          </a:p>
        </p:txBody>
      </p:sp>
      <p:sp>
        <p:nvSpPr>
          <p:cNvPr id="13" name="Text 10"/>
          <p:cNvSpPr/>
          <p:nvPr/>
        </p:nvSpPr>
        <p:spPr>
          <a:xfrm>
            <a:off x="3575304" y="2377440"/>
            <a:ext cx="2258568" cy="621792"/>
          </a:xfrm>
          <a:prstGeom prst="rect">
            <a:avLst/>
          </a:prstGeom>
          <a:noFill/>
          <a:ln/>
        </p:spPr>
        <p:txBody>
          <a:bodyPr wrap="square" lIns="0" tIns="0" rIns="0" bIns="0" rtlCol="0" anchor="ctr"/>
          <a:lstStyle/>
          <a:p>
            <a:pPr marL="0" indent="0">
              <a:lnSpc>
                <a:spcPct val="106000"/>
              </a:lnSpc>
              <a:buNone/>
            </a:pPr>
            <a:r>
              <a:rPr lang="en-US" sz="1000" dirty="0">
                <a:solidFill>
                  <a:srgbClr val="55705F"/>
                </a:solidFill>
                <a:latin typeface="Calibri" pitchFamily="34" charset="0"/>
                <a:ea typeface="Calibri" pitchFamily="34" charset="-122"/>
                <a:cs typeface="Calibri" pitchFamily="34" charset="-120"/>
              </a:rPr>
              <a:t>Findings converted into trackers with owner, due date, evidence needed, and risk level.</a:t>
            </a:r>
            <a:endParaRPr lang="en-US" sz="1000" dirty="0"/>
          </a:p>
        </p:txBody>
      </p:sp>
      <p:sp>
        <p:nvSpPr>
          <p:cNvPr id="14" name="Shape 11"/>
          <p:cNvSpPr/>
          <p:nvPr/>
        </p:nvSpPr>
        <p:spPr>
          <a:xfrm>
            <a:off x="6281928"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15" name="Text 12"/>
          <p:cNvSpPr/>
          <p:nvPr/>
        </p:nvSpPr>
        <p:spPr>
          <a:xfrm>
            <a:off x="6464808" y="1719072"/>
            <a:ext cx="685800" cy="411480"/>
          </a:xfrm>
          <a:prstGeom prst="rect">
            <a:avLst/>
          </a:prstGeom>
          <a:noFill/>
          <a:ln/>
        </p:spPr>
        <p:txBody>
          <a:bodyPr wrap="square" lIns="0" tIns="0" rIns="0" bIns="0" rtlCol="0" anchor="ctr"/>
          <a:lstStyle/>
          <a:p>
            <a:pPr marL="0" indent="0">
              <a:buNone/>
            </a:pPr>
            <a:r>
              <a:rPr lang="en-US" sz="2100" b="1" dirty="0">
                <a:solidFill>
                  <a:srgbClr val="10B981"/>
                </a:solidFill>
                <a:latin typeface="Cambria" pitchFamily="34" charset="0"/>
                <a:ea typeface="Cambria" pitchFamily="34" charset="-122"/>
                <a:cs typeface="Cambria" pitchFamily="34" charset="-120"/>
              </a:rPr>
              <a:t>03</a:t>
            </a:r>
            <a:endParaRPr lang="en-US" sz="2100" dirty="0"/>
          </a:p>
        </p:txBody>
      </p:sp>
      <p:sp>
        <p:nvSpPr>
          <p:cNvPr id="16" name="Text 13"/>
          <p:cNvSpPr/>
          <p:nvPr/>
        </p:nvSpPr>
        <p:spPr>
          <a:xfrm>
            <a:off x="6464808" y="2103120"/>
            <a:ext cx="2258568" cy="27432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Regulatory Inspection Readiness</a:t>
            </a:r>
            <a:endParaRPr lang="en-US" sz="1250" dirty="0"/>
          </a:p>
        </p:txBody>
      </p:sp>
      <p:sp>
        <p:nvSpPr>
          <p:cNvPr id="17" name="Text 14"/>
          <p:cNvSpPr/>
          <p:nvPr/>
        </p:nvSpPr>
        <p:spPr>
          <a:xfrm>
            <a:off x="6464808" y="2377440"/>
            <a:ext cx="2258568" cy="621792"/>
          </a:xfrm>
          <a:prstGeom prst="rect">
            <a:avLst/>
          </a:prstGeom>
          <a:noFill/>
          <a:ln/>
        </p:spPr>
        <p:txBody>
          <a:bodyPr wrap="square" lIns="0" tIns="0" rIns="0" bIns="0" rtlCol="0" anchor="ctr"/>
          <a:lstStyle/>
          <a:p>
            <a:pPr marL="0" indent="0">
              <a:lnSpc>
                <a:spcPct val="106000"/>
              </a:lnSpc>
              <a:buNone/>
            </a:pPr>
            <a:r>
              <a:rPr lang="en-US" sz="1000" dirty="0">
                <a:solidFill>
                  <a:srgbClr val="55705F"/>
                </a:solidFill>
                <a:latin typeface="Calibri" pitchFamily="34" charset="0"/>
                <a:ea typeface="Calibri" pitchFamily="34" charset="-122"/>
                <a:cs typeface="Calibri" pitchFamily="34" charset="-120"/>
              </a:rPr>
              <a:t>Evidence checklists and gap review ahead of regulator visits.</a:t>
            </a:r>
            <a:endParaRPr lang="en-US" sz="1000" dirty="0"/>
          </a:p>
        </p:txBody>
      </p:sp>
      <p:sp>
        <p:nvSpPr>
          <p:cNvPr id="18" name="Shape 15"/>
          <p:cNvSpPr/>
          <p:nvPr/>
        </p:nvSpPr>
        <p:spPr>
          <a:xfrm>
            <a:off x="502920"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19" name="Text 16"/>
          <p:cNvSpPr/>
          <p:nvPr/>
        </p:nvSpPr>
        <p:spPr>
          <a:xfrm>
            <a:off x="685800" y="3438144"/>
            <a:ext cx="685800" cy="411480"/>
          </a:xfrm>
          <a:prstGeom prst="rect">
            <a:avLst/>
          </a:prstGeom>
          <a:noFill/>
          <a:ln/>
        </p:spPr>
        <p:txBody>
          <a:bodyPr wrap="square" lIns="0" tIns="0" rIns="0" bIns="0" rtlCol="0" anchor="ctr"/>
          <a:lstStyle/>
          <a:p>
            <a:pPr marL="0" indent="0">
              <a:buNone/>
            </a:pPr>
            <a:r>
              <a:rPr lang="en-US" sz="2100" b="1" dirty="0">
                <a:solidFill>
                  <a:srgbClr val="10B981"/>
                </a:solidFill>
                <a:latin typeface="Cambria" pitchFamily="34" charset="0"/>
                <a:ea typeface="Cambria" pitchFamily="34" charset="-122"/>
                <a:cs typeface="Cambria" pitchFamily="34" charset="-120"/>
              </a:rPr>
              <a:t>04</a:t>
            </a:r>
            <a:endParaRPr lang="en-US" sz="2100" dirty="0"/>
          </a:p>
        </p:txBody>
      </p:sp>
      <p:sp>
        <p:nvSpPr>
          <p:cNvPr id="20" name="Text 17"/>
          <p:cNvSpPr/>
          <p:nvPr/>
        </p:nvSpPr>
        <p:spPr>
          <a:xfrm>
            <a:off x="685800" y="3822192"/>
            <a:ext cx="2258568" cy="27432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Permit &amp; Plan Obligation Review</a:t>
            </a:r>
            <a:endParaRPr lang="en-US" sz="1250" dirty="0"/>
          </a:p>
        </p:txBody>
      </p:sp>
      <p:sp>
        <p:nvSpPr>
          <p:cNvPr id="21" name="Text 18"/>
          <p:cNvSpPr/>
          <p:nvPr/>
        </p:nvSpPr>
        <p:spPr>
          <a:xfrm>
            <a:off x="685800" y="4096512"/>
            <a:ext cx="2258568" cy="621792"/>
          </a:xfrm>
          <a:prstGeom prst="rect">
            <a:avLst/>
          </a:prstGeom>
          <a:noFill/>
          <a:ln/>
        </p:spPr>
        <p:txBody>
          <a:bodyPr wrap="square" lIns="0" tIns="0" rIns="0" bIns="0" rtlCol="0" anchor="ctr"/>
          <a:lstStyle/>
          <a:p>
            <a:pPr marL="0" indent="0">
              <a:lnSpc>
                <a:spcPct val="106000"/>
              </a:lnSpc>
              <a:buNone/>
            </a:pPr>
            <a:r>
              <a:rPr lang="en-US" sz="1000" dirty="0">
                <a:solidFill>
                  <a:srgbClr val="55705F"/>
                </a:solidFill>
                <a:latin typeface="Calibri" pitchFamily="34" charset="0"/>
                <a:ea typeface="Calibri" pitchFamily="34" charset="-122"/>
                <a:cs typeface="Calibri" pitchFamily="34" charset="-120"/>
              </a:rPr>
              <a:t>Recurring obligations extracted from permits and plans into a working register.</a:t>
            </a:r>
            <a:endParaRPr lang="en-US" sz="1000" dirty="0"/>
          </a:p>
        </p:txBody>
      </p:sp>
      <p:sp>
        <p:nvSpPr>
          <p:cNvPr id="22" name="Shape 19"/>
          <p:cNvSpPr/>
          <p:nvPr/>
        </p:nvSpPr>
        <p:spPr>
          <a:xfrm>
            <a:off x="3392424"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23" name="Text 20"/>
          <p:cNvSpPr/>
          <p:nvPr/>
        </p:nvSpPr>
        <p:spPr>
          <a:xfrm>
            <a:off x="3575304" y="3438144"/>
            <a:ext cx="685800" cy="411480"/>
          </a:xfrm>
          <a:prstGeom prst="rect">
            <a:avLst/>
          </a:prstGeom>
          <a:noFill/>
          <a:ln/>
        </p:spPr>
        <p:txBody>
          <a:bodyPr wrap="square" lIns="0" tIns="0" rIns="0" bIns="0" rtlCol="0" anchor="ctr"/>
          <a:lstStyle/>
          <a:p>
            <a:pPr marL="0" indent="0">
              <a:buNone/>
            </a:pPr>
            <a:r>
              <a:rPr lang="en-US" sz="2100" b="1" dirty="0">
                <a:solidFill>
                  <a:srgbClr val="10B981"/>
                </a:solidFill>
                <a:latin typeface="Cambria" pitchFamily="34" charset="0"/>
                <a:ea typeface="Cambria" pitchFamily="34" charset="-122"/>
                <a:cs typeface="Cambria" pitchFamily="34" charset="-120"/>
              </a:rPr>
              <a:t>05</a:t>
            </a:r>
            <a:endParaRPr lang="en-US" sz="2100" dirty="0"/>
          </a:p>
        </p:txBody>
      </p:sp>
      <p:sp>
        <p:nvSpPr>
          <p:cNvPr id="24" name="Text 21"/>
          <p:cNvSpPr/>
          <p:nvPr/>
        </p:nvSpPr>
        <p:spPr>
          <a:xfrm>
            <a:off x="3575304" y="3822192"/>
            <a:ext cx="2258568" cy="27432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Manager Training Support</a:t>
            </a:r>
            <a:endParaRPr lang="en-US" sz="1250" dirty="0"/>
          </a:p>
        </p:txBody>
      </p:sp>
      <p:sp>
        <p:nvSpPr>
          <p:cNvPr id="25" name="Text 22"/>
          <p:cNvSpPr/>
          <p:nvPr/>
        </p:nvSpPr>
        <p:spPr>
          <a:xfrm>
            <a:off x="3575304" y="4096512"/>
            <a:ext cx="2258568" cy="621792"/>
          </a:xfrm>
          <a:prstGeom prst="rect">
            <a:avLst/>
          </a:prstGeom>
          <a:noFill/>
          <a:ln/>
        </p:spPr>
        <p:txBody>
          <a:bodyPr wrap="square" lIns="0" tIns="0" rIns="0" bIns="0" rtlCol="0" anchor="ctr"/>
          <a:lstStyle/>
          <a:p>
            <a:pPr marL="0" indent="0">
              <a:lnSpc>
                <a:spcPct val="106000"/>
              </a:lnSpc>
              <a:buNone/>
            </a:pPr>
            <a:r>
              <a:rPr lang="en-US" sz="1000" dirty="0">
                <a:solidFill>
                  <a:srgbClr val="55705F"/>
                </a:solidFill>
                <a:latin typeface="Calibri" pitchFamily="34" charset="0"/>
                <a:ea typeface="Calibri" pitchFamily="34" charset="-122"/>
                <a:cs typeface="Calibri" pitchFamily="34" charset="-120"/>
              </a:rPr>
              <a:t>Plain-language training summaries and refreshers for facility managers.</a:t>
            </a:r>
            <a:endParaRPr lang="en-US" sz="1000" dirty="0"/>
          </a:p>
        </p:txBody>
      </p:sp>
      <p:sp>
        <p:nvSpPr>
          <p:cNvPr id="26" name="Shape 23"/>
          <p:cNvSpPr/>
          <p:nvPr/>
        </p:nvSpPr>
        <p:spPr>
          <a:xfrm>
            <a:off x="6281928"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27" name="Text 24"/>
          <p:cNvSpPr/>
          <p:nvPr/>
        </p:nvSpPr>
        <p:spPr>
          <a:xfrm>
            <a:off x="6464808" y="3438144"/>
            <a:ext cx="685800" cy="411480"/>
          </a:xfrm>
          <a:prstGeom prst="rect">
            <a:avLst/>
          </a:prstGeom>
          <a:noFill/>
          <a:ln/>
        </p:spPr>
        <p:txBody>
          <a:bodyPr wrap="square" lIns="0" tIns="0" rIns="0" bIns="0" rtlCol="0" anchor="ctr"/>
          <a:lstStyle/>
          <a:p>
            <a:pPr marL="0" indent="0">
              <a:buNone/>
            </a:pPr>
            <a:r>
              <a:rPr lang="en-US" sz="2100" b="1" dirty="0">
                <a:solidFill>
                  <a:srgbClr val="10B981"/>
                </a:solidFill>
                <a:latin typeface="Cambria" pitchFamily="34" charset="0"/>
                <a:ea typeface="Cambria" pitchFamily="34" charset="-122"/>
                <a:cs typeface="Cambria" pitchFamily="34" charset="-120"/>
              </a:rPr>
              <a:t>06</a:t>
            </a:r>
            <a:endParaRPr lang="en-US" sz="2100" dirty="0"/>
          </a:p>
        </p:txBody>
      </p:sp>
      <p:sp>
        <p:nvSpPr>
          <p:cNvPr id="28" name="Text 25"/>
          <p:cNvSpPr/>
          <p:nvPr/>
        </p:nvSpPr>
        <p:spPr>
          <a:xfrm>
            <a:off x="6464808" y="3822192"/>
            <a:ext cx="2258568" cy="274320"/>
          </a:xfrm>
          <a:prstGeom prst="rect">
            <a:avLst/>
          </a:prstGeom>
          <a:noFill/>
          <a:ln/>
        </p:spPr>
        <p:txBody>
          <a:bodyPr wrap="square" lIns="0" tIns="0" rIns="0" bIns="0" rtlCol="0" anchor="ctr"/>
          <a:lstStyle/>
          <a:p>
            <a:pPr marL="0" indent="0">
              <a:buNone/>
            </a:pPr>
            <a:r>
              <a:rPr lang="en-US" sz="1250" b="1" dirty="0">
                <a:solidFill>
                  <a:srgbClr val="0B3D2E"/>
                </a:solidFill>
                <a:latin typeface="Calibri" pitchFamily="34" charset="0"/>
                <a:ea typeface="Calibri" pitchFamily="34" charset="-122"/>
                <a:cs typeface="Calibri" pitchFamily="34" charset="-120"/>
              </a:rPr>
              <a:t>Monthly Compliance Briefing</a:t>
            </a:r>
            <a:endParaRPr lang="en-US" sz="1250" dirty="0"/>
          </a:p>
        </p:txBody>
      </p:sp>
      <p:sp>
        <p:nvSpPr>
          <p:cNvPr id="29" name="Text 26"/>
          <p:cNvSpPr/>
          <p:nvPr/>
        </p:nvSpPr>
        <p:spPr>
          <a:xfrm>
            <a:off x="6464808" y="4096512"/>
            <a:ext cx="2258568" cy="621792"/>
          </a:xfrm>
          <a:prstGeom prst="rect">
            <a:avLst/>
          </a:prstGeom>
          <a:noFill/>
          <a:ln/>
        </p:spPr>
        <p:txBody>
          <a:bodyPr wrap="square" lIns="0" tIns="0" rIns="0" bIns="0" rtlCol="0" anchor="ctr"/>
          <a:lstStyle/>
          <a:p>
            <a:pPr marL="0" indent="0">
              <a:lnSpc>
                <a:spcPct val="106000"/>
              </a:lnSpc>
              <a:buNone/>
            </a:pPr>
            <a:r>
              <a:rPr lang="en-US" sz="1000" dirty="0">
                <a:solidFill>
                  <a:srgbClr val="55705F"/>
                </a:solidFill>
                <a:latin typeface="Calibri" pitchFamily="34" charset="0"/>
                <a:ea typeface="Calibri" pitchFamily="34" charset="-122"/>
                <a:cs typeface="Calibri" pitchFamily="34" charset="-120"/>
              </a:rPr>
              <a:t>Inspections, actions, and open items rolled into a leadership-ready brief.</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EXAMPLE PROMPTS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What your team would actually type</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marL="0" indent="0">
              <a:buNone/>
            </a:pPr>
            <a:r>
              <a:rPr lang="en-US" sz="1250" dirty="0">
                <a:solidFill>
                  <a:srgbClr val="55705F"/>
                </a:solidFill>
                <a:latin typeface="Calibri" pitchFamily="34" charset="0"/>
                <a:ea typeface="Calibri" pitchFamily="34" charset="-122"/>
                <a:cs typeface="Calibri" pitchFamily="34" charset="-120"/>
              </a:rPr>
              <a:t>Plain English in — source-linked drafts out. No query syntax, no training curve.</a:t>
            </a:r>
            <a:endParaRPr lang="en-US" sz="1250" dirty="0"/>
          </a:p>
        </p:txBody>
      </p:sp>
      <p:pic>
        <p:nvPicPr>
          <p:cNvPr id="5"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6" name="Shape 3"/>
          <p:cNvSpPr/>
          <p:nvPr/>
        </p:nvSpPr>
        <p:spPr>
          <a:xfrm>
            <a:off x="502920" y="1572768"/>
            <a:ext cx="3995928" cy="896112"/>
          </a:xfrm>
          <a:prstGeom prst="roundRect">
            <a:avLst>
              <a:gd name="adj" fmla="val 10204"/>
            </a:avLst>
          </a:prstGeom>
          <a:solidFill>
            <a:srgbClr val="F4F7F2"/>
          </a:solidFill>
          <a:ln/>
          <a:effectLst>
            <a:outerShdw blurRad="88900" dist="25400" dir="2700000" algn="bl" rotWithShape="0">
              <a:srgbClr val="000000">
                <a:alpha val="13000"/>
              </a:srgbClr>
            </a:outerShdw>
          </a:effectLst>
        </p:spPr>
      </p:sp>
      <p:pic>
        <p:nvPicPr>
          <p:cNvPr id="7" name="Image 1" descr="preencoded.png"/>
          <p:cNvPicPr>
            <a:picLocks noChangeAspect="1"/>
          </p:cNvPicPr>
          <p:nvPr/>
        </p:nvPicPr>
        <p:blipFill>
          <a:blip r:embed="rId4"/>
          <a:stretch>
            <a:fillRect/>
          </a:stretch>
        </p:blipFill>
        <p:spPr>
          <a:xfrm>
            <a:off x="667512" y="1719072"/>
            <a:ext cx="182880" cy="182880"/>
          </a:xfrm>
          <a:prstGeom prst="rect">
            <a:avLst/>
          </a:prstGeom>
        </p:spPr>
      </p:pic>
      <p:sp>
        <p:nvSpPr>
          <p:cNvPr id="8" name="Text 4"/>
          <p:cNvSpPr/>
          <p:nvPr/>
        </p:nvSpPr>
        <p:spPr>
          <a:xfrm>
            <a:off x="960120" y="1655064"/>
            <a:ext cx="3374136" cy="731520"/>
          </a:xfrm>
          <a:prstGeom prst="rect">
            <a:avLst/>
          </a:prstGeom>
          <a:noFill/>
          <a:ln/>
        </p:spPr>
        <p:txBody>
          <a:bodyPr wrap="square" lIns="0" tIns="0" rIns="0" bIns="0" rtlCol="0" anchor="ctr"/>
          <a:lstStyle/>
          <a:p>
            <a:pPr marL="0" indent="0">
              <a:lnSpc>
                <a:spcPct val="105000"/>
              </a:lnSpc>
              <a:buNone/>
            </a:pPr>
            <a:r>
              <a:rPr lang="en-US" sz="1050" i="1" dirty="0">
                <a:solidFill>
                  <a:srgbClr val="07281D"/>
                </a:solidFill>
                <a:latin typeface="Calibri" pitchFamily="34" charset="0"/>
                <a:ea typeface="Calibri" pitchFamily="34" charset="-122"/>
                <a:cs typeface="Calibri" pitchFamily="34" charset="-120"/>
              </a:rPr>
              <a:t>“Prepare a pre-inspection checklist for this facility based on our approved inspection template and its hazardous materials requirements.”</a:t>
            </a:r>
            <a:endParaRPr lang="en-US" sz="1050" dirty="0"/>
          </a:p>
        </p:txBody>
      </p:sp>
      <p:sp>
        <p:nvSpPr>
          <p:cNvPr id="9" name="Shape 5"/>
          <p:cNvSpPr/>
          <p:nvPr/>
        </p:nvSpPr>
        <p:spPr>
          <a:xfrm>
            <a:off x="4754880" y="1572768"/>
            <a:ext cx="3995928" cy="896112"/>
          </a:xfrm>
          <a:prstGeom prst="roundRect">
            <a:avLst>
              <a:gd name="adj" fmla="val 10204"/>
            </a:avLst>
          </a:prstGeom>
          <a:solidFill>
            <a:srgbClr val="F4F7F2"/>
          </a:solidFill>
          <a:ln/>
          <a:effectLst>
            <a:outerShdw blurRad="88900" dist="25400" dir="2700000" algn="bl" rotWithShape="0">
              <a:srgbClr val="000000">
                <a:alpha val="13000"/>
              </a:srgbClr>
            </a:outerShdw>
          </a:effectLst>
        </p:spPr>
      </p:sp>
      <p:pic>
        <p:nvPicPr>
          <p:cNvPr id="10" name="Image 2" descr="preencoded.png"/>
          <p:cNvPicPr>
            <a:picLocks noChangeAspect="1"/>
          </p:cNvPicPr>
          <p:nvPr/>
        </p:nvPicPr>
        <p:blipFill>
          <a:blip r:embed="rId4"/>
          <a:stretch>
            <a:fillRect/>
          </a:stretch>
        </p:blipFill>
        <p:spPr>
          <a:xfrm>
            <a:off x="4919472" y="1719072"/>
            <a:ext cx="182880" cy="182880"/>
          </a:xfrm>
          <a:prstGeom prst="rect">
            <a:avLst/>
          </a:prstGeom>
        </p:spPr>
      </p:pic>
      <p:sp>
        <p:nvSpPr>
          <p:cNvPr id="11" name="Text 6"/>
          <p:cNvSpPr/>
          <p:nvPr/>
        </p:nvSpPr>
        <p:spPr>
          <a:xfrm>
            <a:off x="5212080" y="1655064"/>
            <a:ext cx="3374136" cy="731520"/>
          </a:xfrm>
          <a:prstGeom prst="rect">
            <a:avLst/>
          </a:prstGeom>
          <a:noFill/>
          <a:ln/>
        </p:spPr>
        <p:txBody>
          <a:bodyPr wrap="square" lIns="0" tIns="0" rIns="0" bIns="0" rtlCol="0" anchor="ctr"/>
          <a:lstStyle/>
          <a:p>
            <a:pPr marL="0" indent="0">
              <a:lnSpc>
                <a:spcPct val="105000"/>
              </a:lnSpc>
              <a:buNone/>
            </a:pPr>
            <a:r>
              <a:rPr lang="en-US" sz="1050" i="1" dirty="0">
                <a:solidFill>
                  <a:srgbClr val="07281D"/>
                </a:solidFill>
                <a:latin typeface="Calibri" pitchFamily="34" charset="0"/>
                <a:ea typeface="Calibri" pitchFamily="34" charset="-122"/>
                <a:cs typeface="Calibri" pitchFamily="34" charset="-120"/>
              </a:rPr>
              <a:t>“Summarize open corrective actions from the last facility inspection and draft a manager follow-up email.”</a:t>
            </a:r>
            <a:endParaRPr lang="en-US" sz="1050" dirty="0"/>
          </a:p>
        </p:txBody>
      </p:sp>
      <p:sp>
        <p:nvSpPr>
          <p:cNvPr id="12" name="Shape 7"/>
          <p:cNvSpPr/>
          <p:nvPr/>
        </p:nvSpPr>
        <p:spPr>
          <a:xfrm>
            <a:off x="502920" y="2615184"/>
            <a:ext cx="3995928" cy="896112"/>
          </a:xfrm>
          <a:prstGeom prst="roundRect">
            <a:avLst>
              <a:gd name="adj" fmla="val 10204"/>
            </a:avLst>
          </a:prstGeom>
          <a:solidFill>
            <a:srgbClr val="F4F7F2"/>
          </a:solidFill>
          <a:ln/>
          <a:effectLst>
            <a:outerShdw blurRad="88900" dist="25400" dir="2700000" algn="bl" rotWithShape="0">
              <a:srgbClr val="000000">
                <a:alpha val="13000"/>
              </a:srgbClr>
            </a:outerShdw>
          </a:effectLst>
        </p:spPr>
      </p:sp>
      <p:pic>
        <p:nvPicPr>
          <p:cNvPr id="13" name="Image 3" descr="preencoded.png"/>
          <p:cNvPicPr>
            <a:picLocks noChangeAspect="1"/>
          </p:cNvPicPr>
          <p:nvPr/>
        </p:nvPicPr>
        <p:blipFill>
          <a:blip r:embed="rId4"/>
          <a:stretch>
            <a:fillRect/>
          </a:stretch>
        </p:blipFill>
        <p:spPr>
          <a:xfrm>
            <a:off x="667512" y="2761488"/>
            <a:ext cx="182880" cy="182880"/>
          </a:xfrm>
          <a:prstGeom prst="rect">
            <a:avLst/>
          </a:prstGeom>
        </p:spPr>
      </p:pic>
      <p:sp>
        <p:nvSpPr>
          <p:cNvPr id="14" name="Text 8"/>
          <p:cNvSpPr/>
          <p:nvPr/>
        </p:nvSpPr>
        <p:spPr>
          <a:xfrm>
            <a:off x="960120" y="2697480"/>
            <a:ext cx="3374136" cy="731520"/>
          </a:xfrm>
          <a:prstGeom prst="rect">
            <a:avLst/>
          </a:prstGeom>
          <a:noFill/>
          <a:ln/>
        </p:spPr>
        <p:txBody>
          <a:bodyPr wrap="square" lIns="0" tIns="0" rIns="0" bIns="0" rtlCol="0" anchor="ctr"/>
          <a:lstStyle/>
          <a:p>
            <a:pPr marL="0" indent="0">
              <a:lnSpc>
                <a:spcPct val="105000"/>
              </a:lnSpc>
              <a:buNone/>
            </a:pPr>
            <a:r>
              <a:rPr lang="en-US" sz="1050" i="1" dirty="0">
                <a:solidFill>
                  <a:srgbClr val="07281D"/>
                </a:solidFill>
                <a:latin typeface="Calibri" pitchFamily="34" charset="0"/>
                <a:ea typeface="Calibri" pitchFamily="34" charset="-122"/>
                <a:cs typeface="Calibri" pitchFamily="34" charset="-120"/>
              </a:rPr>
              <a:t>“What evidence should we have ready for a regulatory agency inspection at one of our facilities?”</a:t>
            </a:r>
            <a:endParaRPr lang="en-US" sz="1050" dirty="0"/>
          </a:p>
        </p:txBody>
      </p:sp>
      <p:sp>
        <p:nvSpPr>
          <p:cNvPr id="15" name="Shape 9"/>
          <p:cNvSpPr/>
          <p:nvPr/>
        </p:nvSpPr>
        <p:spPr>
          <a:xfrm>
            <a:off x="4754880" y="2615184"/>
            <a:ext cx="3995928" cy="896112"/>
          </a:xfrm>
          <a:prstGeom prst="roundRect">
            <a:avLst>
              <a:gd name="adj" fmla="val 10204"/>
            </a:avLst>
          </a:prstGeom>
          <a:solidFill>
            <a:srgbClr val="F4F7F2"/>
          </a:solidFill>
          <a:ln/>
          <a:effectLst>
            <a:outerShdw blurRad="88900" dist="25400" dir="2700000" algn="bl" rotWithShape="0">
              <a:srgbClr val="000000">
                <a:alpha val="13000"/>
              </a:srgbClr>
            </a:outerShdw>
          </a:effectLst>
        </p:spPr>
      </p:sp>
      <p:pic>
        <p:nvPicPr>
          <p:cNvPr id="16" name="Image 4" descr="preencoded.png"/>
          <p:cNvPicPr>
            <a:picLocks noChangeAspect="1"/>
          </p:cNvPicPr>
          <p:nvPr/>
        </p:nvPicPr>
        <p:blipFill>
          <a:blip r:embed="rId4"/>
          <a:stretch>
            <a:fillRect/>
          </a:stretch>
        </p:blipFill>
        <p:spPr>
          <a:xfrm>
            <a:off x="4919472" y="2761488"/>
            <a:ext cx="182880" cy="182880"/>
          </a:xfrm>
          <a:prstGeom prst="rect">
            <a:avLst/>
          </a:prstGeom>
        </p:spPr>
      </p:pic>
      <p:sp>
        <p:nvSpPr>
          <p:cNvPr id="17" name="Text 10"/>
          <p:cNvSpPr/>
          <p:nvPr/>
        </p:nvSpPr>
        <p:spPr>
          <a:xfrm>
            <a:off x="5212080" y="2697480"/>
            <a:ext cx="3374136" cy="731520"/>
          </a:xfrm>
          <a:prstGeom prst="rect">
            <a:avLst/>
          </a:prstGeom>
          <a:noFill/>
          <a:ln/>
        </p:spPr>
        <p:txBody>
          <a:bodyPr wrap="square" lIns="0" tIns="0" rIns="0" bIns="0" rtlCol="0" anchor="ctr"/>
          <a:lstStyle/>
          <a:p>
            <a:pPr marL="0" indent="0">
              <a:lnSpc>
                <a:spcPct val="105000"/>
              </a:lnSpc>
              <a:buNone/>
            </a:pPr>
            <a:r>
              <a:rPr lang="en-US" sz="1050" i="1" dirty="0">
                <a:solidFill>
                  <a:srgbClr val="07281D"/>
                </a:solidFill>
                <a:latin typeface="Calibri" pitchFamily="34" charset="0"/>
                <a:ea typeface="Calibri" pitchFamily="34" charset="-122"/>
                <a:cs typeface="Calibri" pitchFamily="34" charset="-120"/>
              </a:rPr>
              <a:t>“Turn this inspection finding into a corrective action tracker with owner, due date, evidence needed, and risk level.”</a:t>
            </a:r>
            <a:endParaRPr lang="en-US" sz="1050" dirty="0"/>
          </a:p>
        </p:txBody>
      </p:sp>
      <p:sp>
        <p:nvSpPr>
          <p:cNvPr id="18" name="Shape 11"/>
          <p:cNvSpPr/>
          <p:nvPr/>
        </p:nvSpPr>
        <p:spPr>
          <a:xfrm>
            <a:off x="502920" y="3657600"/>
            <a:ext cx="3995928" cy="896112"/>
          </a:xfrm>
          <a:prstGeom prst="roundRect">
            <a:avLst>
              <a:gd name="adj" fmla="val 10204"/>
            </a:avLst>
          </a:prstGeom>
          <a:solidFill>
            <a:srgbClr val="F4F7F2"/>
          </a:solidFill>
          <a:ln/>
          <a:effectLst>
            <a:outerShdw blurRad="88900" dist="25400" dir="2700000" algn="bl" rotWithShape="0">
              <a:srgbClr val="000000">
                <a:alpha val="13000"/>
              </a:srgbClr>
            </a:outerShdw>
          </a:effectLst>
        </p:spPr>
      </p:sp>
      <p:pic>
        <p:nvPicPr>
          <p:cNvPr id="19" name="Image 5" descr="preencoded.png"/>
          <p:cNvPicPr>
            <a:picLocks noChangeAspect="1"/>
          </p:cNvPicPr>
          <p:nvPr/>
        </p:nvPicPr>
        <p:blipFill>
          <a:blip r:embed="rId4"/>
          <a:stretch>
            <a:fillRect/>
          </a:stretch>
        </p:blipFill>
        <p:spPr>
          <a:xfrm>
            <a:off x="667512" y="3803904"/>
            <a:ext cx="182880" cy="182880"/>
          </a:xfrm>
          <a:prstGeom prst="rect">
            <a:avLst/>
          </a:prstGeom>
        </p:spPr>
      </p:pic>
      <p:sp>
        <p:nvSpPr>
          <p:cNvPr id="20" name="Text 12"/>
          <p:cNvSpPr/>
          <p:nvPr/>
        </p:nvSpPr>
        <p:spPr>
          <a:xfrm>
            <a:off x="960120" y="3739896"/>
            <a:ext cx="3374136" cy="731520"/>
          </a:xfrm>
          <a:prstGeom prst="rect">
            <a:avLst/>
          </a:prstGeom>
          <a:noFill/>
          <a:ln/>
        </p:spPr>
        <p:txBody>
          <a:bodyPr wrap="square" lIns="0" tIns="0" rIns="0" bIns="0" rtlCol="0" anchor="ctr"/>
          <a:lstStyle/>
          <a:p>
            <a:pPr marL="0" indent="0">
              <a:lnSpc>
                <a:spcPct val="105000"/>
              </a:lnSpc>
              <a:buNone/>
            </a:pPr>
            <a:r>
              <a:rPr lang="en-US" sz="1050" i="1" dirty="0">
                <a:solidFill>
                  <a:srgbClr val="07281D"/>
                </a:solidFill>
                <a:latin typeface="Calibri" pitchFamily="34" charset="0"/>
                <a:ea typeface="Calibri" pitchFamily="34" charset="-122"/>
                <a:cs typeface="Calibri" pitchFamily="34" charset="-120"/>
              </a:rPr>
              <a:t>“Summarize the obligations in this plan that require recurring site action.”</a:t>
            </a:r>
            <a:endParaRPr lang="en-US" sz="1050" dirty="0"/>
          </a:p>
        </p:txBody>
      </p:sp>
      <p:sp>
        <p:nvSpPr>
          <p:cNvPr id="21" name="Shape 13"/>
          <p:cNvSpPr/>
          <p:nvPr/>
        </p:nvSpPr>
        <p:spPr>
          <a:xfrm>
            <a:off x="4754880" y="3657600"/>
            <a:ext cx="3995928" cy="896112"/>
          </a:xfrm>
          <a:prstGeom prst="roundRect">
            <a:avLst>
              <a:gd name="adj" fmla="val 10204"/>
            </a:avLst>
          </a:prstGeom>
          <a:solidFill>
            <a:srgbClr val="F4F7F2"/>
          </a:solidFill>
          <a:ln/>
          <a:effectLst>
            <a:outerShdw blurRad="88900" dist="25400" dir="2700000" algn="bl" rotWithShape="0">
              <a:srgbClr val="000000">
                <a:alpha val="13000"/>
              </a:srgbClr>
            </a:outerShdw>
          </a:effectLst>
        </p:spPr>
      </p:sp>
      <p:pic>
        <p:nvPicPr>
          <p:cNvPr id="22" name="Image 6" descr="preencoded.png"/>
          <p:cNvPicPr>
            <a:picLocks noChangeAspect="1"/>
          </p:cNvPicPr>
          <p:nvPr/>
        </p:nvPicPr>
        <p:blipFill>
          <a:blip r:embed="rId4"/>
          <a:stretch>
            <a:fillRect/>
          </a:stretch>
        </p:blipFill>
        <p:spPr>
          <a:xfrm>
            <a:off x="4919472" y="3803904"/>
            <a:ext cx="182880" cy="182880"/>
          </a:xfrm>
          <a:prstGeom prst="rect">
            <a:avLst/>
          </a:prstGeom>
        </p:spPr>
      </p:pic>
      <p:sp>
        <p:nvSpPr>
          <p:cNvPr id="23" name="Text 14"/>
          <p:cNvSpPr/>
          <p:nvPr/>
        </p:nvSpPr>
        <p:spPr>
          <a:xfrm>
            <a:off x="5212080" y="3739896"/>
            <a:ext cx="3374136" cy="731520"/>
          </a:xfrm>
          <a:prstGeom prst="rect">
            <a:avLst/>
          </a:prstGeom>
          <a:noFill/>
          <a:ln/>
        </p:spPr>
        <p:txBody>
          <a:bodyPr wrap="square" lIns="0" tIns="0" rIns="0" bIns="0" rtlCol="0" anchor="ctr"/>
          <a:lstStyle/>
          <a:p>
            <a:pPr marL="0" indent="0">
              <a:lnSpc>
                <a:spcPct val="105000"/>
              </a:lnSpc>
              <a:buNone/>
            </a:pPr>
            <a:r>
              <a:rPr lang="en-US" sz="1050" i="1" dirty="0">
                <a:solidFill>
                  <a:srgbClr val="07281D"/>
                </a:solidFill>
                <a:latin typeface="Calibri" pitchFamily="34" charset="0"/>
                <a:ea typeface="Calibri" pitchFamily="34" charset="-122"/>
                <a:cs typeface="Calibri" pitchFamily="34" charset="-120"/>
              </a:rPr>
              <a:t>“Create a monthly EHS briefing for regional managers from this month's inspection notes.”</a:t>
            </a:r>
            <a:endParaRPr lang="en-US" sz="1050" dirty="0"/>
          </a:p>
        </p:txBody>
      </p:sp>
      <p:sp>
        <p:nvSpPr>
          <p:cNvPr id="24" name="Text 15"/>
          <p:cNvSpPr/>
          <p:nvPr/>
        </p:nvSpPr>
        <p:spPr>
          <a:xfrm>
            <a:off x="502920" y="4700016"/>
            <a:ext cx="8138160" cy="274320"/>
          </a:xfrm>
          <a:prstGeom prst="rect">
            <a:avLst/>
          </a:prstGeom>
          <a:noFill/>
          <a:ln/>
        </p:spPr>
        <p:txBody>
          <a:bodyPr wrap="square" lIns="0" tIns="0" rIns="0" bIns="0" rtlCol="0" anchor="ctr"/>
          <a:lstStyle/>
          <a:p>
            <a:pPr marL="0" indent="0">
              <a:buNone/>
            </a:pPr>
            <a:r>
              <a:rPr lang="en-US" sz="1100" i="1" dirty="0">
                <a:solidFill>
                  <a:srgbClr val="55705F"/>
                </a:solidFill>
                <a:latin typeface="Calibri" pitchFamily="34" charset="0"/>
                <a:ea typeface="Calibri" pitchFamily="34" charset="-122"/>
                <a:cs typeface="Calibri" pitchFamily="34" charset="-120"/>
              </a:rPr>
              <a:t>If the workspace can't support an answer from approved sources, it says so — it does not guess.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DONE-FOR-YOU OUTPUTS</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The deliverables live where the work happens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marL="0" indent="0">
              <a:buNone/>
            </a:pPr>
            <a:r>
              <a:rPr lang="en-US" sz="1250" dirty="0">
                <a:solidFill>
                  <a:srgbClr val="55705F"/>
                </a:solidFill>
                <a:latin typeface="Calibri" pitchFamily="34" charset="0"/>
                <a:ea typeface="Calibri" pitchFamily="34" charset="-122"/>
                <a:cs typeface="Calibri" pitchFamily="34" charset="-120"/>
              </a:rPr>
              <a:t>“Done-for-you” means done-for-your-review: structured, source-linked drafts your team finishes and approves.</a:t>
            </a:r>
            <a:endParaRPr lang="en-US" sz="1250" dirty="0"/>
          </a:p>
        </p:txBody>
      </p:sp>
      <p:pic>
        <p:nvPicPr>
          <p:cNvPr id="5"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6" name="Shape 3"/>
          <p:cNvSpPr/>
          <p:nvPr/>
        </p:nvSpPr>
        <p:spPr>
          <a:xfrm>
            <a:off x="502920" y="1627632"/>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7" name="Image 1" descr="preencoded.png"/>
          <p:cNvPicPr>
            <a:picLocks noChangeAspect="1"/>
          </p:cNvPicPr>
          <p:nvPr/>
        </p:nvPicPr>
        <p:blipFill>
          <a:blip r:embed="rId4"/>
          <a:stretch>
            <a:fillRect/>
          </a:stretch>
        </p:blipFill>
        <p:spPr>
          <a:xfrm>
            <a:off x="1312164" y="1847088"/>
            <a:ext cx="310896" cy="310896"/>
          </a:xfrm>
          <a:prstGeom prst="rect">
            <a:avLst/>
          </a:prstGeom>
        </p:spPr>
      </p:pic>
      <p:sp>
        <p:nvSpPr>
          <p:cNvPr id="8" name="Text 4"/>
          <p:cNvSpPr/>
          <p:nvPr/>
        </p:nvSpPr>
        <p:spPr>
          <a:xfrm>
            <a:off x="612648" y="2249424"/>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Obligation registers</a:t>
            </a:r>
            <a:endParaRPr lang="en-US" sz="1100" dirty="0"/>
          </a:p>
        </p:txBody>
      </p:sp>
      <p:sp>
        <p:nvSpPr>
          <p:cNvPr id="9" name="Shape 5"/>
          <p:cNvSpPr/>
          <p:nvPr/>
        </p:nvSpPr>
        <p:spPr>
          <a:xfrm>
            <a:off x="2651760" y="1627632"/>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10" name="Image 2" descr="preencoded.png"/>
          <p:cNvPicPr>
            <a:picLocks noChangeAspect="1"/>
          </p:cNvPicPr>
          <p:nvPr/>
        </p:nvPicPr>
        <p:blipFill>
          <a:blip r:embed="rId5"/>
          <a:stretch>
            <a:fillRect/>
          </a:stretch>
        </p:blipFill>
        <p:spPr>
          <a:xfrm>
            <a:off x="3461004" y="1847088"/>
            <a:ext cx="310896" cy="310896"/>
          </a:xfrm>
          <a:prstGeom prst="rect">
            <a:avLst/>
          </a:prstGeom>
        </p:spPr>
      </p:pic>
      <p:sp>
        <p:nvSpPr>
          <p:cNvPr id="11" name="Text 6"/>
          <p:cNvSpPr/>
          <p:nvPr/>
        </p:nvSpPr>
        <p:spPr>
          <a:xfrm>
            <a:off x="2761488" y="2249424"/>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Corrective action trackers</a:t>
            </a:r>
            <a:endParaRPr lang="en-US" sz="1100" dirty="0"/>
          </a:p>
        </p:txBody>
      </p:sp>
      <p:sp>
        <p:nvSpPr>
          <p:cNvPr id="12" name="Shape 7"/>
          <p:cNvSpPr/>
          <p:nvPr/>
        </p:nvSpPr>
        <p:spPr>
          <a:xfrm>
            <a:off x="4800600" y="1627632"/>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13" name="Image 3" descr="preencoded.png"/>
          <p:cNvPicPr>
            <a:picLocks noChangeAspect="1"/>
          </p:cNvPicPr>
          <p:nvPr/>
        </p:nvPicPr>
        <p:blipFill>
          <a:blip r:embed="rId6"/>
          <a:stretch>
            <a:fillRect/>
          </a:stretch>
        </p:blipFill>
        <p:spPr>
          <a:xfrm>
            <a:off x="5609844" y="1847088"/>
            <a:ext cx="310896" cy="310896"/>
          </a:xfrm>
          <a:prstGeom prst="rect">
            <a:avLst/>
          </a:prstGeom>
        </p:spPr>
      </p:pic>
      <p:sp>
        <p:nvSpPr>
          <p:cNvPr id="14" name="Text 8"/>
          <p:cNvSpPr/>
          <p:nvPr/>
        </p:nvSpPr>
        <p:spPr>
          <a:xfrm>
            <a:off x="4910328" y="2249424"/>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Inspection prep packets</a:t>
            </a:r>
            <a:endParaRPr lang="en-US" sz="1100" dirty="0"/>
          </a:p>
        </p:txBody>
      </p:sp>
      <p:sp>
        <p:nvSpPr>
          <p:cNvPr id="15" name="Shape 9"/>
          <p:cNvSpPr/>
          <p:nvPr/>
        </p:nvSpPr>
        <p:spPr>
          <a:xfrm>
            <a:off x="6949440" y="1627632"/>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16" name="Image 4" descr="preencoded.png"/>
          <p:cNvPicPr>
            <a:picLocks noChangeAspect="1"/>
          </p:cNvPicPr>
          <p:nvPr/>
        </p:nvPicPr>
        <p:blipFill>
          <a:blip r:embed="rId7"/>
          <a:stretch>
            <a:fillRect/>
          </a:stretch>
        </p:blipFill>
        <p:spPr>
          <a:xfrm>
            <a:off x="7758684" y="1847088"/>
            <a:ext cx="310896" cy="310896"/>
          </a:xfrm>
          <a:prstGeom prst="rect">
            <a:avLst/>
          </a:prstGeom>
        </p:spPr>
      </p:pic>
      <p:sp>
        <p:nvSpPr>
          <p:cNvPr id="17" name="Text 10"/>
          <p:cNvSpPr/>
          <p:nvPr/>
        </p:nvSpPr>
        <p:spPr>
          <a:xfrm>
            <a:off x="7059168" y="2249424"/>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Evidence checklists</a:t>
            </a:r>
            <a:endParaRPr lang="en-US" sz="1100" dirty="0"/>
          </a:p>
        </p:txBody>
      </p:sp>
      <p:sp>
        <p:nvSpPr>
          <p:cNvPr id="18" name="Shape 11"/>
          <p:cNvSpPr/>
          <p:nvPr/>
        </p:nvSpPr>
        <p:spPr>
          <a:xfrm>
            <a:off x="502920" y="3200400"/>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19" name="Image 5" descr="preencoded.png"/>
          <p:cNvPicPr>
            <a:picLocks noChangeAspect="1"/>
          </p:cNvPicPr>
          <p:nvPr/>
        </p:nvPicPr>
        <p:blipFill>
          <a:blip r:embed="rId8"/>
          <a:stretch>
            <a:fillRect/>
          </a:stretch>
        </p:blipFill>
        <p:spPr>
          <a:xfrm>
            <a:off x="1312164" y="3419856"/>
            <a:ext cx="310896" cy="310896"/>
          </a:xfrm>
          <a:prstGeom prst="rect">
            <a:avLst/>
          </a:prstGeom>
        </p:spPr>
      </p:pic>
      <p:sp>
        <p:nvSpPr>
          <p:cNvPr id="20" name="Text 12"/>
          <p:cNvSpPr/>
          <p:nvPr/>
        </p:nvSpPr>
        <p:spPr>
          <a:xfrm>
            <a:off x="612648" y="3822192"/>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Manager training summaries</a:t>
            </a:r>
            <a:endParaRPr lang="en-US" sz="1100" dirty="0"/>
          </a:p>
        </p:txBody>
      </p:sp>
      <p:sp>
        <p:nvSpPr>
          <p:cNvPr id="21" name="Shape 13"/>
          <p:cNvSpPr/>
          <p:nvPr/>
        </p:nvSpPr>
        <p:spPr>
          <a:xfrm>
            <a:off x="2651760" y="3200400"/>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22" name="Image 6" descr="preencoded.png"/>
          <p:cNvPicPr>
            <a:picLocks noChangeAspect="1"/>
          </p:cNvPicPr>
          <p:nvPr/>
        </p:nvPicPr>
        <p:blipFill>
          <a:blip r:embed="rId9"/>
          <a:stretch>
            <a:fillRect/>
          </a:stretch>
        </p:blipFill>
        <p:spPr>
          <a:xfrm>
            <a:off x="3461004" y="3419856"/>
            <a:ext cx="310896" cy="310896"/>
          </a:xfrm>
          <a:prstGeom prst="rect">
            <a:avLst/>
          </a:prstGeom>
        </p:spPr>
      </p:pic>
      <p:sp>
        <p:nvSpPr>
          <p:cNvPr id="23" name="Text 14"/>
          <p:cNvSpPr/>
          <p:nvPr/>
        </p:nvSpPr>
        <p:spPr>
          <a:xfrm>
            <a:off x="2761488" y="3822192"/>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Follow-up emails (draft)</a:t>
            </a:r>
            <a:endParaRPr lang="en-US" sz="1100" dirty="0"/>
          </a:p>
        </p:txBody>
      </p:sp>
      <p:sp>
        <p:nvSpPr>
          <p:cNvPr id="24" name="Shape 15"/>
          <p:cNvSpPr/>
          <p:nvPr/>
        </p:nvSpPr>
        <p:spPr>
          <a:xfrm>
            <a:off x="4800600" y="3200400"/>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25" name="Image 7" descr="preencoded.png"/>
          <p:cNvPicPr>
            <a:picLocks noChangeAspect="1"/>
          </p:cNvPicPr>
          <p:nvPr/>
        </p:nvPicPr>
        <p:blipFill>
          <a:blip r:embed="rId10"/>
          <a:stretch>
            <a:fillRect/>
          </a:stretch>
        </p:blipFill>
        <p:spPr>
          <a:xfrm>
            <a:off x="5609844" y="3419856"/>
            <a:ext cx="310896" cy="310896"/>
          </a:xfrm>
          <a:prstGeom prst="rect">
            <a:avLst/>
          </a:prstGeom>
        </p:spPr>
      </p:pic>
      <p:sp>
        <p:nvSpPr>
          <p:cNvPr id="26" name="Text 16"/>
          <p:cNvSpPr/>
          <p:nvPr/>
        </p:nvSpPr>
        <p:spPr>
          <a:xfrm>
            <a:off x="4910328" y="3822192"/>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Monthly compliance briefings</a:t>
            </a:r>
            <a:endParaRPr lang="en-US" sz="1100" dirty="0"/>
          </a:p>
        </p:txBody>
      </p:sp>
      <p:sp>
        <p:nvSpPr>
          <p:cNvPr id="27" name="Shape 17"/>
          <p:cNvSpPr/>
          <p:nvPr/>
        </p:nvSpPr>
        <p:spPr>
          <a:xfrm>
            <a:off x="6949440" y="3200400"/>
            <a:ext cx="1929384" cy="1371600"/>
          </a:xfrm>
          <a:prstGeom prst="roundRect">
            <a:avLst>
              <a:gd name="adj" fmla="val 4667"/>
            </a:avLst>
          </a:prstGeom>
          <a:solidFill>
            <a:srgbClr val="E8F5EC"/>
          </a:solidFill>
          <a:ln/>
          <a:effectLst>
            <a:outerShdw blurRad="88900" dist="25400" dir="2700000" algn="bl" rotWithShape="0">
              <a:srgbClr val="000000">
                <a:alpha val="13000"/>
              </a:srgbClr>
            </a:outerShdw>
          </a:effectLst>
        </p:spPr>
      </p:sp>
      <p:pic>
        <p:nvPicPr>
          <p:cNvPr id="28" name="Image 8" descr="preencoded.png"/>
          <p:cNvPicPr>
            <a:picLocks noChangeAspect="1"/>
          </p:cNvPicPr>
          <p:nvPr/>
        </p:nvPicPr>
        <p:blipFill>
          <a:blip r:embed="rId11"/>
          <a:stretch>
            <a:fillRect/>
          </a:stretch>
        </p:blipFill>
        <p:spPr>
          <a:xfrm>
            <a:off x="7758684" y="3419856"/>
            <a:ext cx="310896" cy="310896"/>
          </a:xfrm>
          <a:prstGeom prst="rect">
            <a:avLst/>
          </a:prstGeom>
        </p:spPr>
      </p:pic>
      <p:sp>
        <p:nvSpPr>
          <p:cNvPr id="29" name="Text 18"/>
          <p:cNvSpPr/>
          <p:nvPr/>
        </p:nvSpPr>
        <p:spPr>
          <a:xfrm>
            <a:off x="7059168" y="3822192"/>
            <a:ext cx="1709928" cy="685800"/>
          </a:xfrm>
          <a:prstGeom prst="rect">
            <a:avLst/>
          </a:prstGeom>
          <a:noFill/>
          <a:ln/>
        </p:spPr>
        <p:txBody>
          <a:bodyPr wrap="square" lIns="0" tIns="0" rIns="0" bIns="0" rtlCol="0" anchor="t"/>
          <a:lstStyle/>
          <a:p>
            <a:pPr marL="0" indent="0" algn="ctr">
              <a:lnSpc>
                <a:spcPct val="105000"/>
              </a:lnSpc>
              <a:buNone/>
            </a:pPr>
            <a:r>
              <a:rPr lang="en-US" sz="1100" b="1" dirty="0">
                <a:solidFill>
                  <a:srgbClr val="0B3D2E"/>
                </a:solidFill>
                <a:latin typeface="Calibri" pitchFamily="34" charset="0"/>
                <a:ea typeface="Calibri" pitchFamily="34" charset="-122"/>
                <a:cs typeface="Calibri" pitchFamily="34" charset="-120"/>
              </a:rPr>
              <a:t>Site readiness summaries</a:t>
            </a:r>
            <a:endParaRPr lang="en-US" sz="1100" dirty="0"/>
          </a:p>
        </p:txBody>
      </p:sp>
      <p:sp>
        <p:nvSpPr>
          <p:cNvPr id="30" name="Text 19"/>
          <p:cNvSpPr/>
          <p:nvPr/>
        </p:nvSpPr>
        <p:spPr>
          <a:xfrm>
            <a:off x="502920" y="4700016"/>
            <a:ext cx="8138160" cy="274320"/>
          </a:xfrm>
          <a:prstGeom prst="rect">
            <a:avLst/>
          </a:prstGeom>
          <a:noFill/>
          <a:ln/>
        </p:spPr>
        <p:txBody>
          <a:bodyPr wrap="square" lIns="0" tIns="0" rIns="0" bIns="0" rtlCol="0" anchor="ctr"/>
          <a:lstStyle/>
          <a:p>
            <a:pPr marL="0" indent="0">
              <a:buNone/>
            </a:pPr>
            <a:r>
              <a:rPr lang="en-US" sz="1100" i="1" dirty="0">
                <a:solidFill>
                  <a:srgbClr val="55705F"/>
                </a:solidFill>
                <a:latin typeface="Calibri" pitchFamily="34" charset="0"/>
                <a:ea typeface="Calibri" pitchFamily="34" charset="-122"/>
                <a:cs typeface="Calibri" pitchFamily="34" charset="-120"/>
              </a:rPr>
              <a:t>The time savings is in assembly and formatting — most of the clock time on these tasks today.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GOVERNANCE &amp; HUMAN OVERSIGHT</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Your team stays the decision owner</a:t>
            </a:r>
            <a:endParaRPr lang="en-US" sz="2700" dirty="0"/>
          </a:p>
        </p:txBody>
      </p:sp>
      <p:pic>
        <p:nvPicPr>
          <p:cNvPr id="4"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5" name="Shape 2"/>
          <p:cNvSpPr/>
          <p:nvPr/>
        </p:nvSpPr>
        <p:spPr>
          <a:xfrm>
            <a:off x="2194560" y="1371600"/>
            <a:ext cx="1417320" cy="457200"/>
          </a:xfrm>
          <a:prstGeom prst="roundRect">
            <a:avLst>
              <a:gd name="adj" fmla="val 50000"/>
            </a:avLst>
          </a:prstGeom>
          <a:solidFill>
            <a:srgbClr val="F4F7F2"/>
          </a:solidFill>
          <a:ln/>
          <a:effectLst>
            <a:outerShdw blurRad="88900" dist="25400" dir="2700000" algn="bl" rotWithShape="0">
              <a:srgbClr val="000000">
                <a:alpha val="13000"/>
              </a:srgbClr>
            </a:outerShdw>
          </a:effectLst>
        </p:spPr>
      </p:sp>
      <p:sp>
        <p:nvSpPr>
          <p:cNvPr id="6" name="Text 3"/>
          <p:cNvSpPr/>
          <p:nvPr/>
        </p:nvSpPr>
        <p:spPr>
          <a:xfrm>
            <a:off x="2194560" y="1371600"/>
            <a:ext cx="1417320" cy="457200"/>
          </a:xfrm>
          <a:prstGeom prst="rect">
            <a:avLst/>
          </a:prstGeom>
          <a:noFill/>
          <a:ln/>
        </p:spPr>
        <p:txBody>
          <a:bodyPr wrap="square" rtlCol="0" anchor="ctr"/>
          <a:lstStyle/>
          <a:p>
            <a:pPr marL="0" indent="0" algn="ctr">
              <a:buNone/>
            </a:pPr>
            <a:r>
              <a:rPr lang="en-US" sz="1200" b="1" kern="0" spc="200" dirty="0">
                <a:solidFill>
                  <a:srgbClr val="55705F"/>
                </a:solidFill>
                <a:latin typeface="Calibri" pitchFamily="34" charset="0"/>
                <a:ea typeface="Calibri" pitchFamily="34" charset="-122"/>
                <a:cs typeface="Calibri" pitchFamily="34" charset="-120"/>
              </a:rPr>
              <a:t>DRAFT</a:t>
            </a:r>
            <a:endParaRPr lang="en-US" sz="1200" dirty="0"/>
          </a:p>
        </p:txBody>
      </p:sp>
      <p:pic>
        <p:nvPicPr>
          <p:cNvPr id="7" name="Image 1" descr="preencoded.png"/>
          <p:cNvPicPr>
            <a:picLocks noChangeAspect="1"/>
          </p:cNvPicPr>
          <p:nvPr/>
        </p:nvPicPr>
        <p:blipFill>
          <a:blip r:embed="rId4"/>
          <a:stretch>
            <a:fillRect/>
          </a:stretch>
        </p:blipFill>
        <p:spPr>
          <a:xfrm>
            <a:off x="3675888" y="1536192"/>
            <a:ext cx="137160" cy="137160"/>
          </a:xfrm>
          <a:prstGeom prst="rect">
            <a:avLst/>
          </a:prstGeom>
        </p:spPr>
      </p:pic>
      <p:sp>
        <p:nvSpPr>
          <p:cNvPr id="8" name="Shape 4"/>
          <p:cNvSpPr/>
          <p:nvPr/>
        </p:nvSpPr>
        <p:spPr>
          <a:xfrm>
            <a:off x="3904488" y="1371600"/>
            <a:ext cx="1417320" cy="457200"/>
          </a:xfrm>
          <a:prstGeom prst="roundRect">
            <a:avLst>
              <a:gd name="adj" fmla="val 50000"/>
            </a:avLst>
          </a:prstGeom>
          <a:solidFill>
            <a:srgbClr val="EAF6EF"/>
          </a:solidFill>
          <a:ln/>
          <a:effectLst>
            <a:outerShdw blurRad="88900" dist="25400" dir="2700000" algn="bl" rotWithShape="0">
              <a:srgbClr val="000000">
                <a:alpha val="13000"/>
              </a:srgbClr>
            </a:outerShdw>
          </a:effectLst>
        </p:spPr>
      </p:sp>
      <p:sp>
        <p:nvSpPr>
          <p:cNvPr id="9" name="Text 5"/>
          <p:cNvSpPr/>
          <p:nvPr/>
        </p:nvSpPr>
        <p:spPr>
          <a:xfrm>
            <a:off x="3904488" y="1371600"/>
            <a:ext cx="1417320" cy="457200"/>
          </a:xfrm>
          <a:prstGeom prst="rect">
            <a:avLst/>
          </a:prstGeom>
          <a:noFill/>
          <a:ln/>
        </p:spPr>
        <p:txBody>
          <a:bodyPr wrap="square" rtlCol="0" anchor="ctr"/>
          <a:lstStyle/>
          <a:p>
            <a:pPr marL="0" indent="0" algn="ctr">
              <a:buNone/>
            </a:pPr>
            <a:r>
              <a:rPr lang="en-US" sz="1200" b="1" kern="0" spc="200" dirty="0">
                <a:solidFill>
                  <a:srgbClr val="0E7A5A"/>
                </a:solidFill>
                <a:latin typeface="Calibri" pitchFamily="34" charset="0"/>
                <a:ea typeface="Calibri" pitchFamily="34" charset="-122"/>
                <a:cs typeface="Calibri" pitchFamily="34" charset="-120"/>
              </a:rPr>
              <a:t>REVIEW</a:t>
            </a:r>
            <a:endParaRPr lang="en-US" sz="1200" dirty="0"/>
          </a:p>
        </p:txBody>
      </p:sp>
      <p:pic>
        <p:nvPicPr>
          <p:cNvPr id="10" name="Image 2" descr="preencoded.png"/>
          <p:cNvPicPr>
            <a:picLocks noChangeAspect="1"/>
          </p:cNvPicPr>
          <p:nvPr/>
        </p:nvPicPr>
        <p:blipFill>
          <a:blip r:embed="rId4"/>
          <a:stretch>
            <a:fillRect/>
          </a:stretch>
        </p:blipFill>
        <p:spPr>
          <a:xfrm>
            <a:off x="5385816" y="1536192"/>
            <a:ext cx="137160" cy="137160"/>
          </a:xfrm>
          <a:prstGeom prst="rect">
            <a:avLst/>
          </a:prstGeom>
        </p:spPr>
      </p:pic>
      <p:sp>
        <p:nvSpPr>
          <p:cNvPr id="11" name="Shape 6"/>
          <p:cNvSpPr/>
          <p:nvPr/>
        </p:nvSpPr>
        <p:spPr>
          <a:xfrm>
            <a:off x="5614416" y="1371600"/>
            <a:ext cx="1417320" cy="457200"/>
          </a:xfrm>
          <a:prstGeom prst="roundRect">
            <a:avLst>
              <a:gd name="adj" fmla="val 50000"/>
            </a:avLst>
          </a:prstGeom>
          <a:solidFill>
            <a:srgbClr val="0B3D2E"/>
          </a:solidFill>
          <a:ln/>
          <a:effectLst>
            <a:outerShdw blurRad="88900" dist="25400" dir="2700000" algn="bl" rotWithShape="0">
              <a:srgbClr val="000000">
                <a:alpha val="13000"/>
              </a:srgbClr>
            </a:outerShdw>
          </a:effectLst>
        </p:spPr>
      </p:sp>
      <p:sp>
        <p:nvSpPr>
          <p:cNvPr id="12" name="Text 7"/>
          <p:cNvSpPr/>
          <p:nvPr/>
        </p:nvSpPr>
        <p:spPr>
          <a:xfrm>
            <a:off x="5614416" y="1371600"/>
            <a:ext cx="1417320" cy="457200"/>
          </a:xfrm>
          <a:prstGeom prst="rect">
            <a:avLst/>
          </a:prstGeom>
          <a:noFill/>
          <a:ln/>
        </p:spPr>
        <p:txBody>
          <a:bodyPr wrap="square" rtlCol="0" anchor="ctr"/>
          <a:lstStyle/>
          <a:p>
            <a:pPr marL="0" indent="0" algn="ctr">
              <a:buNone/>
            </a:pPr>
            <a:r>
              <a:rPr lang="en-US" sz="1200" b="1" kern="0" spc="200" dirty="0">
                <a:solidFill>
                  <a:srgbClr val="FFFFFF"/>
                </a:solidFill>
                <a:latin typeface="Calibri" pitchFamily="34" charset="0"/>
                <a:ea typeface="Calibri" pitchFamily="34" charset="-122"/>
                <a:cs typeface="Calibri" pitchFamily="34" charset="-120"/>
              </a:rPr>
              <a:t>APPROVED</a:t>
            </a:r>
            <a:endParaRPr lang="en-US" sz="1200" dirty="0"/>
          </a:p>
        </p:txBody>
      </p:sp>
      <p:sp>
        <p:nvSpPr>
          <p:cNvPr id="13" name="Text 8"/>
          <p:cNvSpPr/>
          <p:nvPr/>
        </p:nvSpPr>
        <p:spPr>
          <a:xfrm>
            <a:off x="502920" y="1938528"/>
            <a:ext cx="8138160" cy="256032"/>
          </a:xfrm>
          <a:prstGeom prst="rect">
            <a:avLst/>
          </a:prstGeom>
          <a:noFill/>
          <a:ln/>
        </p:spPr>
        <p:txBody>
          <a:bodyPr wrap="square" lIns="0" tIns="0" rIns="0" bIns="0" rtlCol="0" anchor="ctr"/>
          <a:lstStyle/>
          <a:p>
            <a:pPr marL="0" indent="0" algn="ctr">
              <a:buNone/>
            </a:pPr>
            <a:r>
              <a:rPr lang="en-US" sz="1100" i="1" dirty="0">
                <a:solidFill>
                  <a:srgbClr val="55705F"/>
                </a:solidFill>
                <a:latin typeface="Calibri" pitchFamily="34" charset="0"/>
                <a:ea typeface="Calibri" pitchFamily="34" charset="-122"/>
                <a:cs typeface="Calibri" pitchFamily="34" charset="-120"/>
              </a:rPr>
              <a:t>Every output moves through explicit states — nothing is final until an EHS professional approves it.</a:t>
            </a:r>
            <a:endParaRPr lang="en-US" sz="1100" dirty="0"/>
          </a:p>
        </p:txBody>
      </p:sp>
      <p:sp>
        <p:nvSpPr>
          <p:cNvPr id="14" name="Shape 9"/>
          <p:cNvSpPr/>
          <p:nvPr/>
        </p:nvSpPr>
        <p:spPr>
          <a:xfrm>
            <a:off x="502920" y="2468880"/>
            <a:ext cx="365760" cy="365760"/>
          </a:xfrm>
          <a:prstGeom prst="ellipse">
            <a:avLst/>
          </a:prstGeom>
          <a:solidFill>
            <a:srgbClr val="0B3D2E"/>
          </a:solidFill>
          <a:ln/>
        </p:spPr>
      </p:sp>
      <p:pic>
        <p:nvPicPr>
          <p:cNvPr id="15" name="Image 3" descr="preencoded.png"/>
          <p:cNvPicPr>
            <a:picLocks noChangeAspect="1"/>
          </p:cNvPicPr>
          <p:nvPr/>
        </p:nvPicPr>
        <p:blipFill>
          <a:blip r:embed="rId5"/>
          <a:stretch>
            <a:fillRect/>
          </a:stretch>
        </p:blipFill>
        <p:spPr>
          <a:xfrm>
            <a:off x="601675" y="2567635"/>
            <a:ext cx="168250" cy="168250"/>
          </a:xfrm>
          <a:prstGeom prst="rect">
            <a:avLst/>
          </a:prstGeom>
        </p:spPr>
      </p:pic>
      <p:sp>
        <p:nvSpPr>
          <p:cNvPr id="16" name="Text 10"/>
          <p:cNvSpPr/>
          <p:nvPr/>
        </p:nvSpPr>
        <p:spPr>
          <a:xfrm>
            <a:off x="1005840" y="2414016"/>
            <a:ext cx="3493008" cy="237744"/>
          </a:xfrm>
          <a:prstGeom prst="rect">
            <a:avLst/>
          </a:prstGeom>
          <a:noFill/>
          <a:ln/>
        </p:spPr>
        <p:txBody>
          <a:bodyPr wrap="square" lIns="0" tIns="0" rIns="0" bIns="0" rtlCol="0" anchor="ctr"/>
          <a:lstStyle/>
          <a:p>
            <a:pPr marL="0" indent="0">
              <a:buNone/>
            </a:pPr>
            <a:r>
              <a:rPr lang="en-US" sz="1200" b="1" dirty="0">
                <a:solidFill>
                  <a:srgbClr val="0B3D2E"/>
                </a:solidFill>
                <a:latin typeface="Calibri" pitchFamily="34" charset="0"/>
                <a:ea typeface="Calibri" pitchFamily="34" charset="-122"/>
                <a:cs typeface="Calibri" pitchFamily="34" charset="-120"/>
              </a:rPr>
              <a:t>EHS team owns decisions</a:t>
            </a:r>
            <a:endParaRPr lang="en-US" sz="1200" dirty="0"/>
          </a:p>
        </p:txBody>
      </p:sp>
      <p:sp>
        <p:nvSpPr>
          <p:cNvPr id="17" name="Text 11"/>
          <p:cNvSpPr/>
          <p:nvPr/>
        </p:nvSpPr>
        <p:spPr>
          <a:xfrm>
            <a:off x="1005840" y="2651760"/>
            <a:ext cx="3493008" cy="438912"/>
          </a:xfrm>
          <a:prstGeom prst="rect">
            <a:avLst/>
          </a:prstGeom>
          <a:noFill/>
          <a:ln/>
        </p:spPr>
        <p:txBody>
          <a:bodyPr wrap="square" lIns="0" tIns="0" rIns="0" bIns="0" rtlCol="0" anchor="ctr"/>
          <a:lstStyle/>
          <a:p>
            <a:pPr marL="0" indent="0">
              <a:lnSpc>
                <a:spcPct val="105000"/>
              </a:lnSpc>
              <a:buNone/>
            </a:pPr>
            <a:r>
              <a:rPr lang="en-US" sz="1050" dirty="0">
                <a:solidFill>
                  <a:srgbClr val="55705F"/>
                </a:solidFill>
                <a:latin typeface="Calibri" pitchFamily="34" charset="0"/>
                <a:ea typeface="Calibri" pitchFamily="34" charset="-122"/>
                <a:cs typeface="Calibri" pitchFamily="34" charset="-120"/>
              </a:rPr>
              <a:t>The workspace recommends; your people decide.</a:t>
            </a:r>
            <a:endParaRPr lang="en-US" sz="1050" dirty="0"/>
          </a:p>
        </p:txBody>
      </p:sp>
      <p:sp>
        <p:nvSpPr>
          <p:cNvPr id="18" name="Shape 12"/>
          <p:cNvSpPr/>
          <p:nvPr/>
        </p:nvSpPr>
        <p:spPr>
          <a:xfrm>
            <a:off x="4754880" y="2468880"/>
            <a:ext cx="365760" cy="365760"/>
          </a:xfrm>
          <a:prstGeom prst="ellipse">
            <a:avLst/>
          </a:prstGeom>
          <a:solidFill>
            <a:srgbClr val="0B3D2E"/>
          </a:solidFill>
          <a:ln/>
        </p:spPr>
      </p:sp>
      <p:pic>
        <p:nvPicPr>
          <p:cNvPr id="19" name="Image 4" descr="preencoded.png"/>
          <p:cNvPicPr>
            <a:picLocks noChangeAspect="1"/>
          </p:cNvPicPr>
          <p:nvPr/>
        </p:nvPicPr>
        <p:blipFill>
          <a:blip r:embed="rId6"/>
          <a:stretch>
            <a:fillRect/>
          </a:stretch>
        </p:blipFill>
        <p:spPr>
          <a:xfrm>
            <a:off x="4853635" y="2567635"/>
            <a:ext cx="168250" cy="168250"/>
          </a:xfrm>
          <a:prstGeom prst="rect">
            <a:avLst/>
          </a:prstGeom>
        </p:spPr>
      </p:pic>
      <p:sp>
        <p:nvSpPr>
          <p:cNvPr id="20" name="Text 13"/>
          <p:cNvSpPr/>
          <p:nvPr/>
        </p:nvSpPr>
        <p:spPr>
          <a:xfrm>
            <a:off x="5257800" y="2414016"/>
            <a:ext cx="3493008" cy="237744"/>
          </a:xfrm>
          <a:prstGeom prst="rect">
            <a:avLst/>
          </a:prstGeom>
          <a:noFill/>
          <a:ln/>
        </p:spPr>
        <p:txBody>
          <a:bodyPr wrap="square" lIns="0" tIns="0" rIns="0" bIns="0" rtlCol="0" anchor="ctr"/>
          <a:lstStyle/>
          <a:p>
            <a:pPr marL="0" indent="0">
              <a:buNone/>
            </a:pPr>
            <a:r>
              <a:rPr lang="en-US" sz="1200" b="1" dirty="0">
                <a:solidFill>
                  <a:srgbClr val="0B3D2E"/>
                </a:solidFill>
                <a:latin typeface="Calibri" pitchFamily="34" charset="0"/>
                <a:ea typeface="Calibri" pitchFamily="34" charset="-122"/>
                <a:cs typeface="Calibri" pitchFamily="34" charset="-120"/>
              </a:rPr>
              <a:t>Source-linked responses</a:t>
            </a:r>
            <a:endParaRPr lang="en-US" sz="1200" dirty="0"/>
          </a:p>
        </p:txBody>
      </p:sp>
      <p:sp>
        <p:nvSpPr>
          <p:cNvPr id="21" name="Text 14"/>
          <p:cNvSpPr/>
          <p:nvPr/>
        </p:nvSpPr>
        <p:spPr>
          <a:xfrm>
            <a:off x="5257800" y="2651760"/>
            <a:ext cx="3493008" cy="438912"/>
          </a:xfrm>
          <a:prstGeom prst="rect">
            <a:avLst/>
          </a:prstGeom>
          <a:noFill/>
          <a:ln/>
        </p:spPr>
        <p:txBody>
          <a:bodyPr wrap="square" lIns="0" tIns="0" rIns="0" bIns="0" rtlCol="0" anchor="ctr"/>
          <a:lstStyle/>
          <a:p>
            <a:pPr marL="0" indent="0">
              <a:lnSpc>
                <a:spcPct val="105000"/>
              </a:lnSpc>
              <a:buNone/>
            </a:pPr>
            <a:r>
              <a:rPr lang="en-US" sz="1050" dirty="0">
                <a:solidFill>
                  <a:srgbClr val="55705F"/>
                </a:solidFill>
                <a:latin typeface="Calibri" pitchFamily="34" charset="0"/>
                <a:ea typeface="Calibri" pitchFamily="34" charset="-122"/>
                <a:cs typeface="Calibri" pitchFamily="34" charset="-120"/>
              </a:rPr>
              <a:t>Every answer cites the approved documents behind it.</a:t>
            </a:r>
            <a:endParaRPr lang="en-US" sz="1050" dirty="0"/>
          </a:p>
        </p:txBody>
      </p:sp>
      <p:sp>
        <p:nvSpPr>
          <p:cNvPr id="22" name="Shape 15"/>
          <p:cNvSpPr/>
          <p:nvPr/>
        </p:nvSpPr>
        <p:spPr>
          <a:xfrm>
            <a:off x="502920" y="3328416"/>
            <a:ext cx="365760" cy="365760"/>
          </a:xfrm>
          <a:prstGeom prst="ellipse">
            <a:avLst/>
          </a:prstGeom>
          <a:solidFill>
            <a:srgbClr val="0B3D2E"/>
          </a:solidFill>
          <a:ln/>
        </p:spPr>
      </p:sp>
      <p:pic>
        <p:nvPicPr>
          <p:cNvPr id="23" name="Image 5" descr="preencoded.png"/>
          <p:cNvPicPr>
            <a:picLocks noChangeAspect="1"/>
          </p:cNvPicPr>
          <p:nvPr/>
        </p:nvPicPr>
        <p:blipFill>
          <a:blip r:embed="rId7"/>
          <a:stretch>
            <a:fillRect/>
          </a:stretch>
        </p:blipFill>
        <p:spPr>
          <a:xfrm>
            <a:off x="601675" y="3427171"/>
            <a:ext cx="168250" cy="168250"/>
          </a:xfrm>
          <a:prstGeom prst="rect">
            <a:avLst/>
          </a:prstGeom>
        </p:spPr>
      </p:pic>
      <p:sp>
        <p:nvSpPr>
          <p:cNvPr id="24" name="Text 16"/>
          <p:cNvSpPr/>
          <p:nvPr/>
        </p:nvSpPr>
        <p:spPr>
          <a:xfrm>
            <a:off x="1005840" y="3273552"/>
            <a:ext cx="3493008" cy="237744"/>
          </a:xfrm>
          <a:prstGeom prst="rect">
            <a:avLst/>
          </a:prstGeom>
          <a:noFill/>
          <a:ln/>
        </p:spPr>
        <p:txBody>
          <a:bodyPr wrap="square" lIns="0" tIns="0" rIns="0" bIns="0" rtlCol="0" anchor="ctr"/>
          <a:lstStyle/>
          <a:p>
            <a:pPr marL="0" indent="0">
              <a:buNone/>
            </a:pPr>
            <a:r>
              <a:rPr lang="en-US" sz="1200" b="1" dirty="0">
                <a:solidFill>
                  <a:srgbClr val="0B3D2E"/>
                </a:solidFill>
                <a:latin typeface="Calibri" pitchFamily="34" charset="0"/>
                <a:ea typeface="Calibri" pitchFamily="34" charset="-122"/>
                <a:cs typeface="Calibri" pitchFamily="34" charset="-120"/>
              </a:rPr>
              <a:t>No unsourced regulatory claims</a:t>
            </a:r>
            <a:endParaRPr lang="en-US" sz="1200" dirty="0"/>
          </a:p>
        </p:txBody>
      </p:sp>
      <p:sp>
        <p:nvSpPr>
          <p:cNvPr id="25" name="Text 17"/>
          <p:cNvSpPr/>
          <p:nvPr/>
        </p:nvSpPr>
        <p:spPr>
          <a:xfrm>
            <a:off x="1005840" y="3511296"/>
            <a:ext cx="3493008" cy="438912"/>
          </a:xfrm>
          <a:prstGeom prst="rect">
            <a:avLst/>
          </a:prstGeom>
          <a:noFill/>
          <a:ln/>
        </p:spPr>
        <p:txBody>
          <a:bodyPr wrap="square" lIns="0" tIns="0" rIns="0" bIns="0" rtlCol="0" anchor="ctr"/>
          <a:lstStyle/>
          <a:p>
            <a:pPr marL="0" indent="0">
              <a:lnSpc>
                <a:spcPct val="105000"/>
              </a:lnSpc>
              <a:buNone/>
            </a:pPr>
            <a:r>
              <a:rPr lang="en-US" sz="1050" dirty="0">
                <a:solidFill>
                  <a:srgbClr val="55705F"/>
                </a:solidFill>
                <a:latin typeface="Calibri" pitchFamily="34" charset="0"/>
                <a:ea typeface="Calibri" pitchFamily="34" charset="-122"/>
                <a:cs typeface="Calibri" pitchFamily="34" charset="-120"/>
              </a:rPr>
              <a:t>Gaps are flagged, never improvised.</a:t>
            </a:r>
            <a:endParaRPr lang="en-US" sz="1050" dirty="0"/>
          </a:p>
        </p:txBody>
      </p:sp>
      <p:sp>
        <p:nvSpPr>
          <p:cNvPr id="26" name="Shape 18"/>
          <p:cNvSpPr/>
          <p:nvPr/>
        </p:nvSpPr>
        <p:spPr>
          <a:xfrm>
            <a:off x="4754880" y="3328416"/>
            <a:ext cx="365760" cy="365760"/>
          </a:xfrm>
          <a:prstGeom prst="ellipse">
            <a:avLst/>
          </a:prstGeom>
          <a:solidFill>
            <a:srgbClr val="0B3D2E"/>
          </a:solidFill>
          <a:ln/>
        </p:spPr>
      </p:sp>
      <p:pic>
        <p:nvPicPr>
          <p:cNvPr id="27" name="Image 6" descr="preencoded.png"/>
          <p:cNvPicPr>
            <a:picLocks noChangeAspect="1"/>
          </p:cNvPicPr>
          <p:nvPr/>
        </p:nvPicPr>
        <p:blipFill>
          <a:blip r:embed="rId8"/>
          <a:stretch>
            <a:fillRect/>
          </a:stretch>
        </p:blipFill>
        <p:spPr>
          <a:xfrm>
            <a:off x="4853635" y="3427171"/>
            <a:ext cx="168250" cy="168250"/>
          </a:xfrm>
          <a:prstGeom prst="rect">
            <a:avLst/>
          </a:prstGeom>
        </p:spPr>
      </p:pic>
      <p:sp>
        <p:nvSpPr>
          <p:cNvPr id="28" name="Text 19"/>
          <p:cNvSpPr/>
          <p:nvPr/>
        </p:nvSpPr>
        <p:spPr>
          <a:xfrm>
            <a:off x="5257800" y="3273552"/>
            <a:ext cx="3493008" cy="237744"/>
          </a:xfrm>
          <a:prstGeom prst="rect">
            <a:avLst/>
          </a:prstGeom>
          <a:noFill/>
          <a:ln/>
        </p:spPr>
        <p:txBody>
          <a:bodyPr wrap="square" lIns="0" tIns="0" rIns="0" bIns="0" rtlCol="0" anchor="ctr"/>
          <a:lstStyle/>
          <a:p>
            <a:pPr marL="0" indent="0">
              <a:buNone/>
            </a:pPr>
            <a:r>
              <a:rPr lang="en-US" sz="1200" b="1" dirty="0">
                <a:solidFill>
                  <a:srgbClr val="0B3D2E"/>
                </a:solidFill>
                <a:latin typeface="Calibri" pitchFamily="34" charset="0"/>
                <a:ea typeface="Calibri" pitchFamily="34" charset="-122"/>
                <a:cs typeface="Calibri" pitchFamily="34" charset="-120"/>
              </a:rPr>
              <a:t>Role-based access</a:t>
            </a:r>
            <a:endParaRPr lang="en-US" sz="1200" dirty="0"/>
          </a:p>
        </p:txBody>
      </p:sp>
      <p:sp>
        <p:nvSpPr>
          <p:cNvPr id="29" name="Text 20"/>
          <p:cNvSpPr/>
          <p:nvPr/>
        </p:nvSpPr>
        <p:spPr>
          <a:xfrm>
            <a:off x="5257800" y="3511296"/>
            <a:ext cx="3493008" cy="438912"/>
          </a:xfrm>
          <a:prstGeom prst="rect">
            <a:avLst/>
          </a:prstGeom>
          <a:noFill/>
          <a:ln/>
        </p:spPr>
        <p:txBody>
          <a:bodyPr wrap="square" lIns="0" tIns="0" rIns="0" bIns="0" rtlCol="0" anchor="ctr"/>
          <a:lstStyle/>
          <a:p>
            <a:pPr marL="0" indent="0">
              <a:lnSpc>
                <a:spcPct val="105000"/>
              </a:lnSpc>
              <a:buNone/>
            </a:pPr>
            <a:r>
              <a:rPr lang="en-US" sz="1050" dirty="0">
                <a:solidFill>
                  <a:srgbClr val="55705F"/>
                </a:solidFill>
                <a:latin typeface="Calibri" pitchFamily="34" charset="0"/>
                <a:ea typeface="Calibri" pitchFamily="34" charset="-122"/>
                <a:cs typeface="Calibri" pitchFamily="34" charset="-120"/>
              </a:rPr>
              <a:t>EHS staff, facility managers, and leadership each see what fits their role.</a:t>
            </a:r>
            <a:endParaRPr lang="en-US" sz="1050" dirty="0"/>
          </a:p>
        </p:txBody>
      </p:sp>
      <p:sp>
        <p:nvSpPr>
          <p:cNvPr id="30" name="Shape 21"/>
          <p:cNvSpPr/>
          <p:nvPr/>
        </p:nvSpPr>
        <p:spPr>
          <a:xfrm>
            <a:off x="502920" y="4187952"/>
            <a:ext cx="365760" cy="365760"/>
          </a:xfrm>
          <a:prstGeom prst="ellipse">
            <a:avLst/>
          </a:prstGeom>
          <a:solidFill>
            <a:srgbClr val="0B3D2E"/>
          </a:solidFill>
          <a:ln/>
        </p:spPr>
      </p:sp>
      <p:pic>
        <p:nvPicPr>
          <p:cNvPr id="31" name="Image 7" descr="preencoded.png"/>
          <p:cNvPicPr>
            <a:picLocks noChangeAspect="1"/>
          </p:cNvPicPr>
          <p:nvPr/>
        </p:nvPicPr>
        <p:blipFill>
          <a:blip r:embed="rId9"/>
          <a:stretch>
            <a:fillRect/>
          </a:stretch>
        </p:blipFill>
        <p:spPr>
          <a:xfrm>
            <a:off x="601675" y="4286707"/>
            <a:ext cx="168250" cy="168250"/>
          </a:xfrm>
          <a:prstGeom prst="rect">
            <a:avLst/>
          </a:prstGeom>
        </p:spPr>
      </p:pic>
      <p:sp>
        <p:nvSpPr>
          <p:cNvPr id="32" name="Text 22"/>
          <p:cNvSpPr/>
          <p:nvPr/>
        </p:nvSpPr>
        <p:spPr>
          <a:xfrm>
            <a:off x="1005840" y="4133088"/>
            <a:ext cx="3493008" cy="237744"/>
          </a:xfrm>
          <a:prstGeom prst="rect">
            <a:avLst/>
          </a:prstGeom>
          <a:noFill/>
          <a:ln/>
        </p:spPr>
        <p:txBody>
          <a:bodyPr wrap="square" lIns="0" tIns="0" rIns="0" bIns="0" rtlCol="0" anchor="ctr"/>
          <a:lstStyle/>
          <a:p>
            <a:pPr marL="0" indent="0">
              <a:buNone/>
            </a:pPr>
            <a:r>
              <a:rPr lang="en-US" sz="1200" b="1" dirty="0">
                <a:solidFill>
                  <a:srgbClr val="0B3D2E"/>
                </a:solidFill>
                <a:latin typeface="Calibri" pitchFamily="34" charset="0"/>
                <a:ea typeface="Calibri" pitchFamily="34" charset="-122"/>
                <a:cs typeface="Calibri" pitchFamily="34" charset="-120"/>
              </a:rPr>
              <a:t>Audit trail</a:t>
            </a:r>
            <a:endParaRPr lang="en-US" sz="1200" dirty="0"/>
          </a:p>
        </p:txBody>
      </p:sp>
      <p:sp>
        <p:nvSpPr>
          <p:cNvPr id="33" name="Text 23"/>
          <p:cNvSpPr/>
          <p:nvPr/>
        </p:nvSpPr>
        <p:spPr>
          <a:xfrm>
            <a:off x="1005840" y="4370832"/>
            <a:ext cx="3493008" cy="438912"/>
          </a:xfrm>
          <a:prstGeom prst="rect">
            <a:avLst/>
          </a:prstGeom>
          <a:noFill/>
          <a:ln/>
        </p:spPr>
        <p:txBody>
          <a:bodyPr wrap="square" lIns="0" tIns="0" rIns="0" bIns="0" rtlCol="0" anchor="ctr"/>
          <a:lstStyle/>
          <a:p>
            <a:pPr marL="0" indent="0">
              <a:lnSpc>
                <a:spcPct val="105000"/>
              </a:lnSpc>
              <a:buNone/>
            </a:pPr>
            <a:r>
              <a:rPr lang="en-US" sz="1050" dirty="0">
                <a:solidFill>
                  <a:srgbClr val="55705F"/>
                </a:solidFill>
                <a:latin typeface="Calibri" pitchFamily="34" charset="0"/>
                <a:ea typeface="Calibri" pitchFamily="34" charset="-122"/>
                <a:cs typeface="Calibri" pitchFamily="34" charset="-120"/>
              </a:rPr>
              <a:t>Who prompted, what sources were used, who approved.</a:t>
            </a:r>
            <a:endParaRPr lang="en-US" sz="1050" dirty="0"/>
          </a:p>
        </p:txBody>
      </p:sp>
      <p:sp>
        <p:nvSpPr>
          <p:cNvPr id="34" name="Shape 24"/>
          <p:cNvSpPr/>
          <p:nvPr/>
        </p:nvSpPr>
        <p:spPr>
          <a:xfrm>
            <a:off x="4754880" y="4187952"/>
            <a:ext cx="365760" cy="365760"/>
          </a:xfrm>
          <a:prstGeom prst="ellipse">
            <a:avLst/>
          </a:prstGeom>
          <a:solidFill>
            <a:srgbClr val="0B3D2E"/>
          </a:solidFill>
          <a:ln/>
        </p:spPr>
      </p:sp>
      <p:pic>
        <p:nvPicPr>
          <p:cNvPr id="35" name="Image 8" descr="preencoded.png"/>
          <p:cNvPicPr>
            <a:picLocks noChangeAspect="1"/>
          </p:cNvPicPr>
          <p:nvPr/>
        </p:nvPicPr>
        <p:blipFill>
          <a:blip r:embed="rId10"/>
          <a:stretch>
            <a:fillRect/>
          </a:stretch>
        </p:blipFill>
        <p:spPr>
          <a:xfrm>
            <a:off x="4853635" y="4286707"/>
            <a:ext cx="168250" cy="168250"/>
          </a:xfrm>
          <a:prstGeom prst="rect">
            <a:avLst/>
          </a:prstGeom>
        </p:spPr>
      </p:pic>
      <p:sp>
        <p:nvSpPr>
          <p:cNvPr id="36" name="Text 25"/>
          <p:cNvSpPr/>
          <p:nvPr/>
        </p:nvSpPr>
        <p:spPr>
          <a:xfrm>
            <a:off x="5257800" y="4133088"/>
            <a:ext cx="3493008" cy="237744"/>
          </a:xfrm>
          <a:prstGeom prst="rect">
            <a:avLst/>
          </a:prstGeom>
          <a:noFill/>
          <a:ln/>
        </p:spPr>
        <p:txBody>
          <a:bodyPr wrap="square" lIns="0" tIns="0" rIns="0" bIns="0" rtlCol="0" anchor="ctr"/>
          <a:lstStyle/>
          <a:p>
            <a:pPr marL="0" indent="0">
              <a:buNone/>
            </a:pPr>
            <a:r>
              <a:rPr lang="en-US" sz="1200" b="1" dirty="0">
                <a:solidFill>
                  <a:srgbClr val="0B3D2E"/>
                </a:solidFill>
                <a:latin typeface="Calibri" pitchFamily="34" charset="0"/>
                <a:ea typeface="Calibri" pitchFamily="34" charset="-122"/>
                <a:cs typeface="Calibri" pitchFamily="34" charset="-120"/>
              </a:rPr>
              <a:t>Not legal advice</a:t>
            </a:r>
            <a:endParaRPr lang="en-US" sz="1200" dirty="0"/>
          </a:p>
        </p:txBody>
      </p:sp>
      <p:sp>
        <p:nvSpPr>
          <p:cNvPr id="37" name="Text 26"/>
          <p:cNvSpPr/>
          <p:nvPr/>
        </p:nvSpPr>
        <p:spPr>
          <a:xfrm>
            <a:off x="5257800" y="4370832"/>
            <a:ext cx="3493008" cy="438912"/>
          </a:xfrm>
          <a:prstGeom prst="rect">
            <a:avLst/>
          </a:prstGeom>
          <a:noFill/>
          <a:ln/>
        </p:spPr>
        <p:txBody>
          <a:bodyPr wrap="square" lIns="0" tIns="0" rIns="0" bIns="0" rtlCol="0" anchor="ctr"/>
          <a:lstStyle/>
          <a:p>
            <a:pPr marL="0" indent="0">
              <a:lnSpc>
                <a:spcPct val="105000"/>
              </a:lnSpc>
              <a:buNone/>
            </a:pPr>
            <a:r>
              <a:rPr lang="en-US" sz="1050" dirty="0">
                <a:solidFill>
                  <a:srgbClr val="55705F"/>
                </a:solidFill>
                <a:latin typeface="Calibri" pitchFamily="34" charset="0"/>
                <a:ea typeface="Calibri" pitchFamily="34" charset="-122"/>
                <a:cs typeface="Calibri" pitchFamily="34" charset="-120"/>
              </a:rPr>
              <a:t>Compliance support — never autonomous compliance decisions.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SECURITY &amp; DATA HANDLING</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Dedicated, access-controlled, and yours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marL="0" indent="0">
              <a:buNone/>
            </a:pPr>
            <a:r>
              <a:rPr lang="en-US" sz="1250" dirty="0">
                <a:solidFill>
                  <a:srgbClr val="55705F"/>
                </a:solidFill>
                <a:latin typeface="Calibri" pitchFamily="34" charset="0"/>
                <a:ea typeface="Calibri" pitchFamily="34" charset="-122"/>
                <a:cs typeface="Calibri" pitchFamily="34" charset="-120"/>
              </a:rPr>
              <a:t>High-level by design — detailed security questions go to your IT/security review, in writing.</a:t>
            </a:r>
            <a:endParaRPr lang="en-US" sz="1250" dirty="0"/>
          </a:p>
        </p:txBody>
      </p:sp>
      <p:pic>
        <p:nvPicPr>
          <p:cNvPr id="5"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6" name="Shape 3"/>
          <p:cNvSpPr/>
          <p:nvPr/>
        </p:nvSpPr>
        <p:spPr>
          <a:xfrm>
            <a:off x="502920"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7" name="Shape 4"/>
          <p:cNvSpPr/>
          <p:nvPr/>
        </p:nvSpPr>
        <p:spPr>
          <a:xfrm>
            <a:off x="685800" y="1755648"/>
            <a:ext cx="384048" cy="384048"/>
          </a:xfrm>
          <a:prstGeom prst="ellipse">
            <a:avLst/>
          </a:prstGeom>
          <a:solidFill>
            <a:srgbClr val="0B3D2E"/>
          </a:solidFill>
          <a:ln/>
        </p:spPr>
      </p:sp>
      <p:pic>
        <p:nvPicPr>
          <p:cNvPr id="8" name="Image 1" descr="preencoded.png"/>
          <p:cNvPicPr>
            <a:picLocks noChangeAspect="1"/>
          </p:cNvPicPr>
          <p:nvPr/>
        </p:nvPicPr>
        <p:blipFill>
          <a:blip r:embed="rId4"/>
          <a:stretch>
            <a:fillRect/>
          </a:stretch>
        </p:blipFill>
        <p:spPr>
          <a:xfrm>
            <a:off x="789493" y="1859341"/>
            <a:ext cx="176662" cy="176662"/>
          </a:xfrm>
          <a:prstGeom prst="rect">
            <a:avLst/>
          </a:prstGeom>
        </p:spPr>
      </p:pic>
      <p:sp>
        <p:nvSpPr>
          <p:cNvPr id="9" name="Text 5"/>
          <p:cNvSpPr/>
          <p:nvPr/>
        </p:nvSpPr>
        <p:spPr>
          <a:xfrm>
            <a:off x="1179576" y="1773936"/>
            <a:ext cx="1801368" cy="365760"/>
          </a:xfrm>
          <a:prstGeom prst="rect">
            <a:avLst/>
          </a:prstGeom>
          <a:noFill/>
          <a:ln/>
        </p:spPr>
        <p:txBody>
          <a:bodyPr wrap="square" lIns="0" tIns="0" rIns="0" bIns="0" rtlCol="0" anchor="ctr"/>
          <a:lstStyle/>
          <a:p>
            <a:pPr marL="0" indent="0">
              <a:lnSpc>
                <a:spcPct val="98000"/>
              </a:lnSpc>
              <a:buNone/>
            </a:pPr>
            <a:r>
              <a:rPr lang="en-US" sz="1200" b="1" dirty="0">
                <a:solidFill>
                  <a:srgbClr val="0B3D2E"/>
                </a:solidFill>
                <a:latin typeface="Calibri" pitchFamily="34" charset="0"/>
                <a:ea typeface="Calibri" pitchFamily="34" charset="-122"/>
                <a:cs typeface="Calibri" pitchFamily="34" charset="-120"/>
              </a:rPr>
              <a:t>Dedicated instance</a:t>
            </a:r>
            <a:endParaRPr lang="en-US" sz="1200" dirty="0"/>
          </a:p>
        </p:txBody>
      </p:sp>
      <p:sp>
        <p:nvSpPr>
          <p:cNvPr id="10" name="Text 6"/>
          <p:cNvSpPr/>
          <p:nvPr/>
        </p:nvSpPr>
        <p:spPr>
          <a:xfrm>
            <a:off x="685800" y="2258568"/>
            <a:ext cx="2258568" cy="731520"/>
          </a:xfrm>
          <a:prstGeom prst="rect">
            <a:avLst/>
          </a:prstGeom>
          <a:noFill/>
          <a:ln/>
        </p:spPr>
        <p:txBody>
          <a:bodyPr wrap="square" lIns="0" tIns="0" rIns="0" bIns="0" rtlCol="0" anchor="ctr"/>
          <a:lstStyle/>
          <a:p>
            <a:pPr marL="0" indent="0">
              <a:lnSpc>
                <a:spcPct val="106000"/>
              </a:lnSpc>
              <a:buNone/>
            </a:pPr>
            <a:r>
              <a:rPr lang="en-US" sz="1050" dirty="0">
                <a:solidFill>
                  <a:srgbClr val="55705F"/>
                </a:solidFill>
                <a:latin typeface="Calibri" pitchFamily="34" charset="0"/>
                <a:ea typeface="Calibri" pitchFamily="34" charset="-122"/>
                <a:cs typeface="Calibri" pitchFamily="34" charset="-120"/>
              </a:rPr>
              <a:t>Your workspace is segregated from every other client.</a:t>
            </a:r>
            <a:endParaRPr lang="en-US" sz="1050" dirty="0"/>
          </a:p>
        </p:txBody>
      </p:sp>
      <p:sp>
        <p:nvSpPr>
          <p:cNvPr id="11" name="Shape 7"/>
          <p:cNvSpPr/>
          <p:nvPr/>
        </p:nvSpPr>
        <p:spPr>
          <a:xfrm>
            <a:off x="3392424"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12" name="Shape 8"/>
          <p:cNvSpPr/>
          <p:nvPr/>
        </p:nvSpPr>
        <p:spPr>
          <a:xfrm>
            <a:off x="3575304" y="1755648"/>
            <a:ext cx="384048" cy="384048"/>
          </a:xfrm>
          <a:prstGeom prst="ellipse">
            <a:avLst/>
          </a:prstGeom>
          <a:solidFill>
            <a:srgbClr val="0B3D2E"/>
          </a:solidFill>
          <a:ln/>
        </p:spPr>
      </p:sp>
      <p:pic>
        <p:nvPicPr>
          <p:cNvPr id="13" name="Image 2" descr="preencoded.png"/>
          <p:cNvPicPr>
            <a:picLocks noChangeAspect="1"/>
          </p:cNvPicPr>
          <p:nvPr/>
        </p:nvPicPr>
        <p:blipFill>
          <a:blip r:embed="rId5"/>
          <a:stretch>
            <a:fillRect/>
          </a:stretch>
        </p:blipFill>
        <p:spPr>
          <a:xfrm>
            <a:off x="3678997" y="1859341"/>
            <a:ext cx="176662" cy="176662"/>
          </a:xfrm>
          <a:prstGeom prst="rect">
            <a:avLst/>
          </a:prstGeom>
        </p:spPr>
      </p:pic>
      <p:sp>
        <p:nvSpPr>
          <p:cNvPr id="14" name="Text 9"/>
          <p:cNvSpPr/>
          <p:nvPr/>
        </p:nvSpPr>
        <p:spPr>
          <a:xfrm>
            <a:off x="4069080" y="1773936"/>
            <a:ext cx="1801368" cy="365760"/>
          </a:xfrm>
          <a:prstGeom prst="rect">
            <a:avLst/>
          </a:prstGeom>
          <a:noFill/>
          <a:ln/>
        </p:spPr>
        <p:txBody>
          <a:bodyPr wrap="square" lIns="0" tIns="0" rIns="0" bIns="0" rtlCol="0" anchor="ctr"/>
          <a:lstStyle/>
          <a:p>
            <a:pPr marL="0" indent="0">
              <a:lnSpc>
                <a:spcPct val="98000"/>
              </a:lnSpc>
              <a:buNone/>
            </a:pPr>
            <a:r>
              <a:rPr lang="en-US" sz="1200" b="1" dirty="0">
                <a:solidFill>
                  <a:srgbClr val="0B3D2E"/>
                </a:solidFill>
                <a:latin typeface="Calibri" pitchFamily="34" charset="0"/>
                <a:ea typeface="Calibri" pitchFamily="34" charset="-122"/>
                <a:cs typeface="Calibri" pitchFamily="34" charset="-120"/>
              </a:rPr>
              <a:t>Controlled ingestion</a:t>
            </a:r>
            <a:endParaRPr lang="en-US" sz="1200" dirty="0"/>
          </a:p>
        </p:txBody>
      </p:sp>
      <p:sp>
        <p:nvSpPr>
          <p:cNvPr id="15" name="Text 10"/>
          <p:cNvSpPr/>
          <p:nvPr/>
        </p:nvSpPr>
        <p:spPr>
          <a:xfrm>
            <a:off x="3575304" y="2258568"/>
            <a:ext cx="2258568" cy="731520"/>
          </a:xfrm>
          <a:prstGeom prst="rect">
            <a:avLst/>
          </a:prstGeom>
          <a:noFill/>
          <a:ln/>
        </p:spPr>
        <p:txBody>
          <a:bodyPr wrap="square" lIns="0" tIns="0" rIns="0" bIns="0" rtlCol="0" anchor="ctr"/>
          <a:lstStyle/>
          <a:p>
            <a:pPr marL="0" indent="0">
              <a:lnSpc>
                <a:spcPct val="106000"/>
              </a:lnSpc>
              <a:buNone/>
            </a:pPr>
            <a:r>
              <a:rPr lang="en-US" sz="1050" dirty="0">
                <a:solidFill>
                  <a:srgbClr val="55705F"/>
                </a:solidFill>
                <a:latin typeface="Calibri" pitchFamily="34" charset="0"/>
                <a:ea typeface="Calibri" pitchFamily="34" charset="-122"/>
                <a:cs typeface="Calibri" pitchFamily="34" charset="-120"/>
              </a:rPr>
              <a:t>Only designated client staff can add source documents.</a:t>
            </a:r>
            <a:endParaRPr lang="en-US" sz="1050" dirty="0"/>
          </a:p>
        </p:txBody>
      </p:sp>
      <p:sp>
        <p:nvSpPr>
          <p:cNvPr id="16" name="Shape 11"/>
          <p:cNvSpPr/>
          <p:nvPr/>
        </p:nvSpPr>
        <p:spPr>
          <a:xfrm>
            <a:off x="6281928" y="1572768"/>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17" name="Shape 12"/>
          <p:cNvSpPr/>
          <p:nvPr/>
        </p:nvSpPr>
        <p:spPr>
          <a:xfrm>
            <a:off x="6464808" y="1755648"/>
            <a:ext cx="384048" cy="384048"/>
          </a:xfrm>
          <a:prstGeom prst="ellipse">
            <a:avLst/>
          </a:prstGeom>
          <a:solidFill>
            <a:srgbClr val="0B3D2E"/>
          </a:solidFill>
          <a:ln/>
        </p:spPr>
      </p:sp>
      <p:pic>
        <p:nvPicPr>
          <p:cNvPr id="18" name="Image 3" descr="preencoded.png"/>
          <p:cNvPicPr>
            <a:picLocks noChangeAspect="1"/>
          </p:cNvPicPr>
          <p:nvPr/>
        </p:nvPicPr>
        <p:blipFill>
          <a:blip r:embed="rId6"/>
          <a:stretch>
            <a:fillRect/>
          </a:stretch>
        </p:blipFill>
        <p:spPr>
          <a:xfrm>
            <a:off x="6568501" y="1859341"/>
            <a:ext cx="176662" cy="176662"/>
          </a:xfrm>
          <a:prstGeom prst="rect">
            <a:avLst/>
          </a:prstGeom>
        </p:spPr>
      </p:pic>
      <p:sp>
        <p:nvSpPr>
          <p:cNvPr id="19" name="Text 13"/>
          <p:cNvSpPr/>
          <p:nvPr/>
        </p:nvSpPr>
        <p:spPr>
          <a:xfrm>
            <a:off x="6958584" y="1773936"/>
            <a:ext cx="1801368" cy="365760"/>
          </a:xfrm>
          <a:prstGeom prst="rect">
            <a:avLst/>
          </a:prstGeom>
          <a:noFill/>
          <a:ln/>
        </p:spPr>
        <p:txBody>
          <a:bodyPr wrap="square" lIns="0" tIns="0" rIns="0" bIns="0" rtlCol="0" anchor="ctr"/>
          <a:lstStyle/>
          <a:p>
            <a:pPr marL="0" indent="0">
              <a:lnSpc>
                <a:spcPct val="98000"/>
              </a:lnSpc>
              <a:buNone/>
            </a:pPr>
            <a:r>
              <a:rPr lang="en-US" sz="1200" b="1" dirty="0">
                <a:solidFill>
                  <a:srgbClr val="0B3D2E"/>
                </a:solidFill>
                <a:latin typeface="Calibri" pitchFamily="34" charset="0"/>
                <a:ea typeface="Calibri" pitchFamily="34" charset="-122"/>
                <a:cs typeface="Calibri" pitchFamily="34" charset="-120"/>
              </a:rPr>
              <a:t>Role-based permissions</a:t>
            </a:r>
            <a:endParaRPr lang="en-US" sz="1200" dirty="0"/>
          </a:p>
        </p:txBody>
      </p:sp>
      <p:sp>
        <p:nvSpPr>
          <p:cNvPr id="20" name="Text 14"/>
          <p:cNvSpPr/>
          <p:nvPr/>
        </p:nvSpPr>
        <p:spPr>
          <a:xfrm>
            <a:off x="6464808" y="2258568"/>
            <a:ext cx="2258568" cy="731520"/>
          </a:xfrm>
          <a:prstGeom prst="rect">
            <a:avLst/>
          </a:prstGeom>
          <a:noFill/>
          <a:ln/>
        </p:spPr>
        <p:txBody>
          <a:bodyPr wrap="square" lIns="0" tIns="0" rIns="0" bIns="0" rtlCol="0" anchor="ctr"/>
          <a:lstStyle/>
          <a:p>
            <a:pPr marL="0" indent="0">
              <a:lnSpc>
                <a:spcPct val="106000"/>
              </a:lnSpc>
              <a:buNone/>
            </a:pPr>
            <a:r>
              <a:rPr lang="en-US" sz="1050" dirty="0">
                <a:solidFill>
                  <a:srgbClr val="55705F"/>
                </a:solidFill>
                <a:latin typeface="Calibri" pitchFamily="34" charset="0"/>
                <a:ea typeface="Calibri" pitchFamily="34" charset="-122"/>
                <a:cs typeface="Calibri" pitchFamily="34" charset="-120"/>
              </a:rPr>
              <a:t>User access scoped to role and need.</a:t>
            </a:r>
            <a:endParaRPr lang="en-US" sz="1050" dirty="0"/>
          </a:p>
        </p:txBody>
      </p:sp>
      <p:sp>
        <p:nvSpPr>
          <p:cNvPr id="21" name="Shape 15"/>
          <p:cNvSpPr/>
          <p:nvPr/>
        </p:nvSpPr>
        <p:spPr>
          <a:xfrm>
            <a:off x="502920"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22" name="Shape 16"/>
          <p:cNvSpPr/>
          <p:nvPr/>
        </p:nvSpPr>
        <p:spPr>
          <a:xfrm>
            <a:off x="685800" y="3474720"/>
            <a:ext cx="384048" cy="384048"/>
          </a:xfrm>
          <a:prstGeom prst="ellipse">
            <a:avLst/>
          </a:prstGeom>
          <a:solidFill>
            <a:srgbClr val="0B3D2E"/>
          </a:solidFill>
          <a:ln/>
        </p:spPr>
      </p:sp>
      <p:pic>
        <p:nvPicPr>
          <p:cNvPr id="23" name="Image 4" descr="preencoded.png"/>
          <p:cNvPicPr>
            <a:picLocks noChangeAspect="1"/>
          </p:cNvPicPr>
          <p:nvPr/>
        </p:nvPicPr>
        <p:blipFill>
          <a:blip r:embed="rId7"/>
          <a:stretch>
            <a:fillRect/>
          </a:stretch>
        </p:blipFill>
        <p:spPr>
          <a:xfrm>
            <a:off x="789493" y="3578413"/>
            <a:ext cx="176662" cy="176662"/>
          </a:xfrm>
          <a:prstGeom prst="rect">
            <a:avLst/>
          </a:prstGeom>
        </p:spPr>
      </p:pic>
      <p:sp>
        <p:nvSpPr>
          <p:cNvPr id="24" name="Text 17"/>
          <p:cNvSpPr/>
          <p:nvPr/>
        </p:nvSpPr>
        <p:spPr>
          <a:xfrm>
            <a:off x="1179576" y="3493008"/>
            <a:ext cx="1801368" cy="365760"/>
          </a:xfrm>
          <a:prstGeom prst="rect">
            <a:avLst/>
          </a:prstGeom>
          <a:noFill/>
          <a:ln/>
        </p:spPr>
        <p:txBody>
          <a:bodyPr wrap="square" lIns="0" tIns="0" rIns="0" bIns="0" rtlCol="0" anchor="ctr"/>
          <a:lstStyle/>
          <a:p>
            <a:pPr marL="0" indent="0">
              <a:lnSpc>
                <a:spcPct val="98000"/>
              </a:lnSpc>
              <a:buNone/>
            </a:pPr>
            <a:r>
              <a:rPr lang="en-US" sz="1200" b="1" dirty="0">
                <a:solidFill>
                  <a:srgbClr val="0B3D2E"/>
                </a:solidFill>
                <a:latin typeface="Calibri" pitchFamily="34" charset="0"/>
                <a:ea typeface="Calibri" pitchFamily="34" charset="-122"/>
                <a:cs typeface="Calibri" pitchFamily="34" charset="-120"/>
              </a:rPr>
              <a:t>Approved-source knowledge base</a:t>
            </a:r>
            <a:endParaRPr lang="en-US" sz="1200" dirty="0"/>
          </a:p>
        </p:txBody>
      </p:sp>
      <p:sp>
        <p:nvSpPr>
          <p:cNvPr id="25" name="Text 18"/>
          <p:cNvSpPr/>
          <p:nvPr/>
        </p:nvSpPr>
        <p:spPr>
          <a:xfrm>
            <a:off x="685800" y="3977640"/>
            <a:ext cx="2258568" cy="731520"/>
          </a:xfrm>
          <a:prstGeom prst="rect">
            <a:avLst/>
          </a:prstGeom>
          <a:noFill/>
          <a:ln/>
        </p:spPr>
        <p:txBody>
          <a:bodyPr wrap="square" lIns="0" tIns="0" rIns="0" bIns="0" rtlCol="0" anchor="ctr"/>
          <a:lstStyle/>
          <a:p>
            <a:pPr marL="0" indent="0">
              <a:lnSpc>
                <a:spcPct val="106000"/>
              </a:lnSpc>
              <a:buNone/>
            </a:pPr>
            <a:r>
              <a:rPr lang="en-US" sz="1050" dirty="0">
                <a:solidFill>
                  <a:srgbClr val="55705F"/>
                </a:solidFill>
                <a:latin typeface="Calibri" pitchFamily="34" charset="0"/>
                <a:ea typeface="Calibri" pitchFamily="34" charset="-122"/>
                <a:cs typeface="Calibri" pitchFamily="34" charset="-120"/>
              </a:rPr>
              <a:t>The workspace answers only from vetted materials.</a:t>
            </a:r>
            <a:endParaRPr lang="en-US" sz="1050" dirty="0"/>
          </a:p>
        </p:txBody>
      </p:sp>
      <p:sp>
        <p:nvSpPr>
          <p:cNvPr id="26" name="Shape 19"/>
          <p:cNvSpPr/>
          <p:nvPr/>
        </p:nvSpPr>
        <p:spPr>
          <a:xfrm>
            <a:off x="3392424" y="3291840"/>
            <a:ext cx="2624328" cy="1481328"/>
          </a:xfrm>
          <a:prstGeom prst="roundRect">
            <a:avLst>
              <a:gd name="adj" fmla="val 4321"/>
            </a:avLst>
          </a:prstGeom>
          <a:solidFill>
            <a:srgbClr val="F4F7F2"/>
          </a:solidFill>
          <a:ln/>
          <a:effectLst>
            <a:outerShdw blurRad="88900" dist="25400" dir="2700000" algn="bl" rotWithShape="0">
              <a:srgbClr val="000000">
                <a:alpha val="13000"/>
              </a:srgbClr>
            </a:outerShdw>
          </a:effectLst>
        </p:spPr>
      </p:sp>
      <p:sp>
        <p:nvSpPr>
          <p:cNvPr id="27" name="Shape 20"/>
          <p:cNvSpPr/>
          <p:nvPr/>
        </p:nvSpPr>
        <p:spPr>
          <a:xfrm>
            <a:off x="3575304" y="3474720"/>
            <a:ext cx="384048" cy="384048"/>
          </a:xfrm>
          <a:prstGeom prst="ellipse">
            <a:avLst/>
          </a:prstGeom>
          <a:solidFill>
            <a:srgbClr val="0B3D2E"/>
          </a:solidFill>
          <a:ln/>
        </p:spPr>
      </p:sp>
      <p:pic>
        <p:nvPicPr>
          <p:cNvPr id="28" name="Image 5" descr="preencoded.png"/>
          <p:cNvPicPr>
            <a:picLocks noChangeAspect="1"/>
          </p:cNvPicPr>
          <p:nvPr/>
        </p:nvPicPr>
        <p:blipFill>
          <a:blip r:embed="rId8"/>
          <a:stretch>
            <a:fillRect/>
          </a:stretch>
        </p:blipFill>
        <p:spPr>
          <a:xfrm>
            <a:off x="3678997" y="3578413"/>
            <a:ext cx="176662" cy="176662"/>
          </a:xfrm>
          <a:prstGeom prst="rect">
            <a:avLst/>
          </a:prstGeom>
        </p:spPr>
      </p:pic>
      <p:sp>
        <p:nvSpPr>
          <p:cNvPr id="29" name="Text 21"/>
          <p:cNvSpPr/>
          <p:nvPr/>
        </p:nvSpPr>
        <p:spPr>
          <a:xfrm>
            <a:off x="4069080" y="3493008"/>
            <a:ext cx="1801368" cy="365760"/>
          </a:xfrm>
          <a:prstGeom prst="rect">
            <a:avLst/>
          </a:prstGeom>
          <a:noFill/>
          <a:ln/>
        </p:spPr>
        <p:txBody>
          <a:bodyPr wrap="square" lIns="0" tIns="0" rIns="0" bIns="0" rtlCol="0" anchor="ctr"/>
          <a:lstStyle/>
          <a:p>
            <a:pPr marL="0" indent="0">
              <a:lnSpc>
                <a:spcPct val="98000"/>
              </a:lnSpc>
              <a:buNone/>
            </a:pPr>
            <a:r>
              <a:rPr lang="en-US" sz="1200" b="1" dirty="0">
                <a:solidFill>
                  <a:srgbClr val="0B3D2E"/>
                </a:solidFill>
                <a:latin typeface="Calibri" pitchFamily="34" charset="0"/>
                <a:ea typeface="Calibri" pitchFamily="34" charset="-122"/>
                <a:cs typeface="Calibri" pitchFamily="34" charset="-120"/>
              </a:rPr>
              <a:t>Client data segregation</a:t>
            </a:r>
            <a:endParaRPr lang="en-US" sz="1200" dirty="0"/>
          </a:p>
        </p:txBody>
      </p:sp>
      <p:sp>
        <p:nvSpPr>
          <p:cNvPr id="30" name="Text 22"/>
          <p:cNvSpPr/>
          <p:nvPr/>
        </p:nvSpPr>
        <p:spPr>
          <a:xfrm>
            <a:off x="3575304" y="3977640"/>
            <a:ext cx="2258568" cy="731520"/>
          </a:xfrm>
          <a:prstGeom prst="rect">
            <a:avLst/>
          </a:prstGeom>
          <a:noFill/>
          <a:ln/>
        </p:spPr>
        <p:txBody>
          <a:bodyPr wrap="square" lIns="0" tIns="0" rIns="0" bIns="0" rtlCol="0" anchor="ctr"/>
          <a:lstStyle/>
          <a:p>
            <a:pPr marL="0" indent="0">
              <a:lnSpc>
                <a:spcPct val="106000"/>
              </a:lnSpc>
              <a:buNone/>
            </a:pPr>
            <a:r>
              <a:rPr lang="en-US" sz="1050" dirty="0">
                <a:solidFill>
                  <a:srgbClr val="55705F"/>
                </a:solidFill>
                <a:latin typeface="Calibri" pitchFamily="34" charset="0"/>
                <a:ea typeface="Calibri" pitchFamily="34" charset="-122"/>
                <a:cs typeface="Calibri" pitchFamily="34" charset="-120"/>
              </a:rPr>
              <a:t>No cross-client mixing of documents or outputs.</a:t>
            </a:r>
            <a:endParaRPr lang="en-US" sz="1050" dirty="0"/>
          </a:p>
        </p:txBody>
      </p:sp>
      <p:sp>
        <p:nvSpPr>
          <p:cNvPr id="31" name="Shape 23"/>
          <p:cNvSpPr/>
          <p:nvPr/>
        </p:nvSpPr>
        <p:spPr>
          <a:xfrm>
            <a:off x="6281928" y="3291840"/>
            <a:ext cx="2624328" cy="1481328"/>
          </a:xfrm>
          <a:prstGeom prst="roundRect">
            <a:avLst>
              <a:gd name="adj" fmla="val 4321"/>
            </a:avLst>
          </a:prstGeom>
          <a:solidFill>
            <a:srgbClr val="EAF6EF"/>
          </a:solidFill>
          <a:ln/>
          <a:effectLst>
            <a:outerShdw blurRad="88900" dist="25400" dir="2700000" algn="bl" rotWithShape="0">
              <a:srgbClr val="000000">
                <a:alpha val="13000"/>
              </a:srgbClr>
            </a:outerShdw>
          </a:effectLst>
        </p:spPr>
      </p:sp>
      <p:sp>
        <p:nvSpPr>
          <p:cNvPr id="32" name="Shape 24"/>
          <p:cNvSpPr/>
          <p:nvPr/>
        </p:nvSpPr>
        <p:spPr>
          <a:xfrm>
            <a:off x="6464808" y="3474720"/>
            <a:ext cx="384048" cy="384048"/>
          </a:xfrm>
          <a:prstGeom prst="ellipse">
            <a:avLst/>
          </a:prstGeom>
          <a:solidFill>
            <a:srgbClr val="0B3D2E"/>
          </a:solidFill>
          <a:ln/>
        </p:spPr>
      </p:sp>
      <p:pic>
        <p:nvPicPr>
          <p:cNvPr id="33" name="Image 6" descr="preencoded.png"/>
          <p:cNvPicPr>
            <a:picLocks noChangeAspect="1"/>
          </p:cNvPicPr>
          <p:nvPr/>
        </p:nvPicPr>
        <p:blipFill>
          <a:blip r:embed="rId9"/>
          <a:stretch>
            <a:fillRect/>
          </a:stretch>
        </p:blipFill>
        <p:spPr>
          <a:xfrm>
            <a:off x="6568501" y="3578413"/>
            <a:ext cx="176662" cy="176662"/>
          </a:xfrm>
          <a:prstGeom prst="rect">
            <a:avLst/>
          </a:prstGeom>
        </p:spPr>
      </p:pic>
      <p:sp>
        <p:nvSpPr>
          <p:cNvPr id="34" name="Text 25"/>
          <p:cNvSpPr/>
          <p:nvPr/>
        </p:nvSpPr>
        <p:spPr>
          <a:xfrm>
            <a:off x="6958584" y="3493008"/>
            <a:ext cx="1801368" cy="365760"/>
          </a:xfrm>
          <a:prstGeom prst="rect">
            <a:avLst/>
          </a:prstGeom>
          <a:noFill/>
          <a:ln/>
        </p:spPr>
        <p:txBody>
          <a:bodyPr wrap="square" lIns="0" tIns="0" rIns="0" bIns="0" rtlCol="0" anchor="ctr"/>
          <a:lstStyle/>
          <a:p>
            <a:pPr marL="0" indent="0">
              <a:lnSpc>
                <a:spcPct val="98000"/>
              </a:lnSpc>
              <a:buNone/>
            </a:pPr>
            <a:r>
              <a:rPr lang="en-US" sz="1200" b="1" dirty="0">
                <a:solidFill>
                  <a:srgbClr val="0B3D2E"/>
                </a:solidFill>
                <a:latin typeface="Calibri" pitchFamily="34" charset="0"/>
                <a:ea typeface="Calibri" pitchFamily="34" charset="-122"/>
                <a:cs typeface="Calibri" pitchFamily="34" charset="-120"/>
              </a:rPr>
              <a:t>Redacted pilot option</a:t>
            </a:r>
            <a:endParaRPr lang="en-US" sz="1200" dirty="0"/>
          </a:p>
        </p:txBody>
      </p:sp>
      <p:sp>
        <p:nvSpPr>
          <p:cNvPr id="35" name="Text 26"/>
          <p:cNvSpPr/>
          <p:nvPr/>
        </p:nvSpPr>
        <p:spPr>
          <a:xfrm>
            <a:off x="6464808" y="3977640"/>
            <a:ext cx="2258568" cy="731520"/>
          </a:xfrm>
          <a:prstGeom prst="rect">
            <a:avLst/>
          </a:prstGeom>
          <a:noFill/>
          <a:ln/>
        </p:spPr>
        <p:txBody>
          <a:bodyPr wrap="square" lIns="0" tIns="0" rIns="0" bIns="0" rtlCol="0" anchor="ctr"/>
          <a:lstStyle/>
          <a:p>
            <a:pPr marL="0" indent="0">
              <a:lnSpc>
                <a:spcPct val="106000"/>
              </a:lnSpc>
              <a:buNone/>
            </a:pPr>
            <a:r>
              <a:rPr lang="en-US" sz="1050" dirty="0">
                <a:solidFill>
                  <a:srgbClr val="55705F"/>
                </a:solidFill>
                <a:latin typeface="Calibri" pitchFamily="34" charset="0"/>
                <a:ea typeface="Calibri" pitchFamily="34" charset="-122"/>
                <a:cs typeface="Calibri" pitchFamily="34" charset="-120"/>
              </a:rPr>
              <a:t>Start with non-sensitive or redacted documents — expand only when comfortable.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PILOT PROPOSAL</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A 30-day redacted pilot</a:t>
            </a:r>
            <a:endParaRPr lang="en-US" sz="2700" dirty="0"/>
          </a:p>
        </p:txBody>
      </p:sp>
      <p:pic>
        <p:nvPicPr>
          <p:cNvPr id="4"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5" name="Shape 2"/>
          <p:cNvSpPr/>
          <p:nvPr/>
        </p:nvSpPr>
        <p:spPr>
          <a:xfrm>
            <a:off x="502920" y="1417320"/>
            <a:ext cx="3931920" cy="1463040"/>
          </a:xfrm>
          <a:prstGeom prst="roundRect">
            <a:avLst>
              <a:gd name="adj" fmla="val 4375"/>
            </a:avLst>
          </a:prstGeom>
          <a:solidFill>
            <a:srgbClr val="F4F7F2"/>
          </a:solidFill>
          <a:ln/>
          <a:effectLst>
            <a:outerShdw blurRad="88900" dist="25400" dir="2700000" algn="bl" rotWithShape="0">
              <a:srgbClr val="000000">
                <a:alpha val="13000"/>
              </a:srgbClr>
            </a:outerShdw>
          </a:effectLst>
        </p:spPr>
      </p:sp>
      <p:sp>
        <p:nvSpPr>
          <p:cNvPr id="6" name="Text 3"/>
          <p:cNvSpPr/>
          <p:nvPr/>
        </p:nvSpPr>
        <p:spPr>
          <a:xfrm>
            <a:off x="731520" y="1572768"/>
            <a:ext cx="3474720" cy="219456"/>
          </a:xfrm>
          <a:prstGeom prst="rect">
            <a:avLst/>
          </a:prstGeom>
          <a:noFill/>
          <a:ln/>
        </p:spPr>
        <p:txBody>
          <a:bodyPr wrap="square" lIns="0" tIns="0" rIns="0" bIns="0" rtlCol="0" anchor="ctr"/>
          <a:lstStyle/>
          <a:p>
            <a:pPr marL="0" indent="0">
              <a:buNone/>
            </a:pPr>
            <a:r>
              <a:rPr lang="en-US" sz="1050" b="1" kern="0" spc="200" dirty="0">
                <a:solidFill>
                  <a:srgbClr val="008236"/>
                </a:solidFill>
                <a:latin typeface="Calibri" pitchFamily="34" charset="0"/>
                <a:ea typeface="Calibri" pitchFamily="34" charset="-122"/>
                <a:cs typeface="Calibri" pitchFamily="34" charset="-120"/>
              </a:rPr>
              <a:t>SCOPE</a:t>
            </a:r>
            <a:endParaRPr lang="en-US" sz="1050" dirty="0"/>
          </a:p>
        </p:txBody>
      </p:sp>
      <p:sp>
        <p:nvSpPr>
          <p:cNvPr id="7" name="Text 4"/>
          <p:cNvSpPr/>
          <p:nvPr/>
        </p:nvSpPr>
        <p:spPr>
          <a:xfrm>
            <a:off x="731520" y="1810512"/>
            <a:ext cx="3474720" cy="914400"/>
          </a:xfrm>
          <a:prstGeom prst="rect">
            <a:avLst/>
          </a:prstGeom>
          <a:noFill/>
          <a:ln/>
        </p:spPr>
        <p:txBody>
          <a:bodyPr wrap="square" lIns="0" tIns="0" rIns="0" bIns="0" rtlCol="0" anchor="ctr"/>
          <a:lstStyle/>
          <a:p>
            <a:pPr marL="0" indent="0">
              <a:lnSpc>
                <a:spcPct val="112000"/>
              </a:lnSpc>
              <a:buNone/>
            </a:pPr>
            <a:r>
              <a:rPr lang="en-US" sz="1150" dirty="0">
                <a:solidFill>
                  <a:srgbClr val="07281D"/>
                </a:solidFill>
                <a:latin typeface="Calibri" pitchFamily="34" charset="0"/>
                <a:ea typeface="Calibri" pitchFamily="34" charset="-122"/>
                <a:cs typeface="Calibri" pitchFamily="34" charset="-120"/>
              </a:rPr>
              <a:t>1–3 sites or one compliance workflow — your pick. Inspection prep and corrective action follow-up are natural candidates.</a:t>
            </a:r>
            <a:endParaRPr lang="en-US" sz="1150" dirty="0"/>
          </a:p>
        </p:txBody>
      </p:sp>
      <p:sp>
        <p:nvSpPr>
          <p:cNvPr id="8" name="Shape 5"/>
          <p:cNvSpPr/>
          <p:nvPr/>
        </p:nvSpPr>
        <p:spPr>
          <a:xfrm>
            <a:off x="502920" y="3017520"/>
            <a:ext cx="3931920" cy="1691640"/>
          </a:xfrm>
          <a:prstGeom prst="roundRect">
            <a:avLst>
              <a:gd name="adj" fmla="val 3784"/>
            </a:avLst>
          </a:prstGeom>
          <a:solidFill>
            <a:srgbClr val="F4F7F2"/>
          </a:solidFill>
          <a:ln/>
          <a:effectLst>
            <a:outerShdw blurRad="88900" dist="25400" dir="2700000" algn="bl" rotWithShape="0">
              <a:srgbClr val="000000">
                <a:alpha val="13000"/>
              </a:srgbClr>
            </a:outerShdw>
          </a:effectLst>
        </p:spPr>
      </p:sp>
      <p:sp>
        <p:nvSpPr>
          <p:cNvPr id="9" name="Text 6"/>
          <p:cNvSpPr/>
          <p:nvPr/>
        </p:nvSpPr>
        <p:spPr>
          <a:xfrm>
            <a:off x="731520" y="3172968"/>
            <a:ext cx="3474720" cy="219456"/>
          </a:xfrm>
          <a:prstGeom prst="rect">
            <a:avLst/>
          </a:prstGeom>
          <a:noFill/>
          <a:ln/>
        </p:spPr>
        <p:txBody>
          <a:bodyPr wrap="square" lIns="0" tIns="0" rIns="0" bIns="0" rtlCol="0" anchor="ctr"/>
          <a:lstStyle/>
          <a:p>
            <a:pPr marL="0" indent="0">
              <a:buNone/>
            </a:pPr>
            <a:r>
              <a:rPr lang="en-US" sz="1050" b="1" kern="0" spc="200" dirty="0">
                <a:solidFill>
                  <a:srgbClr val="008236"/>
                </a:solidFill>
                <a:latin typeface="Calibri" pitchFamily="34" charset="0"/>
                <a:ea typeface="Calibri" pitchFamily="34" charset="-122"/>
                <a:cs typeface="Calibri" pitchFamily="34" charset="-120"/>
              </a:rPr>
              <a:t>INPUTS (REDACTED WELCOME)</a:t>
            </a:r>
            <a:endParaRPr lang="en-US" sz="1050" dirty="0"/>
          </a:p>
        </p:txBody>
      </p:sp>
      <p:sp>
        <p:nvSpPr>
          <p:cNvPr id="10" name="Text 7"/>
          <p:cNvSpPr/>
          <p:nvPr/>
        </p:nvSpPr>
        <p:spPr>
          <a:xfrm>
            <a:off x="731520" y="3419856"/>
            <a:ext cx="3474720" cy="118872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07281D"/>
                </a:solidFill>
                <a:latin typeface="Calibri" pitchFamily="34" charset="0"/>
                <a:ea typeface="Calibri" pitchFamily="34" charset="-122"/>
                <a:cs typeface="Calibri" pitchFamily="34" charset="-120"/>
              </a:rPr>
              <a:t>Inspection template</a:t>
            </a:r>
            <a:endParaRPr lang="en-US" sz="1150" dirty="0"/>
          </a:p>
          <a:p>
            <a:pPr marL="342900" indent="-342900">
              <a:spcAft>
                <a:spcPts val="400"/>
              </a:spcAft>
              <a:buSzPct val="100000"/>
              <a:buChar char="•"/>
            </a:pPr>
            <a:r>
              <a:rPr lang="en-US" sz="1150" dirty="0">
                <a:solidFill>
                  <a:srgbClr val="07281D"/>
                </a:solidFill>
                <a:latin typeface="Calibri" pitchFamily="34" charset="0"/>
                <a:ea typeface="Calibri" pitchFamily="34" charset="-122"/>
                <a:cs typeface="Calibri" pitchFamily="34" charset="-120"/>
              </a:rPr>
              <a:t>Sample site profile</a:t>
            </a:r>
            <a:endParaRPr lang="en-US" sz="1150" dirty="0"/>
          </a:p>
          <a:p>
            <a:pPr marL="342900" indent="-342900">
              <a:spcAft>
                <a:spcPts val="400"/>
              </a:spcAft>
              <a:buSzPct val="100000"/>
              <a:buChar char="•"/>
            </a:pPr>
            <a:r>
              <a:rPr lang="en-US" sz="1150" dirty="0">
                <a:solidFill>
                  <a:srgbClr val="07281D"/>
                </a:solidFill>
                <a:latin typeface="Calibri" pitchFamily="34" charset="0"/>
                <a:ea typeface="Calibri" pitchFamily="34" charset="-122"/>
                <a:cs typeface="Calibri" pitchFamily="34" charset="-120"/>
              </a:rPr>
              <a:t>Redacted inspection findings</a:t>
            </a:r>
            <a:endParaRPr lang="en-US" sz="1150" dirty="0"/>
          </a:p>
          <a:p>
            <a:pPr marL="342900" indent="-342900">
              <a:spcAft>
                <a:spcPts val="400"/>
              </a:spcAft>
              <a:buSzPct val="100000"/>
              <a:buChar char="•"/>
            </a:pPr>
            <a:r>
              <a:rPr lang="en-US" sz="1150" dirty="0">
                <a:solidFill>
                  <a:srgbClr val="07281D"/>
                </a:solidFill>
                <a:latin typeface="Calibri" pitchFamily="34" charset="0"/>
                <a:ea typeface="Calibri" pitchFamily="34" charset="-122"/>
                <a:cs typeface="Calibri" pitchFamily="34" charset="-120"/>
              </a:rPr>
              <a:t>One permit, plan, or hazardous materials document set</a:t>
            </a:r>
            <a:endParaRPr lang="en-US" sz="1150" dirty="0"/>
          </a:p>
        </p:txBody>
      </p:sp>
      <p:sp>
        <p:nvSpPr>
          <p:cNvPr id="11" name="Shape 8"/>
          <p:cNvSpPr/>
          <p:nvPr/>
        </p:nvSpPr>
        <p:spPr>
          <a:xfrm>
            <a:off x="4709160" y="1417320"/>
            <a:ext cx="3931920" cy="1965960"/>
          </a:xfrm>
          <a:prstGeom prst="roundRect">
            <a:avLst>
              <a:gd name="adj" fmla="val 3256"/>
            </a:avLst>
          </a:prstGeom>
          <a:solidFill>
            <a:srgbClr val="0B3D2E"/>
          </a:solidFill>
          <a:ln/>
          <a:effectLst>
            <a:outerShdw blurRad="88900" dist="25400" dir="2700000" algn="bl" rotWithShape="0">
              <a:srgbClr val="000000">
                <a:alpha val="13000"/>
              </a:srgbClr>
            </a:outerShdw>
          </a:effectLst>
        </p:spPr>
      </p:sp>
      <p:sp>
        <p:nvSpPr>
          <p:cNvPr id="12" name="Text 9"/>
          <p:cNvSpPr/>
          <p:nvPr/>
        </p:nvSpPr>
        <p:spPr>
          <a:xfrm>
            <a:off x="4937760" y="1572768"/>
            <a:ext cx="3474720" cy="219456"/>
          </a:xfrm>
          <a:prstGeom prst="rect">
            <a:avLst/>
          </a:prstGeom>
          <a:noFill/>
          <a:ln/>
        </p:spPr>
        <p:txBody>
          <a:bodyPr wrap="square" lIns="0" tIns="0" rIns="0" bIns="0" rtlCol="0" anchor="ctr"/>
          <a:lstStyle/>
          <a:p>
            <a:pPr marL="0" indent="0">
              <a:buNone/>
            </a:pPr>
            <a:r>
              <a:rPr lang="en-US" sz="1050" b="1" kern="0" spc="200" dirty="0">
                <a:solidFill>
                  <a:srgbClr val="10B981"/>
                </a:solidFill>
                <a:latin typeface="Calibri" pitchFamily="34" charset="0"/>
                <a:ea typeface="Calibri" pitchFamily="34" charset="-122"/>
                <a:cs typeface="Calibri" pitchFamily="34" charset="-120"/>
              </a:rPr>
              <a:t>30-DAY DELIVERABLES</a:t>
            </a:r>
            <a:endParaRPr lang="en-US" sz="1050" dirty="0"/>
          </a:p>
        </p:txBody>
      </p:sp>
      <p:pic>
        <p:nvPicPr>
          <p:cNvPr id="13" name="Image 1" descr="preencoded.png"/>
          <p:cNvPicPr>
            <a:picLocks noChangeAspect="1"/>
          </p:cNvPicPr>
          <p:nvPr/>
        </p:nvPicPr>
        <p:blipFill>
          <a:blip r:embed="rId4"/>
          <a:stretch>
            <a:fillRect/>
          </a:stretch>
        </p:blipFill>
        <p:spPr>
          <a:xfrm>
            <a:off x="4956048" y="1865376"/>
            <a:ext cx="137160" cy="137160"/>
          </a:xfrm>
          <a:prstGeom prst="rect">
            <a:avLst/>
          </a:prstGeom>
        </p:spPr>
      </p:pic>
      <p:sp>
        <p:nvSpPr>
          <p:cNvPr id="14" name="Text 10"/>
          <p:cNvSpPr/>
          <p:nvPr/>
        </p:nvSpPr>
        <p:spPr>
          <a:xfrm>
            <a:off x="5193792" y="1810512"/>
            <a:ext cx="3291840" cy="274320"/>
          </a:xfrm>
          <a:prstGeom prst="rect">
            <a:avLst/>
          </a:prstGeom>
          <a:noFill/>
          <a:ln/>
        </p:spPr>
        <p:txBody>
          <a:bodyPr wrap="square" lIns="0" tIns="0" rIns="0" bIns="0" rtlCol="0" anchor="ctr"/>
          <a:lstStyle/>
          <a:p>
            <a:pPr marL="0" indent="0">
              <a:buNone/>
            </a:pPr>
            <a:r>
              <a:rPr lang="en-US" sz="1100" dirty="0">
                <a:solidFill>
                  <a:srgbClr val="CFE8DA"/>
                </a:solidFill>
                <a:latin typeface="Calibri" pitchFamily="34" charset="0"/>
                <a:ea typeface="Calibri" pitchFamily="34" charset="-122"/>
                <a:cs typeface="Calibri" pitchFamily="34" charset="-120"/>
              </a:rPr>
              <a:t>Searchable client EHS knowledge instance</a:t>
            </a:r>
            <a:endParaRPr lang="en-US" sz="1100" dirty="0"/>
          </a:p>
        </p:txBody>
      </p:sp>
      <p:pic>
        <p:nvPicPr>
          <p:cNvPr id="15" name="Image 2" descr="preencoded.png"/>
          <p:cNvPicPr>
            <a:picLocks noChangeAspect="1"/>
          </p:cNvPicPr>
          <p:nvPr/>
        </p:nvPicPr>
        <p:blipFill>
          <a:blip r:embed="rId4"/>
          <a:stretch>
            <a:fillRect/>
          </a:stretch>
        </p:blipFill>
        <p:spPr>
          <a:xfrm>
            <a:off x="4956048" y="2162556"/>
            <a:ext cx="137160" cy="137160"/>
          </a:xfrm>
          <a:prstGeom prst="rect">
            <a:avLst/>
          </a:prstGeom>
        </p:spPr>
      </p:pic>
      <p:sp>
        <p:nvSpPr>
          <p:cNvPr id="16" name="Text 11"/>
          <p:cNvSpPr/>
          <p:nvPr/>
        </p:nvSpPr>
        <p:spPr>
          <a:xfrm>
            <a:off x="5193792" y="2107692"/>
            <a:ext cx="3291840" cy="274320"/>
          </a:xfrm>
          <a:prstGeom prst="rect">
            <a:avLst/>
          </a:prstGeom>
          <a:noFill/>
          <a:ln/>
        </p:spPr>
        <p:txBody>
          <a:bodyPr wrap="square" lIns="0" tIns="0" rIns="0" bIns="0" rtlCol="0" anchor="ctr"/>
          <a:lstStyle/>
          <a:p>
            <a:pPr marL="0" indent="0">
              <a:buNone/>
            </a:pPr>
            <a:r>
              <a:rPr lang="en-US" sz="1100" dirty="0">
                <a:solidFill>
                  <a:srgbClr val="CFE8DA"/>
                </a:solidFill>
                <a:latin typeface="Calibri" pitchFamily="34" charset="0"/>
                <a:ea typeface="Calibri" pitchFamily="34" charset="-122"/>
                <a:cs typeface="Calibri" pitchFamily="34" charset="-120"/>
              </a:rPr>
              <a:t>10–15 validated example prompts</a:t>
            </a:r>
            <a:endParaRPr lang="en-US" sz="1100" dirty="0"/>
          </a:p>
        </p:txBody>
      </p:sp>
      <p:pic>
        <p:nvPicPr>
          <p:cNvPr id="17" name="Image 3" descr="preencoded.png"/>
          <p:cNvPicPr>
            <a:picLocks noChangeAspect="1"/>
          </p:cNvPicPr>
          <p:nvPr/>
        </p:nvPicPr>
        <p:blipFill>
          <a:blip r:embed="rId4"/>
          <a:stretch>
            <a:fillRect/>
          </a:stretch>
        </p:blipFill>
        <p:spPr>
          <a:xfrm>
            <a:off x="4956048" y="2459736"/>
            <a:ext cx="137160" cy="137160"/>
          </a:xfrm>
          <a:prstGeom prst="rect">
            <a:avLst/>
          </a:prstGeom>
        </p:spPr>
      </p:pic>
      <p:sp>
        <p:nvSpPr>
          <p:cNvPr id="18" name="Text 12"/>
          <p:cNvSpPr/>
          <p:nvPr/>
        </p:nvSpPr>
        <p:spPr>
          <a:xfrm>
            <a:off x="5193792" y="2404872"/>
            <a:ext cx="3291840" cy="274320"/>
          </a:xfrm>
          <a:prstGeom prst="rect">
            <a:avLst/>
          </a:prstGeom>
          <a:noFill/>
          <a:ln/>
        </p:spPr>
        <p:txBody>
          <a:bodyPr wrap="square" lIns="0" tIns="0" rIns="0" bIns="0" rtlCol="0" anchor="ctr"/>
          <a:lstStyle/>
          <a:p>
            <a:pPr marL="0" indent="0">
              <a:buNone/>
            </a:pPr>
            <a:r>
              <a:rPr lang="en-US" sz="1100" dirty="0">
                <a:solidFill>
                  <a:srgbClr val="CFE8DA"/>
                </a:solidFill>
                <a:latin typeface="Calibri" pitchFamily="34" charset="0"/>
                <a:ea typeface="Calibri" pitchFamily="34" charset="-122"/>
                <a:cs typeface="Calibri" pitchFamily="34" charset="-120"/>
              </a:rPr>
              <a:t>Sample corrective action tracker</a:t>
            </a:r>
            <a:endParaRPr lang="en-US" sz="1100" dirty="0"/>
          </a:p>
        </p:txBody>
      </p:sp>
      <p:pic>
        <p:nvPicPr>
          <p:cNvPr id="19" name="Image 4" descr="preencoded.png"/>
          <p:cNvPicPr>
            <a:picLocks noChangeAspect="1"/>
          </p:cNvPicPr>
          <p:nvPr/>
        </p:nvPicPr>
        <p:blipFill>
          <a:blip r:embed="rId4"/>
          <a:stretch>
            <a:fillRect/>
          </a:stretch>
        </p:blipFill>
        <p:spPr>
          <a:xfrm>
            <a:off x="4956048" y="2756916"/>
            <a:ext cx="137160" cy="137160"/>
          </a:xfrm>
          <a:prstGeom prst="rect">
            <a:avLst/>
          </a:prstGeom>
        </p:spPr>
      </p:pic>
      <p:sp>
        <p:nvSpPr>
          <p:cNvPr id="20" name="Text 13"/>
          <p:cNvSpPr/>
          <p:nvPr/>
        </p:nvSpPr>
        <p:spPr>
          <a:xfrm>
            <a:off x="5193792" y="2702052"/>
            <a:ext cx="3291840" cy="274320"/>
          </a:xfrm>
          <a:prstGeom prst="rect">
            <a:avLst/>
          </a:prstGeom>
          <a:noFill/>
          <a:ln/>
        </p:spPr>
        <p:txBody>
          <a:bodyPr wrap="square" lIns="0" tIns="0" rIns="0" bIns="0" rtlCol="0" anchor="ctr"/>
          <a:lstStyle/>
          <a:p>
            <a:pPr marL="0" indent="0">
              <a:buNone/>
            </a:pPr>
            <a:r>
              <a:rPr lang="en-US" sz="1100" dirty="0">
                <a:solidFill>
                  <a:srgbClr val="CFE8DA"/>
                </a:solidFill>
                <a:latin typeface="Calibri" pitchFamily="34" charset="0"/>
                <a:ea typeface="Calibri" pitchFamily="34" charset="-122"/>
                <a:cs typeface="Calibri" pitchFamily="34" charset="-120"/>
              </a:rPr>
              <a:t>Sample inspection prep checklist</a:t>
            </a:r>
            <a:endParaRPr lang="en-US" sz="1100" dirty="0"/>
          </a:p>
        </p:txBody>
      </p:sp>
      <p:pic>
        <p:nvPicPr>
          <p:cNvPr id="21" name="Image 5" descr="preencoded.png"/>
          <p:cNvPicPr>
            <a:picLocks noChangeAspect="1"/>
          </p:cNvPicPr>
          <p:nvPr/>
        </p:nvPicPr>
        <p:blipFill>
          <a:blip r:embed="rId4"/>
          <a:stretch>
            <a:fillRect/>
          </a:stretch>
        </p:blipFill>
        <p:spPr>
          <a:xfrm>
            <a:off x="4956048" y="3054096"/>
            <a:ext cx="137160" cy="137160"/>
          </a:xfrm>
          <a:prstGeom prst="rect">
            <a:avLst/>
          </a:prstGeom>
        </p:spPr>
      </p:pic>
      <p:sp>
        <p:nvSpPr>
          <p:cNvPr id="22" name="Text 14"/>
          <p:cNvSpPr/>
          <p:nvPr/>
        </p:nvSpPr>
        <p:spPr>
          <a:xfrm>
            <a:off x="5193792" y="2999232"/>
            <a:ext cx="3291840" cy="274320"/>
          </a:xfrm>
          <a:prstGeom prst="rect">
            <a:avLst/>
          </a:prstGeom>
          <a:noFill/>
          <a:ln/>
        </p:spPr>
        <p:txBody>
          <a:bodyPr wrap="square" lIns="0" tIns="0" rIns="0" bIns="0" rtlCol="0" anchor="ctr"/>
          <a:lstStyle/>
          <a:p>
            <a:pPr marL="0" indent="0">
              <a:buNone/>
            </a:pPr>
            <a:r>
              <a:rPr lang="en-US" sz="1100" dirty="0">
                <a:solidFill>
                  <a:srgbClr val="CFE8DA"/>
                </a:solidFill>
                <a:latin typeface="Calibri" pitchFamily="34" charset="0"/>
                <a:ea typeface="Calibri" pitchFamily="34" charset="-122"/>
                <a:cs typeface="Calibri" pitchFamily="34" charset="-120"/>
              </a:rPr>
              <a:t>Sample monthly compliance briefing</a:t>
            </a:r>
            <a:endParaRPr lang="en-US" sz="1100" dirty="0"/>
          </a:p>
        </p:txBody>
      </p:sp>
      <p:sp>
        <p:nvSpPr>
          <p:cNvPr id="23" name="Shape 15"/>
          <p:cNvSpPr/>
          <p:nvPr/>
        </p:nvSpPr>
        <p:spPr>
          <a:xfrm>
            <a:off x="4709160" y="3520440"/>
            <a:ext cx="3931920" cy="1188720"/>
          </a:xfrm>
          <a:prstGeom prst="roundRect">
            <a:avLst>
              <a:gd name="adj" fmla="val 5385"/>
            </a:avLst>
          </a:prstGeom>
          <a:solidFill>
            <a:srgbClr val="EAF6EF"/>
          </a:solidFill>
          <a:ln/>
          <a:effectLst>
            <a:outerShdw blurRad="88900" dist="25400" dir="2700000" algn="bl" rotWithShape="0">
              <a:srgbClr val="000000">
                <a:alpha val="13000"/>
              </a:srgbClr>
            </a:outerShdw>
          </a:effectLst>
        </p:spPr>
      </p:sp>
      <p:sp>
        <p:nvSpPr>
          <p:cNvPr id="24" name="Text 16"/>
          <p:cNvSpPr/>
          <p:nvPr/>
        </p:nvSpPr>
        <p:spPr>
          <a:xfrm>
            <a:off x="4937760" y="3657600"/>
            <a:ext cx="3474720" cy="219456"/>
          </a:xfrm>
          <a:prstGeom prst="rect">
            <a:avLst/>
          </a:prstGeom>
          <a:noFill/>
          <a:ln/>
        </p:spPr>
        <p:txBody>
          <a:bodyPr wrap="square" lIns="0" tIns="0" rIns="0" bIns="0" rtlCol="0" anchor="ctr"/>
          <a:lstStyle/>
          <a:p>
            <a:pPr marL="0" indent="0">
              <a:buNone/>
            </a:pPr>
            <a:r>
              <a:rPr lang="en-US" sz="1050" b="1" kern="0" spc="200" dirty="0">
                <a:solidFill>
                  <a:srgbClr val="0E7A5A"/>
                </a:solidFill>
                <a:latin typeface="Calibri" pitchFamily="34" charset="0"/>
                <a:ea typeface="Calibri" pitchFamily="34" charset="-122"/>
                <a:cs typeface="Calibri" pitchFamily="34" charset="-120"/>
              </a:rPr>
              <a:t>SUCCESS CRITERIA — SET TOGETHER</a:t>
            </a:r>
            <a:endParaRPr lang="en-US" sz="1050" dirty="0"/>
          </a:p>
        </p:txBody>
      </p:sp>
      <p:sp>
        <p:nvSpPr>
          <p:cNvPr id="25" name="Text 17"/>
          <p:cNvSpPr/>
          <p:nvPr/>
        </p:nvSpPr>
        <p:spPr>
          <a:xfrm>
            <a:off x="4937760" y="3904488"/>
            <a:ext cx="3474720" cy="731520"/>
          </a:xfrm>
          <a:prstGeom prst="rect">
            <a:avLst/>
          </a:prstGeom>
          <a:noFill/>
          <a:ln/>
        </p:spPr>
        <p:txBody>
          <a:bodyPr wrap="square" lIns="0" tIns="0" rIns="0" bIns="0" rtlCol="0" anchor="ctr"/>
          <a:lstStyle/>
          <a:p>
            <a:pPr marL="0" indent="0">
              <a:lnSpc>
                <a:spcPct val="110000"/>
              </a:lnSpc>
              <a:buNone/>
            </a:pPr>
            <a:r>
              <a:rPr lang="en-US" sz="1100" dirty="0">
                <a:solidFill>
                  <a:srgbClr val="07281D"/>
                </a:solidFill>
                <a:latin typeface="Calibri" pitchFamily="34" charset="0"/>
                <a:ea typeface="Calibri" pitchFamily="34" charset="-122"/>
                <a:cs typeface="Calibri" pitchFamily="34" charset="-120"/>
              </a:rPr>
              <a:t>Reduced time to find answers · faster conversion of findings into actions · clearer evidence requirements · improved consistency across sites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IMPLEMENTATION ROADMAP</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30 / 60 / 90 days</a:t>
            </a:r>
            <a:endParaRPr lang="en-US" sz="2700" dirty="0"/>
          </a:p>
        </p:txBody>
      </p:sp>
      <p:sp>
        <p:nvSpPr>
          <p:cNvPr id="4" name="Text 2"/>
          <p:cNvSpPr/>
          <p:nvPr/>
        </p:nvSpPr>
        <p:spPr>
          <a:xfrm>
            <a:off x="502920" y="1042416"/>
            <a:ext cx="8138160" cy="274320"/>
          </a:xfrm>
          <a:prstGeom prst="rect">
            <a:avLst/>
          </a:prstGeom>
          <a:noFill/>
          <a:ln/>
        </p:spPr>
        <p:txBody>
          <a:bodyPr wrap="square" lIns="0" tIns="0" rIns="0" bIns="0" rtlCol="0" anchor="t"/>
          <a:lstStyle/>
          <a:p>
            <a:pPr marL="0" indent="0">
              <a:buNone/>
            </a:pPr>
            <a:r>
              <a:rPr lang="en-US" sz="1250" dirty="0">
                <a:solidFill>
                  <a:srgbClr val="55705F"/>
                </a:solidFill>
                <a:latin typeface="Calibri" pitchFamily="34" charset="0"/>
                <a:ea typeface="Calibri" pitchFamily="34" charset="-122"/>
                <a:cs typeface="Calibri" pitchFamily="34" charset="-120"/>
              </a:rPr>
              <a:t>Days 1–30 are the pilot. Days 31–90 happen only if the pilot earns them.</a:t>
            </a:r>
            <a:endParaRPr lang="en-US" sz="1250" dirty="0"/>
          </a:p>
        </p:txBody>
      </p:sp>
      <p:pic>
        <p:nvPicPr>
          <p:cNvPr id="5"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6" name="Text 3"/>
          <p:cNvSpPr/>
          <p:nvPr/>
        </p:nvSpPr>
        <p:spPr>
          <a:xfrm>
            <a:off x="502920" y="1627632"/>
            <a:ext cx="5084064" cy="237744"/>
          </a:xfrm>
          <a:prstGeom prst="rect">
            <a:avLst/>
          </a:prstGeom>
          <a:noFill/>
          <a:ln/>
        </p:spPr>
        <p:txBody>
          <a:bodyPr wrap="square" lIns="0" tIns="0" rIns="0" bIns="0" rtlCol="0" anchor="ctr"/>
          <a:lstStyle/>
          <a:p>
            <a:pPr marL="0" indent="0" algn="ctr">
              <a:buNone/>
            </a:pPr>
            <a:r>
              <a:rPr lang="en-US" sz="1050" b="1" kern="0" spc="300" dirty="0">
                <a:solidFill>
                  <a:srgbClr val="008236"/>
                </a:solidFill>
                <a:latin typeface="Calibri" pitchFamily="34" charset="0"/>
                <a:ea typeface="Calibri" pitchFamily="34" charset="-122"/>
                <a:cs typeface="Calibri" pitchFamily="34" charset="-120"/>
              </a:rPr>
              <a:t>PILOT</a:t>
            </a:r>
            <a:endParaRPr lang="en-US" sz="1050" dirty="0"/>
          </a:p>
        </p:txBody>
      </p:sp>
      <p:sp>
        <p:nvSpPr>
          <p:cNvPr id="7" name="Text 4"/>
          <p:cNvSpPr/>
          <p:nvPr/>
        </p:nvSpPr>
        <p:spPr>
          <a:xfrm>
            <a:off x="5769864" y="1627632"/>
            <a:ext cx="3328416" cy="237744"/>
          </a:xfrm>
          <a:prstGeom prst="rect">
            <a:avLst/>
          </a:prstGeom>
          <a:noFill/>
          <a:ln/>
        </p:spPr>
        <p:txBody>
          <a:bodyPr wrap="square" lIns="0" tIns="0" rIns="0" bIns="0" rtlCol="0" anchor="ctr"/>
          <a:lstStyle/>
          <a:p>
            <a:pPr marL="0" indent="0" algn="ctr">
              <a:buNone/>
            </a:pPr>
            <a:r>
              <a:rPr lang="en-US" sz="1050" b="1" kern="0" spc="300" dirty="0">
                <a:solidFill>
                  <a:srgbClr val="0B3D2E"/>
                </a:solidFill>
                <a:latin typeface="Calibri" pitchFamily="34" charset="0"/>
                <a:ea typeface="Calibri" pitchFamily="34" charset="-122"/>
                <a:cs typeface="Calibri" pitchFamily="34" charset="-120"/>
              </a:rPr>
              <a:t>EXPANSION — IF EARNED</a:t>
            </a:r>
            <a:endParaRPr lang="en-US" sz="1050" dirty="0"/>
          </a:p>
        </p:txBody>
      </p:sp>
      <p:sp>
        <p:nvSpPr>
          <p:cNvPr id="8" name="Shape 5"/>
          <p:cNvSpPr/>
          <p:nvPr/>
        </p:nvSpPr>
        <p:spPr>
          <a:xfrm>
            <a:off x="502920" y="1901952"/>
            <a:ext cx="5084064" cy="0"/>
          </a:xfrm>
          <a:prstGeom prst="line">
            <a:avLst/>
          </a:prstGeom>
          <a:noFill/>
          <a:ln w="12700">
            <a:solidFill>
              <a:srgbClr val="008236"/>
            </a:solidFill>
            <a:prstDash val="solid"/>
          </a:ln>
        </p:spPr>
      </p:sp>
      <p:sp>
        <p:nvSpPr>
          <p:cNvPr id="9" name="Shape 6"/>
          <p:cNvSpPr/>
          <p:nvPr/>
        </p:nvSpPr>
        <p:spPr>
          <a:xfrm>
            <a:off x="5769864" y="1901952"/>
            <a:ext cx="3328416" cy="0"/>
          </a:xfrm>
          <a:prstGeom prst="line">
            <a:avLst/>
          </a:prstGeom>
          <a:noFill/>
          <a:ln w="12700">
            <a:solidFill>
              <a:srgbClr val="0B3D2E"/>
            </a:solidFill>
            <a:prstDash val="solid"/>
          </a:ln>
        </p:spPr>
      </p:sp>
      <p:sp>
        <p:nvSpPr>
          <p:cNvPr id="10" name="Shape 7"/>
          <p:cNvSpPr/>
          <p:nvPr/>
        </p:nvSpPr>
        <p:spPr>
          <a:xfrm>
            <a:off x="502920" y="2103120"/>
            <a:ext cx="1572768" cy="1874520"/>
          </a:xfrm>
          <a:prstGeom prst="roundRect">
            <a:avLst>
              <a:gd name="adj" fmla="val 4070"/>
            </a:avLst>
          </a:prstGeom>
          <a:solidFill>
            <a:srgbClr val="F4F7F2"/>
          </a:solidFill>
          <a:ln/>
          <a:effectLst>
            <a:outerShdw blurRad="88900" dist="25400" dir="2700000" algn="bl" rotWithShape="0">
              <a:srgbClr val="000000">
                <a:alpha val="13000"/>
              </a:srgbClr>
            </a:outerShdw>
          </a:effectLst>
        </p:spPr>
      </p:sp>
      <p:sp>
        <p:nvSpPr>
          <p:cNvPr id="11" name="Text 8"/>
          <p:cNvSpPr/>
          <p:nvPr/>
        </p:nvSpPr>
        <p:spPr>
          <a:xfrm>
            <a:off x="630936" y="2258568"/>
            <a:ext cx="1316736" cy="274320"/>
          </a:xfrm>
          <a:prstGeom prst="rect">
            <a:avLst/>
          </a:prstGeom>
          <a:noFill/>
          <a:ln/>
        </p:spPr>
        <p:txBody>
          <a:bodyPr wrap="square" lIns="0" tIns="0" rIns="0" bIns="0" rtlCol="0" anchor="ctr"/>
          <a:lstStyle/>
          <a:p>
            <a:pPr marL="0" indent="0">
              <a:buNone/>
            </a:pPr>
            <a:r>
              <a:rPr lang="en-US" sz="1350" b="1" dirty="0">
                <a:solidFill>
                  <a:srgbClr val="0B3D2E"/>
                </a:solidFill>
                <a:latin typeface="Cambria" pitchFamily="34" charset="0"/>
                <a:ea typeface="Cambria" pitchFamily="34" charset="-122"/>
                <a:cs typeface="Cambria" pitchFamily="34" charset="-120"/>
              </a:rPr>
              <a:t>Days 1–10</a:t>
            </a:r>
            <a:endParaRPr lang="en-US" sz="1350" dirty="0"/>
          </a:p>
        </p:txBody>
      </p:sp>
      <p:sp>
        <p:nvSpPr>
          <p:cNvPr id="12" name="Text 9"/>
          <p:cNvSpPr/>
          <p:nvPr/>
        </p:nvSpPr>
        <p:spPr>
          <a:xfrm>
            <a:off x="630936" y="2587752"/>
            <a:ext cx="1316736" cy="1280160"/>
          </a:xfrm>
          <a:prstGeom prst="rect">
            <a:avLst/>
          </a:prstGeom>
          <a:noFill/>
          <a:ln/>
        </p:spPr>
        <p:txBody>
          <a:bodyPr wrap="square" lIns="0" tIns="0" rIns="0" bIns="0" rtlCol="0" anchor="ctr"/>
          <a:lstStyle/>
          <a:p>
            <a:pPr marL="0" indent="0">
              <a:lnSpc>
                <a:spcPct val="110000"/>
              </a:lnSpc>
              <a:buNone/>
            </a:pPr>
            <a:r>
              <a:rPr lang="en-US" sz="1050" dirty="0">
                <a:solidFill>
                  <a:srgbClr val="55705F"/>
                </a:solidFill>
                <a:latin typeface="Calibri" pitchFamily="34" charset="0"/>
                <a:ea typeface="Calibri" pitchFamily="34" charset="-122"/>
                <a:cs typeface="Calibri" pitchFamily="34" charset="-120"/>
              </a:rPr>
              <a:t>Data intake, source review, site &amp; workflow mapping</a:t>
            </a:r>
            <a:endParaRPr lang="en-US" sz="1050" dirty="0"/>
          </a:p>
        </p:txBody>
      </p:sp>
      <p:sp>
        <p:nvSpPr>
          <p:cNvPr id="13" name="Shape 10"/>
          <p:cNvSpPr/>
          <p:nvPr/>
        </p:nvSpPr>
        <p:spPr>
          <a:xfrm>
            <a:off x="2258568" y="2103120"/>
            <a:ext cx="1572768" cy="1874520"/>
          </a:xfrm>
          <a:prstGeom prst="roundRect">
            <a:avLst>
              <a:gd name="adj" fmla="val 4070"/>
            </a:avLst>
          </a:prstGeom>
          <a:solidFill>
            <a:srgbClr val="F4F7F2"/>
          </a:solidFill>
          <a:ln/>
          <a:effectLst>
            <a:outerShdw blurRad="88900" dist="25400" dir="2700000" algn="bl" rotWithShape="0">
              <a:srgbClr val="000000">
                <a:alpha val="13000"/>
              </a:srgbClr>
            </a:outerShdw>
          </a:effectLst>
        </p:spPr>
      </p:sp>
      <p:sp>
        <p:nvSpPr>
          <p:cNvPr id="14" name="Text 11"/>
          <p:cNvSpPr/>
          <p:nvPr/>
        </p:nvSpPr>
        <p:spPr>
          <a:xfrm>
            <a:off x="2386584" y="2258568"/>
            <a:ext cx="1316736" cy="274320"/>
          </a:xfrm>
          <a:prstGeom prst="rect">
            <a:avLst/>
          </a:prstGeom>
          <a:noFill/>
          <a:ln/>
        </p:spPr>
        <p:txBody>
          <a:bodyPr wrap="square" lIns="0" tIns="0" rIns="0" bIns="0" rtlCol="0" anchor="ctr"/>
          <a:lstStyle/>
          <a:p>
            <a:pPr marL="0" indent="0">
              <a:buNone/>
            </a:pPr>
            <a:r>
              <a:rPr lang="en-US" sz="1350" b="1" dirty="0">
                <a:solidFill>
                  <a:srgbClr val="0B3D2E"/>
                </a:solidFill>
                <a:latin typeface="Cambria" pitchFamily="34" charset="0"/>
                <a:ea typeface="Cambria" pitchFamily="34" charset="-122"/>
                <a:cs typeface="Cambria" pitchFamily="34" charset="-120"/>
              </a:rPr>
              <a:t>Days 11–20</a:t>
            </a:r>
            <a:endParaRPr lang="en-US" sz="1350" dirty="0"/>
          </a:p>
        </p:txBody>
      </p:sp>
      <p:sp>
        <p:nvSpPr>
          <p:cNvPr id="15" name="Text 12"/>
          <p:cNvSpPr/>
          <p:nvPr/>
        </p:nvSpPr>
        <p:spPr>
          <a:xfrm>
            <a:off x="2386584" y="2587752"/>
            <a:ext cx="1316736" cy="1280160"/>
          </a:xfrm>
          <a:prstGeom prst="rect">
            <a:avLst/>
          </a:prstGeom>
          <a:noFill/>
          <a:ln/>
        </p:spPr>
        <p:txBody>
          <a:bodyPr wrap="square" lIns="0" tIns="0" rIns="0" bIns="0" rtlCol="0" anchor="ctr"/>
          <a:lstStyle/>
          <a:p>
            <a:pPr marL="0" indent="0">
              <a:lnSpc>
                <a:spcPct val="110000"/>
              </a:lnSpc>
              <a:buNone/>
            </a:pPr>
            <a:r>
              <a:rPr lang="en-US" sz="1050" dirty="0">
                <a:solidFill>
                  <a:srgbClr val="55705F"/>
                </a:solidFill>
                <a:latin typeface="Calibri" pitchFamily="34" charset="0"/>
                <a:ea typeface="Calibri" pitchFamily="34" charset="-122"/>
                <a:cs typeface="Calibri" pitchFamily="34" charset="-120"/>
              </a:rPr>
              <a:t>Knowledge base setup, prompt library, first workflows live</a:t>
            </a:r>
            <a:endParaRPr lang="en-US" sz="1050" dirty="0"/>
          </a:p>
        </p:txBody>
      </p:sp>
      <p:sp>
        <p:nvSpPr>
          <p:cNvPr id="16" name="Shape 13"/>
          <p:cNvSpPr/>
          <p:nvPr/>
        </p:nvSpPr>
        <p:spPr>
          <a:xfrm>
            <a:off x="4014216" y="2103120"/>
            <a:ext cx="1572768" cy="1874520"/>
          </a:xfrm>
          <a:prstGeom prst="roundRect">
            <a:avLst>
              <a:gd name="adj" fmla="val 4070"/>
            </a:avLst>
          </a:prstGeom>
          <a:solidFill>
            <a:srgbClr val="F4F7F2"/>
          </a:solidFill>
          <a:ln/>
          <a:effectLst>
            <a:outerShdw blurRad="88900" dist="25400" dir="2700000" algn="bl" rotWithShape="0">
              <a:srgbClr val="000000">
                <a:alpha val="13000"/>
              </a:srgbClr>
            </a:outerShdw>
          </a:effectLst>
        </p:spPr>
      </p:sp>
      <p:sp>
        <p:nvSpPr>
          <p:cNvPr id="17" name="Text 14"/>
          <p:cNvSpPr/>
          <p:nvPr/>
        </p:nvSpPr>
        <p:spPr>
          <a:xfrm>
            <a:off x="4142232" y="2258568"/>
            <a:ext cx="1316736" cy="274320"/>
          </a:xfrm>
          <a:prstGeom prst="rect">
            <a:avLst/>
          </a:prstGeom>
          <a:noFill/>
          <a:ln/>
        </p:spPr>
        <p:txBody>
          <a:bodyPr wrap="square" lIns="0" tIns="0" rIns="0" bIns="0" rtlCol="0" anchor="ctr"/>
          <a:lstStyle/>
          <a:p>
            <a:pPr marL="0" indent="0">
              <a:buNone/>
            </a:pPr>
            <a:r>
              <a:rPr lang="en-US" sz="1350" b="1" dirty="0">
                <a:solidFill>
                  <a:srgbClr val="0B3D2E"/>
                </a:solidFill>
                <a:latin typeface="Cambria" pitchFamily="34" charset="0"/>
                <a:ea typeface="Cambria" pitchFamily="34" charset="-122"/>
                <a:cs typeface="Cambria" pitchFamily="34" charset="-120"/>
              </a:rPr>
              <a:t>Days 21–30</a:t>
            </a:r>
            <a:endParaRPr lang="en-US" sz="1350" dirty="0"/>
          </a:p>
        </p:txBody>
      </p:sp>
      <p:sp>
        <p:nvSpPr>
          <p:cNvPr id="18" name="Text 15"/>
          <p:cNvSpPr/>
          <p:nvPr/>
        </p:nvSpPr>
        <p:spPr>
          <a:xfrm>
            <a:off x="4142232" y="2587752"/>
            <a:ext cx="1316736" cy="1280160"/>
          </a:xfrm>
          <a:prstGeom prst="rect">
            <a:avLst/>
          </a:prstGeom>
          <a:noFill/>
          <a:ln/>
        </p:spPr>
        <p:txBody>
          <a:bodyPr wrap="square" lIns="0" tIns="0" rIns="0" bIns="0" rtlCol="0" anchor="ctr"/>
          <a:lstStyle/>
          <a:p>
            <a:pPr marL="0" indent="0">
              <a:lnSpc>
                <a:spcPct val="110000"/>
              </a:lnSpc>
              <a:buNone/>
            </a:pPr>
            <a:r>
              <a:rPr lang="en-US" sz="1050" dirty="0">
                <a:solidFill>
                  <a:srgbClr val="55705F"/>
                </a:solidFill>
                <a:latin typeface="Calibri" pitchFamily="34" charset="0"/>
                <a:ea typeface="Calibri" pitchFamily="34" charset="-122"/>
                <a:cs typeface="Calibri" pitchFamily="34" charset="-120"/>
              </a:rPr>
              <a:t>User testing with EHS team, output review, refinement</a:t>
            </a:r>
            <a:endParaRPr lang="en-US" sz="1050" dirty="0"/>
          </a:p>
        </p:txBody>
      </p:sp>
      <p:sp>
        <p:nvSpPr>
          <p:cNvPr id="19" name="Shape 16"/>
          <p:cNvSpPr/>
          <p:nvPr/>
        </p:nvSpPr>
        <p:spPr>
          <a:xfrm>
            <a:off x="5769864" y="2103120"/>
            <a:ext cx="1572768" cy="1874520"/>
          </a:xfrm>
          <a:prstGeom prst="roundRect">
            <a:avLst>
              <a:gd name="adj" fmla="val 4070"/>
            </a:avLst>
          </a:prstGeom>
          <a:solidFill>
            <a:srgbClr val="E8F5EC"/>
          </a:solidFill>
          <a:ln/>
          <a:effectLst>
            <a:outerShdw blurRad="88900" dist="25400" dir="2700000" algn="bl" rotWithShape="0">
              <a:srgbClr val="000000">
                <a:alpha val="13000"/>
              </a:srgbClr>
            </a:outerShdw>
          </a:effectLst>
        </p:spPr>
      </p:sp>
      <p:sp>
        <p:nvSpPr>
          <p:cNvPr id="20" name="Text 17"/>
          <p:cNvSpPr/>
          <p:nvPr/>
        </p:nvSpPr>
        <p:spPr>
          <a:xfrm>
            <a:off x="5897880" y="2258568"/>
            <a:ext cx="1316736" cy="274320"/>
          </a:xfrm>
          <a:prstGeom prst="rect">
            <a:avLst/>
          </a:prstGeom>
          <a:noFill/>
          <a:ln/>
        </p:spPr>
        <p:txBody>
          <a:bodyPr wrap="square" lIns="0" tIns="0" rIns="0" bIns="0" rtlCol="0" anchor="ctr"/>
          <a:lstStyle/>
          <a:p>
            <a:pPr marL="0" indent="0">
              <a:buNone/>
            </a:pPr>
            <a:r>
              <a:rPr lang="en-US" sz="1350" b="1" dirty="0">
                <a:solidFill>
                  <a:srgbClr val="0B3D2E"/>
                </a:solidFill>
                <a:latin typeface="Cambria" pitchFamily="34" charset="0"/>
                <a:ea typeface="Cambria" pitchFamily="34" charset="-122"/>
                <a:cs typeface="Cambria" pitchFamily="34" charset="-120"/>
              </a:rPr>
              <a:t>Days 31–60</a:t>
            </a:r>
            <a:endParaRPr lang="en-US" sz="1350" dirty="0"/>
          </a:p>
        </p:txBody>
      </p:sp>
      <p:sp>
        <p:nvSpPr>
          <p:cNvPr id="21" name="Text 18"/>
          <p:cNvSpPr/>
          <p:nvPr/>
        </p:nvSpPr>
        <p:spPr>
          <a:xfrm>
            <a:off x="5897880" y="2587752"/>
            <a:ext cx="1316736" cy="1280160"/>
          </a:xfrm>
          <a:prstGeom prst="rect">
            <a:avLst/>
          </a:prstGeom>
          <a:noFill/>
          <a:ln/>
        </p:spPr>
        <p:txBody>
          <a:bodyPr wrap="square" lIns="0" tIns="0" rIns="0" bIns="0" rtlCol="0" anchor="ctr"/>
          <a:lstStyle/>
          <a:p>
            <a:pPr marL="0" indent="0">
              <a:lnSpc>
                <a:spcPct val="110000"/>
              </a:lnSpc>
              <a:buNone/>
            </a:pPr>
            <a:r>
              <a:rPr lang="en-US" sz="1050" dirty="0">
                <a:solidFill>
                  <a:srgbClr val="55705F"/>
                </a:solidFill>
                <a:latin typeface="Calibri" pitchFamily="34" charset="0"/>
                <a:ea typeface="Calibri" pitchFamily="34" charset="-122"/>
                <a:cs typeface="Calibri" pitchFamily="34" charset="-120"/>
              </a:rPr>
              <a:t>Expand sites &amp; workflows, add monthly briefing cadence</a:t>
            </a:r>
            <a:endParaRPr lang="en-US" sz="1050" dirty="0"/>
          </a:p>
        </p:txBody>
      </p:sp>
      <p:sp>
        <p:nvSpPr>
          <p:cNvPr id="22" name="Shape 19"/>
          <p:cNvSpPr/>
          <p:nvPr/>
        </p:nvSpPr>
        <p:spPr>
          <a:xfrm>
            <a:off x="7525512" y="2103120"/>
            <a:ext cx="1572768" cy="1874520"/>
          </a:xfrm>
          <a:prstGeom prst="roundRect">
            <a:avLst>
              <a:gd name="adj" fmla="val 4070"/>
            </a:avLst>
          </a:prstGeom>
          <a:solidFill>
            <a:srgbClr val="0B3D2E"/>
          </a:solidFill>
          <a:ln/>
          <a:effectLst>
            <a:outerShdw blurRad="88900" dist="25400" dir="2700000" algn="bl" rotWithShape="0">
              <a:srgbClr val="000000">
                <a:alpha val="13000"/>
              </a:srgbClr>
            </a:outerShdw>
          </a:effectLst>
        </p:spPr>
      </p:sp>
      <p:sp>
        <p:nvSpPr>
          <p:cNvPr id="23" name="Text 20"/>
          <p:cNvSpPr/>
          <p:nvPr/>
        </p:nvSpPr>
        <p:spPr>
          <a:xfrm>
            <a:off x="7653528" y="2258568"/>
            <a:ext cx="1316736" cy="274320"/>
          </a:xfrm>
          <a:prstGeom prst="rect">
            <a:avLst/>
          </a:prstGeom>
          <a:noFill/>
          <a:ln/>
        </p:spPr>
        <p:txBody>
          <a:bodyPr wrap="square" lIns="0" tIns="0" rIns="0" bIns="0" rtlCol="0" anchor="ctr"/>
          <a:lstStyle/>
          <a:p>
            <a:pPr marL="0" indent="0">
              <a:buNone/>
            </a:pPr>
            <a:r>
              <a:rPr lang="en-US" sz="1350" b="1" dirty="0">
                <a:solidFill>
                  <a:srgbClr val="10B981"/>
                </a:solidFill>
                <a:latin typeface="Cambria" pitchFamily="34" charset="0"/>
                <a:ea typeface="Cambria" pitchFamily="34" charset="-122"/>
                <a:cs typeface="Cambria" pitchFamily="34" charset="-120"/>
              </a:rPr>
              <a:t>Days 61–90</a:t>
            </a:r>
            <a:endParaRPr lang="en-US" sz="1350" dirty="0"/>
          </a:p>
        </p:txBody>
      </p:sp>
      <p:sp>
        <p:nvSpPr>
          <p:cNvPr id="24" name="Text 21"/>
          <p:cNvSpPr/>
          <p:nvPr/>
        </p:nvSpPr>
        <p:spPr>
          <a:xfrm>
            <a:off x="7653528" y="2587752"/>
            <a:ext cx="1316736" cy="1280160"/>
          </a:xfrm>
          <a:prstGeom prst="rect">
            <a:avLst/>
          </a:prstGeom>
          <a:noFill/>
          <a:ln/>
        </p:spPr>
        <p:txBody>
          <a:bodyPr wrap="square" lIns="0" tIns="0" rIns="0" bIns="0" rtlCol="0" anchor="ctr"/>
          <a:lstStyle/>
          <a:p>
            <a:pPr marL="0" indent="0">
              <a:lnSpc>
                <a:spcPct val="110000"/>
              </a:lnSpc>
              <a:buNone/>
            </a:pPr>
            <a:r>
              <a:rPr lang="en-US" sz="1050" dirty="0">
                <a:solidFill>
                  <a:srgbClr val="CFE8DA"/>
                </a:solidFill>
                <a:latin typeface="Calibri" pitchFamily="34" charset="0"/>
                <a:ea typeface="Calibri" pitchFamily="34" charset="-122"/>
                <a:cs typeface="Calibri" pitchFamily="34" charset="-120"/>
              </a:rPr>
              <a:t>Governance, reporting, wider rollout to facility managers</a:t>
            </a:r>
            <a:endParaRPr lang="en-US" sz="1050" dirty="0"/>
          </a:p>
        </p:txBody>
      </p:sp>
      <p:sp>
        <p:nvSpPr>
          <p:cNvPr id="25" name="Text 22"/>
          <p:cNvSpPr/>
          <p:nvPr/>
        </p:nvSpPr>
        <p:spPr>
          <a:xfrm>
            <a:off x="502920" y="4343400"/>
            <a:ext cx="8138160" cy="320040"/>
          </a:xfrm>
          <a:prstGeom prst="rect">
            <a:avLst/>
          </a:prstGeom>
          <a:noFill/>
          <a:ln/>
        </p:spPr>
        <p:txBody>
          <a:bodyPr wrap="square" lIns="0" tIns="0" rIns="0" bIns="0" rtlCol="0" anchor="ctr"/>
          <a:lstStyle/>
          <a:p>
            <a:pPr marL="0" indent="0">
              <a:buNone/>
            </a:pPr>
            <a:r>
              <a:rPr lang="en-US" sz="1100" i="1" dirty="0">
                <a:solidFill>
                  <a:srgbClr val="55705F"/>
                </a:solidFill>
                <a:latin typeface="Calibri" pitchFamily="34" charset="0"/>
                <a:ea typeface="Calibri" pitchFamily="34" charset="-122"/>
                <a:cs typeface="Calibri" pitchFamily="34" charset="-120"/>
              </a:rPr>
              <a:t>EHS team time commitment stays modest — mostly reviewing outputs and giving feedback in weeks 3–4. GreenGPT carries the setup work.</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37744"/>
            <a:ext cx="8138160" cy="237744"/>
          </a:xfrm>
          <a:prstGeom prst="rect">
            <a:avLst/>
          </a:prstGeom>
          <a:noFill/>
          <a:ln/>
        </p:spPr>
        <p:txBody>
          <a:bodyPr wrap="square" lIns="0" tIns="0" rIns="0" bIns="0" rtlCol="0" anchor="t"/>
          <a:lstStyle/>
          <a:p>
            <a:pPr marL="0" indent="0">
              <a:buNone/>
            </a:pPr>
            <a:r>
              <a:rPr lang="en-US" sz="1050" b="1" kern="0" spc="300" dirty="0">
                <a:solidFill>
                  <a:srgbClr val="008236"/>
                </a:solidFill>
                <a:latin typeface="Calibri" pitchFamily="34" charset="0"/>
                <a:ea typeface="Calibri" pitchFamily="34" charset="-122"/>
                <a:cs typeface="Calibri" pitchFamily="34" charset="-120"/>
              </a:rPr>
              <a:t>COMMERCIAL MODEL</a:t>
            </a:r>
            <a:endParaRPr lang="en-US" sz="1050" dirty="0"/>
          </a:p>
        </p:txBody>
      </p:sp>
      <p:sp>
        <p:nvSpPr>
          <p:cNvPr id="3" name="Text 1"/>
          <p:cNvSpPr/>
          <p:nvPr/>
        </p:nvSpPr>
        <p:spPr>
          <a:xfrm>
            <a:off x="502920" y="512064"/>
            <a:ext cx="8138160" cy="502920"/>
          </a:xfrm>
          <a:prstGeom prst="rect">
            <a:avLst/>
          </a:prstGeom>
          <a:noFill/>
          <a:ln/>
        </p:spPr>
        <p:txBody>
          <a:bodyPr wrap="square" lIns="0" tIns="0" rIns="0" bIns="0" rtlCol="0" anchor="t"/>
          <a:lstStyle/>
          <a:p>
            <a:pPr marL="0" indent="0">
              <a:buNone/>
            </a:pPr>
            <a:r>
              <a:rPr lang="en-US" sz="2700" b="1" dirty="0">
                <a:solidFill>
                  <a:srgbClr val="0B3D2E"/>
                </a:solidFill>
                <a:latin typeface="Cambria" pitchFamily="34" charset="0"/>
                <a:ea typeface="Cambria" pitchFamily="34" charset="-122"/>
                <a:cs typeface="Cambria" pitchFamily="34" charset="-120"/>
              </a:rPr>
              <a:t>Simple structure, scoped to fit</a:t>
            </a:r>
            <a:endParaRPr lang="en-US" sz="2700" dirty="0"/>
          </a:p>
        </p:txBody>
      </p:sp>
      <p:pic>
        <p:nvPicPr>
          <p:cNvPr id="4" name="Image 0" descr="preencoded.png"/>
          <p:cNvPicPr>
            <a:picLocks noChangeAspect="1"/>
          </p:cNvPicPr>
          <p:nvPr/>
        </p:nvPicPr>
        <p:blipFill>
          <a:blip r:embed="rId3"/>
          <a:stretch>
            <a:fillRect/>
          </a:stretch>
        </p:blipFill>
        <p:spPr>
          <a:xfrm>
            <a:off x="8522208" y="310896"/>
            <a:ext cx="201168" cy="201168"/>
          </a:xfrm>
          <a:prstGeom prst="rect">
            <a:avLst/>
          </a:prstGeom>
        </p:spPr>
      </p:pic>
      <p:sp>
        <p:nvSpPr>
          <p:cNvPr id="5" name="Shape 2"/>
          <p:cNvSpPr/>
          <p:nvPr/>
        </p:nvSpPr>
        <p:spPr>
          <a:xfrm>
            <a:off x="502920" y="1463040"/>
            <a:ext cx="3931920" cy="1965960"/>
          </a:xfrm>
          <a:prstGeom prst="roundRect">
            <a:avLst>
              <a:gd name="adj" fmla="val 3256"/>
            </a:avLst>
          </a:prstGeom>
          <a:solidFill>
            <a:srgbClr val="F4F7F2"/>
          </a:solidFill>
          <a:ln/>
          <a:effectLst>
            <a:outerShdw blurRad="88900" dist="25400" dir="2700000" algn="bl" rotWithShape="0">
              <a:srgbClr val="000000">
                <a:alpha val="13000"/>
              </a:srgbClr>
            </a:outerShdw>
          </a:effectLst>
        </p:spPr>
      </p:sp>
      <p:sp>
        <p:nvSpPr>
          <p:cNvPr id="6" name="Text 3"/>
          <p:cNvSpPr/>
          <p:nvPr/>
        </p:nvSpPr>
        <p:spPr>
          <a:xfrm>
            <a:off x="777240" y="1664208"/>
            <a:ext cx="3383280" cy="237744"/>
          </a:xfrm>
          <a:prstGeom prst="rect">
            <a:avLst/>
          </a:prstGeom>
          <a:noFill/>
          <a:ln/>
        </p:spPr>
        <p:txBody>
          <a:bodyPr wrap="square" lIns="0" tIns="0" rIns="0" bIns="0" rtlCol="0" anchor="ctr"/>
          <a:lstStyle/>
          <a:p>
            <a:pPr marL="0" indent="0">
              <a:buNone/>
            </a:pPr>
            <a:r>
              <a:rPr lang="en-US" sz="1100" b="1" kern="0" spc="300" dirty="0">
                <a:solidFill>
                  <a:srgbClr val="008236"/>
                </a:solidFill>
                <a:latin typeface="Calibri" pitchFamily="34" charset="0"/>
                <a:ea typeface="Calibri" pitchFamily="34" charset="-122"/>
                <a:cs typeface="Calibri" pitchFamily="34" charset="-120"/>
              </a:rPr>
              <a:t>PILOT</a:t>
            </a:r>
            <a:endParaRPr lang="en-US" sz="1100" dirty="0"/>
          </a:p>
        </p:txBody>
      </p:sp>
      <p:sp>
        <p:nvSpPr>
          <p:cNvPr id="7" name="Text 4"/>
          <p:cNvSpPr/>
          <p:nvPr/>
        </p:nvSpPr>
        <p:spPr>
          <a:xfrm>
            <a:off x="777240" y="1938528"/>
            <a:ext cx="3383280" cy="502920"/>
          </a:xfrm>
          <a:prstGeom prst="rect">
            <a:avLst/>
          </a:prstGeom>
          <a:noFill/>
          <a:ln/>
        </p:spPr>
        <p:txBody>
          <a:bodyPr wrap="square" lIns="0" tIns="0" rIns="0" bIns="0" rtlCol="0" anchor="ctr"/>
          <a:lstStyle/>
          <a:p>
            <a:pPr marL="0" indent="0">
              <a:lnSpc>
                <a:spcPct val="105000"/>
              </a:lnSpc>
              <a:buNone/>
            </a:pPr>
            <a:r>
              <a:rPr lang="en-US" sz="1600" b="1" dirty="0">
                <a:solidFill>
                  <a:srgbClr val="0B3D2E"/>
                </a:solidFill>
                <a:latin typeface="Cambria" pitchFamily="34" charset="0"/>
                <a:ea typeface="Cambria" pitchFamily="34" charset="-122"/>
                <a:cs typeface="Cambria" pitchFamily="34" charset="-120"/>
              </a:rPr>
              <a:t>Fixed-fee discovery / pilot engagement</a:t>
            </a:r>
            <a:endParaRPr lang="en-US" sz="1600" dirty="0"/>
          </a:p>
        </p:txBody>
      </p:sp>
      <p:sp>
        <p:nvSpPr>
          <p:cNvPr id="8" name="Text 5"/>
          <p:cNvSpPr/>
          <p:nvPr/>
        </p:nvSpPr>
        <p:spPr>
          <a:xfrm>
            <a:off x="777240" y="2514600"/>
            <a:ext cx="3383280" cy="731520"/>
          </a:xfrm>
          <a:prstGeom prst="rect">
            <a:avLst/>
          </a:prstGeom>
          <a:noFill/>
          <a:ln/>
        </p:spPr>
        <p:txBody>
          <a:bodyPr wrap="square" lIns="0" tIns="0" rIns="0" bIns="0" rtlCol="0" anchor="ctr"/>
          <a:lstStyle/>
          <a:p>
            <a:pPr marL="0" indent="0">
              <a:lnSpc>
                <a:spcPct val="112000"/>
              </a:lnSpc>
              <a:buNone/>
            </a:pPr>
            <a:r>
              <a:rPr lang="en-US" sz="1150" dirty="0">
                <a:solidFill>
                  <a:srgbClr val="55705F"/>
                </a:solidFill>
                <a:latin typeface="Calibri" pitchFamily="34" charset="0"/>
                <a:ea typeface="Calibri" pitchFamily="34" charset="-122"/>
                <a:cs typeface="Calibri" pitchFamily="34" charset="-120"/>
              </a:rPr>
              <a:t>Defined scope, defined deliverables, defined end date. No ongoing obligation.</a:t>
            </a:r>
            <a:endParaRPr lang="en-US" sz="1150" dirty="0"/>
          </a:p>
        </p:txBody>
      </p:sp>
      <p:sp>
        <p:nvSpPr>
          <p:cNvPr id="9" name="Shape 6"/>
          <p:cNvSpPr/>
          <p:nvPr/>
        </p:nvSpPr>
        <p:spPr>
          <a:xfrm>
            <a:off x="4709160" y="1463040"/>
            <a:ext cx="3931920" cy="1965960"/>
          </a:xfrm>
          <a:prstGeom prst="roundRect">
            <a:avLst>
              <a:gd name="adj" fmla="val 3256"/>
            </a:avLst>
          </a:prstGeom>
          <a:solidFill>
            <a:srgbClr val="E8F5EC"/>
          </a:solidFill>
          <a:ln/>
          <a:effectLst>
            <a:outerShdw blurRad="88900" dist="25400" dir="2700000" algn="bl" rotWithShape="0">
              <a:srgbClr val="000000">
                <a:alpha val="13000"/>
              </a:srgbClr>
            </a:outerShdw>
          </a:effectLst>
        </p:spPr>
      </p:sp>
      <p:sp>
        <p:nvSpPr>
          <p:cNvPr id="10" name="Text 7"/>
          <p:cNvSpPr/>
          <p:nvPr/>
        </p:nvSpPr>
        <p:spPr>
          <a:xfrm>
            <a:off x="4983480" y="1664208"/>
            <a:ext cx="3383280" cy="237744"/>
          </a:xfrm>
          <a:prstGeom prst="rect">
            <a:avLst/>
          </a:prstGeom>
          <a:noFill/>
          <a:ln/>
        </p:spPr>
        <p:txBody>
          <a:bodyPr wrap="square" lIns="0" tIns="0" rIns="0" bIns="0" rtlCol="0" anchor="ctr"/>
          <a:lstStyle/>
          <a:p>
            <a:pPr marL="0" indent="0">
              <a:buNone/>
            </a:pPr>
            <a:r>
              <a:rPr lang="en-US" sz="1100" b="1" kern="0" spc="200" dirty="0">
                <a:solidFill>
                  <a:srgbClr val="0B3D2E"/>
                </a:solidFill>
                <a:latin typeface="Calibri" pitchFamily="34" charset="0"/>
                <a:ea typeface="Calibri" pitchFamily="34" charset="-122"/>
                <a:cs typeface="Calibri" pitchFamily="34" charset="-120"/>
              </a:rPr>
              <a:t>ONGOING — IF THE PILOT SUCCEEDS</a:t>
            </a:r>
            <a:endParaRPr lang="en-US" sz="1100" dirty="0"/>
          </a:p>
        </p:txBody>
      </p:sp>
      <p:sp>
        <p:nvSpPr>
          <p:cNvPr id="11" name="Text 8"/>
          <p:cNvSpPr/>
          <p:nvPr/>
        </p:nvSpPr>
        <p:spPr>
          <a:xfrm>
            <a:off x="4983480" y="1938528"/>
            <a:ext cx="3383280" cy="502920"/>
          </a:xfrm>
          <a:prstGeom prst="rect">
            <a:avLst/>
          </a:prstGeom>
          <a:noFill/>
          <a:ln/>
        </p:spPr>
        <p:txBody>
          <a:bodyPr wrap="square" lIns="0" tIns="0" rIns="0" bIns="0" rtlCol="0" anchor="ctr"/>
          <a:lstStyle/>
          <a:p>
            <a:pPr marL="0" indent="0">
              <a:lnSpc>
                <a:spcPct val="105000"/>
              </a:lnSpc>
              <a:buNone/>
            </a:pPr>
            <a:r>
              <a:rPr lang="en-US" sz="1600" b="1" dirty="0">
                <a:solidFill>
                  <a:srgbClr val="0B3D2E"/>
                </a:solidFill>
                <a:latin typeface="Cambria" pitchFamily="34" charset="0"/>
                <a:ea typeface="Cambria" pitchFamily="34" charset="-122"/>
                <a:cs typeface="Cambria" pitchFamily="34" charset="-120"/>
              </a:rPr>
              <a:t>Monthly support retainer or managed workspace fee</a:t>
            </a:r>
            <a:endParaRPr lang="en-US" sz="1600" dirty="0"/>
          </a:p>
        </p:txBody>
      </p:sp>
      <p:sp>
        <p:nvSpPr>
          <p:cNvPr id="12" name="Text 9"/>
          <p:cNvSpPr/>
          <p:nvPr/>
        </p:nvSpPr>
        <p:spPr>
          <a:xfrm>
            <a:off x="4983480" y="2514600"/>
            <a:ext cx="3383280" cy="731520"/>
          </a:xfrm>
          <a:prstGeom prst="rect">
            <a:avLst/>
          </a:prstGeom>
          <a:noFill/>
          <a:ln/>
        </p:spPr>
        <p:txBody>
          <a:bodyPr wrap="square" lIns="0" tIns="0" rIns="0" bIns="0" rtlCol="0" anchor="ctr"/>
          <a:lstStyle/>
          <a:p>
            <a:pPr marL="0" indent="0">
              <a:lnSpc>
                <a:spcPct val="112000"/>
              </a:lnSpc>
              <a:buNone/>
            </a:pPr>
            <a:r>
              <a:rPr lang="en-US" sz="1150" dirty="0">
                <a:solidFill>
                  <a:srgbClr val="55705F"/>
                </a:solidFill>
                <a:latin typeface="Calibri" pitchFamily="34" charset="0"/>
                <a:ea typeface="Calibri" pitchFamily="34" charset="-122"/>
                <a:cs typeface="Calibri" pitchFamily="34" charset="-120"/>
              </a:rPr>
              <a:t>Shaped by what the pilot reveals about actual usage — sized to how your organization budgets EHS support.</a:t>
            </a:r>
            <a:endParaRPr lang="en-US" sz="1150" dirty="0"/>
          </a:p>
        </p:txBody>
      </p:sp>
      <p:sp>
        <p:nvSpPr>
          <p:cNvPr id="13" name="Text 10"/>
          <p:cNvSpPr/>
          <p:nvPr/>
        </p:nvSpPr>
        <p:spPr>
          <a:xfrm>
            <a:off x="502920" y="3657600"/>
            <a:ext cx="8138160" cy="237744"/>
          </a:xfrm>
          <a:prstGeom prst="rect">
            <a:avLst/>
          </a:prstGeom>
          <a:noFill/>
          <a:ln/>
        </p:spPr>
        <p:txBody>
          <a:bodyPr wrap="square" lIns="0" tIns="0" rIns="0" bIns="0" rtlCol="0" anchor="ctr"/>
          <a:lstStyle/>
          <a:p>
            <a:pPr marL="0" indent="0" algn="ctr">
              <a:buNone/>
            </a:pPr>
            <a:r>
              <a:rPr lang="en-US" sz="1050" b="1" kern="0" spc="300" dirty="0">
                <a:solidFill>
                  <a:srgbClr val="55705F"/>
                </a:solidFill>
                <a:latin typeface="Calibri" pitchFamily="34" charset="0"/>
                <a:ea typeface="Calibri" pitchFamily="34" charset="-122"/>
                <a:cs typeface="Calibri" pitchFamily="34" charset="-120"/>
              </a:rPr>
              <a:t>SCOPE DRIVERS</a:t>
            </a:r>
            <a:endParaRPr lang="en-US" sz="1050" dirty="0"/>
          </a:p>
        </p:txBody>
      </p:sp>
      <p:sp>
        <p:nvSpPr>
          <p:cNvPr id="14" name="Shape 11"/>
          <p:cNvSpPr/>
          <p:nvPr/>
        </p:nvSpPr>
        <p:spPr>
          <a:xfrm>
            <a:off x="502920" y="3977640"/>
            <a:ext cx="1929384" cy="548640"/>
          </a:xfrm>
          <a:prstGeom prst="roundRect">
            <a:avLst>
              <a:gd name="adj" fmla="val 50000"/>
            </a:avLst>
          </a:prstGeom>
          <a:solidFill>
            <a:srgbClr val="F4F7F2"/>
          </a:solidFill>
          <a:ln/>
        </p:spPr>
      </p:sp>
      <p:pic>
        <p:nvPicPr>
          <p:cNvPr id="15" name="Image 1" descr="preencoded.png"/>
          <p:cNvPicPr>
            <a:picLocks noChangeAspect="1"/>
          </p:cNvPicPr>
          <p:nvPr/>
        </p:nvPicPr>
        <p:blipFill>
          <a:blip r:embed="rId4"/>
          <a:stretch>
            <a:fillRect/>
          </a:stretch>
        </p:blipFill>
        <p:spPr>
          <a:xfrm>
            <a:off x="704088" y="4142232"/>
            <a:ext cx="219456" cy="219456"/>
          </a:xfrm>
          <a:prstGeom prst="rect">
            <a:avLst/>
          </a:prstGeom>
        </p:spPr>
      </p:pic>
      <p:sp>
        <p:nvSpPr>
          <p:cNvPr id="16" name="Text 12"/>
          <p:cNvSpPr/>
          <p:nvPr/>
        </p:nvSpPr>
        <p:spPr>
          <a:xfrm>
            <a:off x="996696" y="3977640"/>
            <a:ext cx="1344168" cy="548640"/>
          </a:xfrm>
          <a:prstGeom prst="rect">
            <a:avLst/>
          </a:prstGeom>
          <a:noFill/>
          <a:ln/>
        </p:spPr>
        <p:txBody>
          <a:bodyPr wrap="square" lIns="0" tIns="0" rIns="0" bIns="0" rtlCol="0" anchor="ctr"/>
          <a:lstStyle/>
          <a:p>
            <a:pPr marL="0" indent="0">
              <a:buNone/>
            </a:pPr>
            <a:r>
              <a:rPr lang="en-US" sz="1100" b="1" dirty="0">
                <a:solidFill>
                  <a:srgbClr val="0B3D2E"/>
                </a:solidFill>
                <a:latin typeface="Calibri" pitchFamily="34" charset="0"/>
                <a:ea typeface="Calibri" pitchFamily="34" charset="-122"/>
                <a:cs typeface="Calibri" pitchFamily="34" charset="-120"/>
              </a:rPr>
              <a:t>Number of sites</a:t>
            </a:r>
            <a:endParaRPr lang="en-US" sz="1100" dirty="0"/>
          </a:p>
        </p:txBody>
      </p:sp>
      <p:sp>
        <p:nvSpPr>
          <p:cNvPr id="17" name="Shape 13"/>
          <p:cNvSpPr/>
          <p:nvPr/>
        </p:nvSpPr>
        <p:spPr>
          <a:xfrm>
            <a:off x="2651760" y="3977640"/>
            <a:ext cx="1929384" cy="548640"/>
          </a:xfrm>
          <a:prstGeom prst="roundRect">
            <a:avLst>
              <a:gd name="adj" fmla="val 50000"/>
            </a:avLst>
          </a:prstGeom>
          <a:solidFill>
            <a:srgbClr val="F4F7F2"/>
          </a:solidFill>
          <a:ln/>
        </p:spPr>
      </p:sp>
      <p:pic>
        <p:nvPicPr>
          <p:cNvPr id="18" name="Image 2" descr="preencoded.png"/>
          <p:cNvPicPr>
            <a:picLocks noChangeAspect="1"/>
          </p:cNvPicPr>
          <p:nvPr/>
        </p:nvPicPr>
        <p:blipFill>
          <a:blip r:embed="rId5"/>
          <a:stretch>
            <a:fillRect/>
          </a:stretch>
        </p:blipFill>
        <p:spPr>
          <a:xfrm>
            <a:off x="2852928" y="4142232"/>
            <a:ext cx="219456" cy="219456"/>
          </a:xfrm>
          <a:prstGeom prst="rect">
            <a:avLst/>
          </a:prstGeom>
        </p:spPr>
      </p:pic>
      <p:sp>
        <p:nvSpPr>
          <p:cNvPr id="19" name="Text 14"/>
          <p:cNvSpPr/>
          <p:nvPr/>
        </p:nvSpPr>
        <p:spPr>
          <a:xfrm>
            <a:off x="3145536" y="3977640"/>
            <a:ext cx="1344168" cy="548640"/>
          </a:xfrm>
          <a:prstGeom prst="rect">
            <a:avLst/>
          </a:prstGeom>
          <a:noFill/>
          <a:ln/>
        </p:spPr>
        <p:txBody>
          <a:bodyPr wrap="square" lIns="0" tIns="0" rIns="0" bIns="0" rtlCol="0" anchor="ctr"/>
          <a:lstStyle/>
          <a:p>
            <a:pPr marL="0" indent="0">
              <a:buNone/>
            </a:pPr>
            <a:r>
              <a:rPr lang="en-US" sz="1100" b="1" dirty="0">
                <a:solidFill>
                  <a:srgbClr val="0B3D2E"/>
                </a:solidFill>
                <a:latin typeface="Calibri" pitchFamily="34" charset="0"/>
                <a:ea typeface="Calibri" pitchFamily="34" charset="-122"/>
                <a:cs typeface="Calibri" pitchFamily="34" charset="-120"/>
              </a:rPr>
              <a:t>Document volume</a:t>
            </a:r>
            <a:endParaRPr lang="en-US" sz="1100" dirty="0"/>
          </a:p>
        </p:txBody>
      </p:sp>
      <p:sp>
        <p:nvSpPr>
          <p:cNvPr id="20" name="Shape 15"/>
          <p:cNvSpPr/>
          <p:nvPr/>
        </p:nvSpPr>
        <p:spPr>
          <a:xfrm>
            <a:off x="4800600" y="3977640"/>
            <a:ext cx="1929384" cy="548640"/>
          </a:xfrm>
          <a:prstGeom prst="roundRect">
            <a:avLst>
              <a:gd name="adj" fmla="val 50000"/>
            </a:avLst>
          </a:prstGeom>
          <a:solidFill>
            <a:srgbClr val="F4F7F2"/>
          </a:solidFill>
          <a:ln/>
        </p:spPr>
      </p:sp>
      <p:pic>
        <p:nvPicPr>
          <p:cNvPr id="21" name="Image 3" descr="preencoded.png"/>
          <p:cNvPicPr>
            <a:picLocks noChangeAspect="1"/>
          </p:cNvPicPr>
          <p:nvPr/>
        </p:nvPicPr>
        <p:blipFill>
          <a:blip r:embed="rId6"/>
          <a:stretch>
            <a:fillRect/>
          </a:stretch>
        </p:blipFill>
        <p:spPr>
          <a:xfrm>
            <a:off x="5001768" y="4142232"/>
            <a:ext cx="219456" cy="219456"/>
          </a:xfrm>
          <a:prstGeom prst="rect">
            <a:avLst/>
          </a:prstGeom>
        </p:spPr>
      </p:pic>
      <p:sp>
        <p:nvSpPr>
          <p:cNvPr id="22" name="Text 16"/>
          <p:cNvSpPr/>
          <p:nvPr/>
        </p:nvSpPr>
        <p:spPr>
          <a:xfrm>
            <a:off x="5294376" y="3977640"/>
            <a:ext cx="1344168" cy="548640"/>
          </a:xfrm>
          <a:prstGeom prst="rect">
            <a:avLst/>
          </a:prstGeom>
          <a:noFill/>
          <a:ln/>
        </p:spPr>
        <p:txBody>
          <a:bodyPr wrap="square" lIns="0" tIns="0" rIns="0" bIns="0" rtlCol="0" anchor="ctr"/>
          <a:lstStyle/>
          <a:p>
            <a:pPr marL="0" indent="0">
              <a:buNone/>
            </a:pPr>
            <a:r>
              <a:rPr lang="en-US" sz="1100" b="1" dirty="0">
                <a:solidFill>
                  <a:srgbClr val="0B3D2E"/>
                </a:solidFill>
                <a:latin typeface="Calibri" pitchFamily="34" charset="0"/>
                <a:ea typeface="Calibri" pitchFamily="34" charset="-122"/>
                <a:cs typeface="Calibri" pitchFamily="34" charset="-120"/>
              </a:rPr>
              <a:t>Users</a:t>
            </a:r>
            <a:endParaRPr lang="en-US" sz="1100" dirty="0"/>
          </a:p>
        </p:txBody>
      </p:sp>
      <p:sp>
        <p:nvSpPr>
          <p:cNvPr id="23" name="Shape 17"/>
          <p:cNvSpPr/>
          <p:nvPr/>
        </p:nvSpPr>
        <p:spPr>
          <a:xfrm>
            <a:off x="6949440" y="3977640"/>
            <a:ext cx="1929384" cy="548640"/>
          </a:xfrm>
          <a:prstGeom prst="roundRect">
            <a:avLst>
              <a:gd name="adj" fmla="val 50000"/>
            </a:avLst>
          </a:prstGeom>
          <a:solidFill>
            <a:srgbClr val="F4F7F2"/>
          </a:solidFill>
          <a:ln/>
        </p:spPr>
      </p:sp>
      <p:pic>
        <p:nvPicPr>
          <p:cNvPr id="24" name="Image 4" descr="preencoded.png"/>
          <p:cNvPicPr>
            <a:picLocks noChangeAspect="1"/>
          </p:cNvPicPr>
          <p:nvPr/>
        </p:nvPicPr>
        <p:blipFill>
          <a:blip r:embed="rId7"/>
          <a:stretch>
            <a:fillRect/>
          </a:stretch>
        </p:blipFill>
        <p:spPr>
          <a:xfrm>
            <a:off x="7150608" y="4142232"/>
            <a:ext cx="219456" cy="219456"/>
          </a:xfrm>
          <a:prstGeom prst="rect">
            <a:avLst/>
          </a:prstGeom>
        </p:spPr>
      </p:pic>
      <p:sp>
        <p:nvSpPr>
          <p:cNvPr id="25" name="Text 18"/>
          <p:cNvSpPr/>
          <p:nvPr/>
        </p:nvSpPr>
        <p:spPr>
          <a:xfrm>
            <a:off x="7443216" y="3977640"/>
            <a:ext cx="1344168" cy="548640"/>
          </a:xfrm>
          <a:prstGeom prst="rect">
            <a:avLst/>
          </a:prstGeom>
          <a:noFill/>
          <a:ln/>
        </p:spPr>
        <p:txBody>
          <a:bodyPr wrap="square" lIns="0" tIns="0" rIns="0" bIns="0" rtlCol="0" anchor="ctr"/>
          <a:lstStyle/>
          <a:p>
            <a:pPr marL="0" indent="0">
              <a:buNone/>
            </a:pPr>
            <a:r>
              <a:rPr lang="en-US" sz="1100" b="1" dirty="0">
                <a:solidFill>
                  <a:srgbClr val="0B3D2E"/>
                </a:solidFill>
                <a:latin typeface="Calibri" pitchFamily="34" charset="0"/>
                <a:ea typeface="Calibri" pitchFamily="34" charset="-122"/>
                <a:cs typeface="Calibri" pitchFamily="34" charset="-120"/>
              </a:rPr>
              <a:t>Active workflows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D2E"/>
        </a:solidFill>
        <a:effectLst/>
      </p:bgPr>
    </p:bg>
    <p:spTree>
      <p:nvGrpSpPr>
        <p:cNvPr id="1" name=""/>
        <p:cNvGrpSpPr/>
        <p:nvPr/>
      </p:nvGrpSpPr>
      <p:grpSpPr>
        <a:xfrm>
          <a:off x="0" y="0"/>
          <a:ext cx="0" cy="0"/>
          <a:chOff x="0" y="0"/>
          <a:chExt cx="0" cy="0"/>
        </a:xfrm>
      </p:grpSpPr>
      <p:sp>
        <p:nvSpPr>
          <p:cNvPr id="2" name="Text 0"/>
          <p:cNvSpPr/>
          <p:nvPr/>
        </p:nvSpPr>
        <p:spPr>
          <a:xfrm>
            <a:off x="502920" y="411480"/>
            <a:ext cx="8138160" cy="274320"/>
          </a:xfrm>
          <a:prstGeom prst="rect">
            <a:avLst/>
          </a:prstGeom>
          <a:noFill/>
          <a:ln/>
        </p:spPr>
        <p:txBody>
          <a:bodyPr wrap="square" lIns="0" tIns="0" rIns="0" bIns="0" rtlCol="0" anchor="ctr"/>
          <a:lstStyle/>
          <a:p>
            <a:pPr marL="0" indent="0">
              <a:buNone/>
            </a:pPr>
            <a:r>
              <a:rPr lang="en-US" sz="1100" b="1" kern="0" spc="300" dirty="0">
                <a:solidFill>
                  <a:srgbClr val="6EE7B7"/>
                </a:solidFill>
                <a:latin typeface="Calibri" pitchFamily="34" charset="0"/>
                <a:ea typeface="Calibri" pitchFamily="34" charset="-122"/>
                <a:cs typeface="Calibri" pitchFamily="34" charset="-120"/>
              </a:rPr>
              <a:t>RECOMMENDED NEXT STEP</a:t>
            </a:r>
            <a:endParaRPr lang="en-US" sz="1100" dirty="0"/>
          </a:p>
        </p:txBody>
      </p:sp>
      <p:sp>
        <p:nvSpPr>
          <p:cNvPr id="3" name="Text 1"/>
          <p:cNvSpPr/>
          <p:nvPr/>
        </p:nvSpPr>
        <p:spPr>
          <a:xfrm>
            <a:off x="502920" y="713232"/>
            <a:ext cx="81381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One workflow. Redacted documents. 30 days.</a:t>
            </a:r>
            <a:endParaRPr lang="en-US" sz="3000" dirty="0"/>
          </a:p>
        </p:txBody>
      </p:sp>
      <p:sp>
        <p:nvSpPr>
          <p:cNvPr id="4" name="Shape 2"/>
          <p:cNvSpPr/>
          <p:nvPr/>
        </p:nvSpPr>
        <p:spPr>
          <a:xfrm>
            <a:off x="502920" y="1600200"/>
            <a:ext cx="384048" cy="384048"/>
          </a:xfrm>
          <a:prstGeom prst="ellipse">
            <a:avLst/>
          </a:prstGeom>
          <a:solidFill>
            <a:srgbClr val="6EE7B7"/>
          </a:solidFill>
          <a:ln/>
        </p:spPr>
      </p:sp>
      <p:sp>
        <p:nvSpPr>
          <p:cNvPr id="5" name="Text 3"/>
          <p:cNvSpPr/>
          <p:nvPr/>
        </p:nvSpPr>
        <p:spPr>
          <a:xfrm>
            <a:off x="502920" y="1600200"/>
            <a:ext cx="384048" cy="384048"/>
          </a:xfrm>
          <a:prstGeom prst="rect">
            <a:avLst/>
          </a:prstGeom>
          <a:noFill/>
          <a:ln/>
        </p:spPr>
        <p:txBody>
          <a:bodyPr wrap="square" rtlCol="0" anchor="ctr"/>
          <a:lstStyle/>
          <a:p>
            <a:pPr marL="0" indent="0" algn="ctr">
              <a:buNone/>
            </a:pPr>
            <a:r>
              <a:rPr lang="en-US" sz="1500" b="1" dirty="0">
                <a:solidFill>
                  <a:srgbClr val="0B3D2E"/>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051560" y="1627632"/>
            <a:ext cx="47091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Align on one workflow for the pilot — e.g., inspection prep or corrective action follow-up</a:t>
            </a:r>
            <a:endParaRPr lang="en-US" sz="1300" dirty="0"/>
          </a:p>
        </p:txBody>
      </p:sp>
      <p:sp>
        <p:nvSpPr>
          <p:cNvPr id="7" name="Shape 5"/>
          <p:cNvSpPr/>
          <p:nvPr/>
        </p:nvSpPr>
        <p:spPr>
          <a:xfrm>
            <a:off x="502920" y="2167128"/>
            <a:ext cx="384048" cy="384048"/>
          </a:xfrm>
          <a:prstGeom prst="ellipse">
            <a:avLst/>
          </a:prstGeom>
          <a:solidFill>
            <a:srgbClr val="6EE7B7"/>
          </a:solidFill>
          <a:ln/>
        </p:spPr>
      </p:sp>
      <p:sp>
        <p:nvSpPr>
          <p:cNvPr id="8" name="Text 6"/>
          <p:cNvSpPr/>
          <p:nvPr/>
        </p:nvSpPr>
        <p:spPr>
          <a:xfrm>
            <a:off x="502920" y="2167128"/>
            <a:ext cx="384048" cy="384048"/>
          </a:xfrm>
          <a:prstGeom prst="rect">
            <a:avLst/>
          </a:prstGeom>
          <a:noFill/>
          <a:ln/>
        </p:spPr>
        <p:txBody>
          <a:bodyPr wrap="square" rtlCol="0" anchor="ctr"/>
          <a:lstStyle/>
          <a:p>
            <a:pPr marL="0" indent="0" algn="ctr">
              <a:buNone/>
            </a:pPr>
            <a:r>
              <a:rPr lang="en-US" sz="1500" b="1" dirty="0">
                <a:solidFill>
                  <a:srgbClr val="0B3D2E"/>
                </a:solidFill>
                <a:latin typeface="Cambria" pitchFamily="34" charset="0"/>
                <a:ea typeface="Cambria" pitchFamily="34" charset="-122"/>
                <a:cs typeface="Cambria" pitchFamily="34" charset="-120"/>
              </a:rPr>
              <a:t>2</a:t>
            </a:r>
            <a:endParaRPr lang="en-US" sz="1500" dirty="0"/>
          </a:p>
        </p:txBody>
      </p:sp>
      <p:sp>
        <p:nvSpPr>
          <p:cNvPr id="9" name="Text 7"/>
          <p:cNvSpPr/>
          <p:nvPr/>
        </p:nvSpPr>
        <p:spPr>
          <a:xfrm>
            <a:off x="1051560" y="2194560"/>
            <a:ext cx="47091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Identify safe / redacted source documents</a:t>
            </a:r>
            <a:endParaRPr lang="en-US" sz="1300" dirty="0"/>
          </a:p>
        </p:txBody>
      </p:sp>
      <p:sp>
        <p:nvSpPr>
          <p:cNvPr id="10" name="Shape 8"/>
          <p:cNvSpPr/>
          <p:nvPr/>
        </p:nvSpPr>
        <p:spPr>
          <a:xfrm>
            <a:off x="502920" y="2734056"/>
            <a:ext cx="384048" cy="384048"/>
          </a:xfrm>
          <a:prstGeom prst="ellipse">
            <a:avLst/>
          </a:prstGeom>
          <a:solidFill>
            <a:srgbClr val="6EE7B7"/>
          </a:solidFill>
          <a:ln/>
        </p:spPr>
      </p:sp>
      <p:sp>
        <p:nvSpPr>
          <p:cNvPr id="11" name="Text 9"/>
          <p:cNvSpPr/>
          <p:nvPr/>
        </p:nvSpPr>
        <p:spPr>
          <a:xfrm>
            <a:off x="502920" y="2734056"/>
            <a:ext cx="384048" cy="384048"/>
          </a:xfrm>
          <a:prstGeom prst="rect">
            <a:avLst/>
          </a:prstGeom>
          <a:noFill/>
          <a:ln/>
        </p:spPr>
        <p:txBody>
          <a:bodyPr wrap="square" rtlCol="0" anchor="ctr"/>
          <a:lstStyle/>
          <a:p>
            <a:pPr marL="0" indent="0" algn="ctr">
              <a:buNone/>
            </a:pPr>
            <a:r>
              <a:rPr lang="en-US" sz="1500" b="1" dirty="0">
                <a:solidFill>
                  <a:srgbClr val="0B3D2E"/>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051560" y="2761488"/>
            <a:ext cx="47091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GreenGPT builds the sample client EHS instance</a:t>
            </a:r>
            <a:endParaRPr lang="en-US" sz="1300" dirty="0"/>
          </a:p>
        </p:txBody>
      </p:sp>
      <p:sp>
        <p:nvSpPr>
          <p:cNvPr id="13" name="Shape 11"/>
          <p:cNvSpPr/>
          <p:nvPr/>
        </p:nvSpPr>
        <p:spPr>
          <a:xfrm>
            <a:off x="502920" y="3300984"/>
            <a:ext cx="384048" cy="384048"/>
          </a:xfrm>
          <a:prstGeom prst="ellipse">
            <a:avLst/>
          </a:prstGeom>
          <a:solidFill>
            <a:srgbClr val="6EE7B7"/>
          </a:solidFill>
          <a:ln/>
        </p:spPr>
      </p:sp>
      <p:sp>
        <p:nvSpPr>
          <p:cNvPr id="14" name="Text 12"/>
          <p:cNvSpPr/>
          <p:nvPr/>
        </p:nvSpPr>
        <p:spPr>
          <a:xfrm>
            <a:off x="502920" y="3300984"/>
            <a:ext cx="384048" cy="384048"/>
          </a:xfrm>
          <a:prstGeom prst="rect">
            <a:avLst/>
          </a:prstGeom>
          <a:noFill/>
          <a:ln/>
        </p:spPr>
        <p:txBody>
          <a:bodyPr wrap="square" rtlCol="0" anchor="ctr"/>
          <a:lstStyle/>
          <a:p>
            <a:pPr marL="0" indent="0" algn="ctr">
              <a:buNone/>
            </a:pPr>
            <a:r>
              <a:rPr lang="en-US" sz="1500" b="1" dirty="0">
                <a:solidFill>
                  <a:srgbClr val="0B3D2E"/>
                </a:solidFill>
                <a:latin typeface="Cambria" pitchFamily="34" charset="0"/>
                <a:ea typeface="Cambria" pitchFamily="34" charset="-122"/>
                <a:cs typeface="Cambria" pitchFamily="34" charset="-120"/>
              </a:rPr>
              <a:t>4</a:t>
            </a:r>
            <a:endParaRPr lang="en-US" sz="1500" dirty="0"/>
          </a:p>
        </p:txBody>
      </p:sp>
      <p:sp>
        <p:nvSpPr>
          <p:cNvPr id="15" name="Text 13"/>
          <p:cNvSpPr/>
          <p:nvPr/>
        </p:nvSpPr>
        <p:spPr>
          <a:xfrm>
            <a:off x="1051560" y="3328416"/>
            <a:ext cx="47091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Review outputs together with your EHS team</a:t>
            </a:r>
            <a:endParaRPr lang="en-US" sz="1300" dirty="0"/>
          </a:p>
        </p:txBody>
      </p:sp>
      <p:sp>
        <p:nvSpPr>
          <p:cNvPr id="16" name="Shape 14"/>
          <p:cNvSpPr/>
          <p:nvPr/>
        </p:nvSpPr>
        <p:spPr>
          <a:xfrm>
            <a:off x="502920" y="3867912"/>
            <a:ext cx="384048" cy="384048"/>
          </a:xfrm>
          <a:prstGeom prst="ellipse">
            <a:avLst/>
          </a:prstGeom>
          <a:solidFill>
            <a:srgbClr val="6EE7B7"/>
          </a:solidFill>
          <a:ln/>
        </p:spPr>
      </p:sp>
      <p:sp>
        <p:nvSpPr>
          <p:cNvPr id="17" name="Text 15"/>
          <p:cNvSpPr/>
          <p:nvPr/>
        </p:nvSpPr>
        <p:spPr>
          <a:xfrm>
            <a:off x="502920" y="3867912"/>
            <a:ext cx="384048" cy="384048"/>
          </a:xfrm>
          <a:prstGeom prst="rect">
            <a:avLst/>
          </a:prstGeom>
          <a:noFill/>
          <a:ln/>
        </p:spPr>
        <p:txBody>
          <a:bodyPr wrap="square" rtlCol="0" anchor="ctr"/>
          <a:lstStyle/>
          <a:p>
            <a:pPr marL="0" indent="0" algn="ctr">
              <a:buNone/>
            </a:pPr>
            <a:r>
              <a:rPr lang="en-US" sz="1500" b="1" dirty="0">
                <a:solidFill>
                  <a:srgbClr val="0B3D2E"/>
                </a:solidFill>
                <a:latin typeface="Cambria" pitchFamily="34" charset="0"/>
                <a:ea typeface="Cambria" pitchFamily="34" charset="-122"/>
                <a:cs typeface="Cambria" pitchFamily="34" charset="-120"/>
              </a:rPr>
              <a:t>5</a:t>
            </a:r>
            <a:endParaRPr lang="en-US" sz="1500" dirty="0"/>
          </a:p>
        </p:txBody>
      </p:sp>
      <p:sp>
        <p:nvSpPr>
          <p:cNvPr id="18" name="Text 16"/>
          <p:cNvSpPr/>
          <p:nvPr/>
        </p:nvSpPr>
        <p:spPr>
          <a:xfrm>
            <a:off x="1051560" y="3895344"/>
            <a:ext cx="4709160" cy="38404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Decide whether to expand — with real evidence in hand</a:t>
            </a:r>
            <a:endParaRPr lang="en-US" sz="1300" dirty="0"/>
          </a:p>
        </p:txBody>
      </p:sp>
      <p:sp>
        <p:nvSpPr>
          <p:cNvPr id="19" name="Shape 17"/>
          <p:cNvSpPr/>
          <p:nvPr/>
        </p:nvSpPr>
        <p:spPr>
          <a:xfrm>
            <a:off x="6080760" y="1600200"/>
            <a:ext cx="2560320" cy="2651760"/>
          </a:xfrm>
          <a:prstGeom prst="roundRect">
            <a:avLst>
              <a:gd name="adj" fmla="val 2857"/>
            </a:avLst>
          </a:prstGeom>
          <a:solidFill>
            <a:srgbClr val="11553F"/>
          </a:solidFill>
          <a:ln/>
          <a:effectLst>
            <a:outerShdw blurRad="88900" dist="25400" dir="2700000" algn="bl" rotWithShape="0">
              <a:srgbClr val="000000">
                <a:alpha val="13000"/>
              </a:srgbClr>
            </a:outerShdw>
          </a:effectLst>
        </p:spPr>
      </p:sp>
      <p:sp>
        <p:nvSpPr>
          <p:cNvPr id="20" name="Text 18"/>
          <p:cNvSpPr/>
          <p:nvPr/>
        </p:nvSpPr>
        <p:spPr>
          <a:xfrm>
            <a:off x="6309360" y="1828800"/>
            <a:ext cx="2103120" cy="274320"/>
          </a:xfrm>
          <a:prstGeom prst="rect">
            <a:avLst/>
          </a:prstGeom>
          <a:noFill/>
          <a:ln/>
        </p:spPr>
        <p:txBody>
          <a:bodyPr wrap="square" lIns="0" tIns="0" rIns="0" bIns="0" rtlCol="0" anchor="ctr"/>
          <a:lstStyle/>
          <a:p>
            <a:pPr marL="0" indent="0">
              <a:buNone/>
            </a:pPr>
            <a:r>
              <a:rPr lang="en-US" sz="1100" dirty="0">
                <a:solidFill>
                  <a:srgbClr val="8FC2A9"/>
                </a:solidFill>
                <a:latin typeface="Calibri" pitchFamily="34" charset="0"/>
                <a:ea typeface="Calibri" pitchFamily="34" charset="-122"/>
                <a:cs typeface="Calibri" pitchFamily="34" charset="-120"/>
              </a:rPr>
              <a:t>The question that starts it:</a:t>
            </a:r>
            <a:endParaRPr lang="en-US" sz="1100" dirty="0"/>
          </a:p>
        </p:txBody>
      </p:sp>
      <p:sp>
        <p:nvSpPr>
          <p:cNvPr id="21" name="Text 19"/>
          <p:cNvSpPr/>
          <p:nvPr/>
        </p:nvSpPr>
        <p:spPr>
          <a:xfrm>
            <a:off x="6309360" y="2121408"/>
            <a:ext cx="2103120" cy="1005840"/>
          </a:xfrm>
          <a:prstGeom prst="rect">
            <a:avLst/>
          </a:prstGeom>
          <a:noFill/>
          <a:ln/>
        </p:spPr>
        <p:txBody>
          <a:bodyPr wrap="square" lIns="0" tIns="0" rIns="0" bIns="0" rtlCol="0" anchor="ctr"/>
          <a:lstStyle/>
          <a:p>
            <a:pPr marL="0" indent="0">
              <a:lnSpc>
                <a:spcPct val="112000"/>
              </a:lnSpc>
              <a:buNone/>
            </a:pPr>
            <a:r>
              <a:rPr lang="en-US" sz="1550" b="1" i="1" dirty="0">
                <a:solidFill>
                  <a:srgbClr val="6EE7B7"/>
                </a:solidFill>
                <a:latin typeface="Cambria" pitchFamily="34" charset="0"/>
                <a:ea typeface="Cambria" pitchFamily="34" charset="-122"/>
                <a:cs typeface="Cambria" pitchFamily="34" charset="-120"/>
              </a:rPr>
              <a:t>“Which workflow would you want to see working first?”</a:t>
            </a:r>
            <a:endParaRPr lang="en-US" sz="1550" dirty="0"/>
          </a:p>
        </p:txBody>
      </p:sp>
      <p:sp>
        <p:nvSpPr>
          <p:cNvPr id="22" name="Shape 20"/>
          <p:cNvSpPr/>
          <p:nvPr/>
        </p:nvSpPr>
        <p:spPr>
          <a:xfrm>
            <a:off x="6309360" y="3291840"/>
            <a:ext cx="2103120" cy="0"/>
          </a:xfrm>
          <a:prstGeom prst="line">
            <a:avLst/>
          </a:prstGeom>
          <a:noFill/>
          <a:ln w="12700">
            <a:solidFill>
              <a:srgbClr val="2E5C49"/>
            </a:solidFill>
            <a:prstDash val="solid"/>
          </a:ln>
        </p:spPr>
      </p:sp>
      <p:sp>
        <p:nvSpPr>
          <p:cNvPr id="23" name="Text 21"/>
          <p:cNvSpPr/>
          <p:nvPr/>
        </p:nvSpPr>
        <p:spPr>
          <a:xfrm>
            <a:off x="6309360" y="3429000"/>
            <a:ext cx="2103120" cy="731520"/>
          </a:xfrm>
          <a:prstGeom prst="rect">
            <a:avLst/>
          </a:prstGeom>
          <a:noFill/>
          <a:ln/>
        </p:spPr>
        <p:txBody>
          <a:bodyPr wrap="square" lIns="0" tIns="0" rIns="0" bIns="0" rtlCol="0" anchor="ctr"/>
          <a:lstStyle/>
          <a:p>
            <a:pPr marL="0" indent="0">
              <a:lnSpc>
                <a:spcPct val="120000"/>
              </a:lnSpc>
              <a:buNone/>
            </a:pPr>
            <a:r>
              <a:rPr lang="en-US" sz="1100" b="1" dirty="0">
                <a:solidFill>
                  <a:srgbClr val="FFFFFF"/>
                </a:solidFill>
                <a:latin typeface="Calibri" pitchFamily="34" charset="0"/>
                <a:ea typeface="Calibri" pitchFamily="34" charset="-122"/>
                <a:cs typeface="Calibri" pitchFamily="34" charset="-120"/>
              </a:rPr>
              <a:t>Dylan Brown</a:t>
            </a:r>
            <a:endParaRPr lang="en-US" sz="1100" dirty="0"/>
          </a:p>
          <a:p>
            <a:pPr marL="0" indent="0">
              <a:lnSpc>
                <a:spcPct val="120000"/>
              </a:lnSpc>
              <a:buNone/>
            </a:pPr>
            <a:r>
              <a:rPr lang="en-US" sz="1100" dirty="0">
                <a:solidFill>
                  <a:srgbClr val="CFE8DA"/>
                </a:solidFill>
                <a:latin typeface="Calibri" pitchFamily="34" charset="0"/>
                <a:ea typeface="Calibri" pitchFamily="34" charset="-122"/>
                <a:cs typeface="Calibri" pitchFamily="34" charset="-120"/>
              </a:rPr>
              <a:t>GreenGPT Advisory</a:t>
            </a:r>
            <a:endParaRPr lang="en-US" sz="1100" dirty="0"/>
          </a:p>
          <a:p>
            <a:pPr marL="0" indent="0">
              <a:lnSpc>
                <a:spcPct val="120000"/>
              </a:lnSpc>
              <a:buNone/>
            </a:pPr>
            <a:r>
              <a:rPr lang="en-US" sz="1100" dirty="0">
                <a:solidFill>
                  <a:srgbClr val="CFE8DA"/>
                </a:solidFill>
                <a:latin typeface="Calibri" pitchFamily="34" charset="0"/>
                <a:ea typeface="Calibri" pitchFamily="34" charset="-122"/>
                <a:cs typeface="Calibri" pitchFamily="34" charset="-120"/>
              </a:rPr>
              <a:t>dylan.brown@greengptadvisory.com</a:t>
            </a:r>
            <a:endParaRPr lang="en-US" sz="1100" dirty="0"/>
          </a:p>
        </p:txBody>
      </p:sp>
      <p:sp>
        <p:nvSpPr>
          <p:cNvPr id="24" name="Text 22"/>
          <p:cNvSpPr/>
          <p:nvPr/>
        </p:nvSpPr>
        <p:spPr>
          <a:xfrm>
            <a:off x="502920" y="4617720"/>
            <a:ext cx="8138160" cy="274320"/>
          </a:xfrm>
          <a:prstGeom prst="rect">
            <a:avLst/>
          </a:prstGeom>
          <a:noFill/>
          <a:ln/>
        </p:spPr>
        <p:txBody>
          <a:bodyPr wrap="square" lIns="0" tIns="0" rIns="0" bIns="0" rtlCol="0" anchor="ctr"/>
          <a:lstStyle/>
          <a:p>
            <a:pPr marL="0" indent="0">
              <a:buNone/>
            </a:pPr>
            <a:r>
              <a:rPr lang="en-US" sz="1050" i="1" dirty="0">
                <a:solidFill>
                  <a:srgbClr val="8FC2A9"/>
                </a:solidFill>
                <a:latin typeface="Calibri" pitchFamily="34" charset="0"/>
                <a:ea typeface="Calibri" pitchFamily="34" charset="-122"/>
                <a:cs typeface="Calibri" pitchFamily="34" charset="-120"/>
              </a:rPr>
              <a:t>Persuaded by evidence, not promises — the pilot exists so your team can judge results directly.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2362</Words>
  <Application>Microsoft Office PowerPoint</Application>
  <PresentationFormat>On-screen Show (16:9)</PresentationFormat>
  <Paragraphs>248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GreenGPT Advisory: Managed EHS AI Workspace</dc:title>
  <dc:subject>PptxGenJS Presentation</dc:subject>
  <dc:creator>GreenGPT Advisory</dc:creator>
  <cp:lastModifiedBy>Dylan Brown</cp:lastModifiedBy>
  <cp:revision>1</cp:revision>
  <dcterms:created xsi:type="dcterms:W3CDTF">2026-07-01T20:10:18Z</dcterms:created>
  <dcterms:modified xsi:type="dcterms:W3CDTF">2026-07-24T16:48:03Z</dcterms:modified>
</cp:coreProperties>
</file>